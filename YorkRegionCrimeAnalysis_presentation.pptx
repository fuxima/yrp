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89952" autoAdjust="0"/>
  </p:normalViewPr>
  <p:slideViewPr>
    <p:cSldViewPr snapToGrid="0" snapToObjects="1">
      <p:cViewPr varScale="1">
        <p:scale>
          <a:sx n="99" d="100"/>
          <a:sy n="99" d="100"/>
        </p:scale>
        <p:origin x="954" y="90"/>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99A1C02-EC3D-4526-A61C-EEEDB77E2C98}" type="datetime3">
              <a:rPr lang="en-US" smtClean="0"/>
              <a:pPr/>
              <a:t>30 November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EB5AF9EF-6ADA-4F60-854C-E9FB1C1ACAFF}" type="datetime3">
              <a:rPr lang="en-US" smtClean="0"/>
              <a:pPr/>
              <a:t>30 November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546119-C893-498C-9D0E-1FED4A71C90C}"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E520D2C-89AD-4BC4-9A24-B26313B0DCB9}"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ADC46CA-2787-45EE-A4E5-1A72CC227786}" type="datetime3">
              <a:rPr lang="en-US" smtClean="0"/>
              <a:t>30 November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2D7722-7447-447D-A250-A2689617305A}" type="datetime3">
              <a:rPr lang="en-US" smtClean="0"/>
              <a:t>30 November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2BF359-877E-4B39-989F-5DE3896EB03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2764952-7DF7-4A84-9308-2205B598FB52}" type="datetime3">
              <a:rPr lang="en-US" smtClean="0"/>
              <a:t>30 November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BA20F-C345-4B13-8D50-AF8D3C7AE326}"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80F348-B7E0-44CC-A938-3905BDF7D764}" type="datetime3">
              <a:rPr lang="en-US" smtClean="0"/>
              <a:t>30 November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049832-F83F-49E8-9854-52B245B32CC0}" type="datetime3">
              <a:rPr lang="en-US" smtClean="0"/>
              <a:t>30 November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_presentation.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2EC6F790-6FF3-446A-870A-D3E7CFED8F65}" type="datetime3">
              <a:rPr lang="en-US" smtClean="0"/>
              <a:t>30 November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293940"/>
            <a:ext cx="6096000" cy="4068101"/>
          </a:xfrm>
          <a:prstGeom prst="rect">
            <a:avLst/>
          </a:prstGeom>
          <a:noFill/>
        </p:spPr>
        <p:txBody>
          <a:bodyPr wrap="square">
            <a:spAutoFit/>
          </a:bodyPr>
          <a:lstStyle/>
          <a:p>
            <a:pPr>
              <a:lnSpc>
                <a:spcPct val="115000"/>
              </a:lnSpc>
              <a:spcAft>
                <a:spcPts val="800"/>
              </a:spcAft>
              <a:buNone/>
            </a:pPr>
            <a:r>
              <a:rPr lang="en-CA" sz="1800" kern="1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endParaRPr lang="en-CA" sz="24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Diagnosing the 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Forecasting the Future Threat for 2026</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Spotlight on District 4 (Vaughan)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Our Strategic Action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EB5AF9EF-6ADA-4F60-854C-E9FB1C1ACAFF}" type="datetime3">
              <a:rPr lang="en-US" smtClean="0"/>
              <a:pPr/>
              <a:t>30 November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062924"/>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Crime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911 Calls</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744615"/>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Strategic insights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 Top Activity</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 Peak</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High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Low Season: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February, November,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December</a:t>
            </a:r>
          </a:p>
          <a:p>
            <a:pPr>
              <a:spcBef>
                <a:spcPts val="1200"/>
              </a:spcBef>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Implication</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to our advantage by pre-deploying resources, which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F43757BF-2F7E-46E5-9A4E-50D85FE8A8F5}" type="datetime3">
              <a:rPr lang="en-US" smtClean="0"/>
              <a:t>30 November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3498394"/>
          </a:xfrm>
          <a:prstGeom prst="rect">
            <a:avLst/>
          </a:prstGeom>
          <a:noFill/>
        </p:spPr>
        <p:txBody>
          <a:bodyPr wrap="square">
            <a:spAutoFit/>
          </a:bodyPr>
          <a:lstStyle/>
          <a:p>
            <a:pPr marL="342900" lvl="0" indent="-342900">
              <a:spcAft>
                <a:spcPts val="800"/>
              </a:spcAft>
              <a:buFont typeface="Arial" panose="020B0604020202020204" pitchFamily="34" charset="0"/>
              <a:buChar char="•"/>
              <a:tabLst>
                <a:tab pos="457200" algn="l"/>
              </a:tabLst>
            </a:pPr>
            <a:r>
              <a:rPr lang="en-CA" sz="1600" kern="100" dirty="0">
                <a:effectLst/>
                <a:latin typeface="Times New Roman" panose="02020603050405020304" pitchFamily="18" charset="0"/>
                <a:ea typeface="Aptos" panose="020B0004020202020204" pitchFamily="34" charset="0"/>
                <a:cs typeface="Times New Roman" panose="02020603050405020304" pitchFamily="18" charset="0"/>
              </a:rPr>
              <a:t>Property and Violent Crime Dominate Volume</a:t>
            </a:r>
            <a:endParaRPr lang="en-CA" sz="1600" kern="100" dirty="0">
              <a:latin typeface="Times New Roman" panose="02020603050405020304" pitchFamily="18" charset="0"/>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tabLst>
                <a:tab pos="457200" algn="l"/>
              </a:tabLst>
            </a:pPr>
            <a:r>
              <a:rPr lang="en-CA" sz="1600" b="1" dirty="0">
                <a:latin typeface="Times New Roman" panose="02020603050405020304" pitchFamily="18" charset="0"/>
                <a:ea typeface="Aptos" panose="020B0004020202020204" pitchFamily="34" charset="0"/>
              </a:rPr>
              <a:t>Core Message:</a:t>
            </a:r>
            <a:r>
              <a:rPr lang="en-CA" sz="1600" dirty="0">
                <a:latin typeface="Times New Roman" panose="02020603050405020304" pitchFamily="18" charset="0"/>
                <a:ea typeface="Aptos" panose="020B0004020202020204" pitchFamily="34" charset="0"/>
              </a:rPr>
              <a:t> </a:t>
            </a:r>
          </a:p>
          <a:p>
            <a:pPr>
              <a:spcAft>
                <a:spcPts val="800"/>
              </a:spcAft>
              <a:tabLst>
                <a:tab pos="457200" algn="l"/>
              </a:tabLst>
            </a:pPr>
            <a:r>
              <a:rPr lang="en-CA" sz="1600" dirty="0">
                <a:latin typeface="Times New Roman" panose="02020603050405020304" pitchFamily="18" charset="0"/>
                <a:ea typeface="Aptos" panose="020B0004020202020204" pitchFamily="34" charset="0"/>
              </a:rPr>
              <a:t>Property and Violent crime are not just the most common; they are growing at an alarming rate. This isn't a general crime problem; it's a specific one requiring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F0D9266A-34D5-49FE-BC9B-420F9F433C3C}" type="datetime3">
              <a:rPr lang="en-US" smtClean="0"/>
              <a:t>30 November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create a feedback loop that depletes officer capacity, reducing our ability to respond and prevent future crime, particularly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2416046"/>
          </a:xfrm>
          <a:prstGeom prst="rect">
            <a:avLst/>
          </a:prstGeom>
          <a:noFill/>
        </p:spPr>
        <p:txBody>
          <a:bodyPr wrap="square">
            <a:spAutoFit/>
          </a:bodyPr>
          <a:lstStyle/>
          <a:p>
            <a:pPr>
              <a:spcAft>
                <a:spcPts val="600"/>
              </a:spcAft>
            </a:pPr>
            <a:r>
              <a:rPr lang="en-CA" sz="1400" b="1" dirty="0">
                <a:latin typeface="Times New Roman" panose="02020603050405020304" pitchFamily="18" charset="0"/>
                <a:cs typeface="Times New Roman" panose="02020603050405020304" pitchFamily="18" charset="0"/>
              </a:rPr>
              <a:t>Primary Drivers of the 2024 Anomaly:</a:t>
            </a:r>
            <a:endParaRPr lang="en-CA" sz="14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Ongoing conflicts within the tow truck industry</a:t>
            </a:r>
            <a:r>
              <a:rPr lang="en-CA" sz="1200" dirty="0">
                <a:latin typeface="Times New Roman" panose="02020603050405020304" pitchFamily="18" charset="0"/>
                <a:cs typeface="Times New Roman" panose="02020603050405020304" pitchFamily="18" charset="0"/>
              </a:rPr>
              <a:t>, leading to gun violence and arson.</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Challenges related to the national bail system for firearm offences.</a:t>
            </a:r>
          </a:p>
          <a:p>
            <a:pPr>
              <a:spcBef>
                <a:spcPts val="600"/>
              </a:spcBef>
              <a:spcAft>
                <a:spcPts val="600"/>
              </a:spcAft>
            </a:pPr>
            <a:r>
              <a:rPr lang="en-CA" sz="1400" b="1" dirty="0">
                <a:latin typeface="Times New Roman" panose="02020603050405020304" pitchFamily="18" charset="0"/>
                <a:cs typeface="Times New Roman" panose="02020603050405020304" pitchFamily="18" charset="0"/>
              </a:rPr>
              <a:t>Implication:</a:t>
            </a:r>
          </a:p>
          <a:p>
            <a:r>
              <a:rPr lang="en-CA" sz="1200" dirty="0">
                <a:latin typeface="Times New Roman" panose="02020603050405020304" pitchFamily="18" charset="0"/>
                <a:cs typeface="Times New Roman" panose="02020603050405020304" pitchFamily="18" charset="0"/>
              </a:rPr>
              <a:t>These drivers converged to create a 'storm,' overwhelming existing systems and exposing critical vulnerabilities in our resource allocation,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458587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+268.6%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 	+223.8%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+197.0%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Assault: 		+134.3%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Property Crime: 	+107.4%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Drug Offenses: 	+71.6%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(Vaughan):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Strategic Implications: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 hotspots</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overnight patrol coverage by 40%</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Targeting:</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Disrupt organized auto theft networks as priority</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2025</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 spike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92491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700584" y="1177161"/>
            <a:ext cx="4053266" cy="4893647"/>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Count from the Same Month in Previous Year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68.3%</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18.2%</a:t>
            </a: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6.5%</a:t>
            </a:r>
          </a:p>
          <a:p>
            <a:pPr lvl="0">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Recommended Next Steps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Focus on the top 6 factors</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rolling 7-day monitoring</a:t>
            </a:r>
          </a:p>
          <a:p>
            <a:pPr marL="342900" lvl="0" indent="-342900">
              <a:buFont typeface="+mj-lt"/>
              <a:buAutoNum type="arabicPeriod"/>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Develop weekly pattern analysis for different crime types</a:t>
            </a:r>
          </a:p>
          <a:p>
            <a:pPr marL="342900" lvl="0" indent="-342900">
              <a:buFont typeface="+mj-lt"/>
              <a:buAutoNum type="arabicPeriod"/>
              <a:tabLst>
                <a:tab pos="457200" algn="l"/>
              </a:tabLst>
            </a:pPr>
            <a:endParaRPr lang="en-CA" sz="16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Enhancement Opportunities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holiday and special event indicators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Incorporate economic indicators (unemployment, etc.)</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Include social media/sentiment analysis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Add school calendar effects</a:t>
            </a:r>
          </a:p>
          <a:p>
            <a:pPr marL="342900" lvl="0" indent="-342900">
              <a:buFont typeface="Symbol" panose="05050102010706020507" pitchFamily="18" charset="2"/>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real-time updating of models</a:t>
            </a:r>
          </a:p>
          <a:p>
            <a:pPr marL="342900" lvl="0" indent="-342900">
              <a:buFont typeface="Symbol" panose="05050102010706020507" pitchFamily="18" charset="2"/>
              <a:buChar char=""/>
            </a:pP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Concluding Insight</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This analysis confirms that while historical patterns are predictable, the 2024 surge was driven by factors outside these models (like organized crime), justifying our need for both predictive resource planning and targeted tactical interventions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867149"/>
            <a:ext cx="5519059" cy="2634229"/>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646878"/>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2025 to Oct 2025; Outlier: 2024</a:t>
            </a: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MAE=15.1, RMSE=18.9, R²=0.32</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Gradient Boosting: MAE=15.4, RMSE=19.4, R²=0.29</a:t>
            </a:r>
          </a:p>
          <a:p>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Ensemble (weighted (RF: 0.53, GB: 0.47)): MAE=15.0, RMSE=18.9, R²=0.32</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for staffing. The 'missed' spikes are from organized crime—which we address with targeted interventions in District 4, not forecasting</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(e.g., more in summer, less in winter), it confirms that major crime surges are driven by complex, unpredictable factors like organized crime spikes. This is why our strategic plan combines this baseline forecast with a targeted intervention in District 4</a:t>
            </a:r>
          </a:p>
          <a:p>
            <a:pPr marL="171450" indent="-171450">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Strategic Recommendation: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Resources Planning: Align with seasonal patterns</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5160387"/>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necessitating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a:spcAft>
                <a:spcPts val="400"/>
              </a:spcAft>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to cover our vulnerability period, using overtime strategically for Friday peak activity. </a:t>
            </a:r>
            <a:r>
              <a:rPr lang="en-CA" sz="1200" b="1" dirty="0">
                <a:latin typeface="Times New Roman" panose="02020603050405020304" pitchFamily="18" charset="0"/>
                <a:cs typeface="Times New Roman" panose="02020603050405020304" pitchFamily="18" charset="0"/>
              </a:rPr>
              <a:t>Why focus on weekdays?</a:t>
            </a:r>
            <a:r>
              <a:rPr lang="en-CA" sz="1200" dirty="0">
                <a:latin typeface="Times New Roman" panose="02020603050405020304" pitchFamily="18" charset="0"/>
                <a:cs typeface="Times New Roman" panose="02020603050405020304" pitchFamily="18" charset="0"/>
              </a:rPr>
              <a:t> While absolute crime is lower Monday-Thursday, our officer unavailability is highest on these days, creating a critical vulnerability window. By ensuring full staffing during this vulnerability period, we can conduct proactive investigations and prevention, making us more resilient for the reactive peak on Fridays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from June 1st, pre-deploying tactical units to District 4 hotspots</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257551"/>
            <a:ext cx="4761597" cy="3098258"/>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CF0160F9-68E2-47DE-BD2D-9F8B2C0C2841}" type="datetime3">
              <a:rPr lang="en-US" smtClean="0"/>
              <a:t>30 November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84665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Urgent Action Needed</a:t>
            </a:r>
            <a:endParaRPr lang="en-CA" sz="1600" dirty="0">
              <a:latin typeface="Times New Roman" panose="02020603050405020304" pitchFamily="18" charset="0"/>
              <a:cs typeface="Times New Roman" panose="02020603050405020304" pitchFamily="18" charset="0"/>
            </a:endParaRP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crime for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extreme event. Our forecast shows a return to the underlying pre-2024 growth trend, indicating that the systemic pressures that existed before the 2024 spike are still present and will lead to increased crime again if unaddressed</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 Staffing Risk Analysis</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1577163"/>
          </a:xfrm>
          <a:prstGeom prst="rect">
            <a:avLst/>
          </a:prstGeom>
          <a:noFill/>
        </p:spPr>
        <p:txBody>
          <a:bodyPr wrap="square">
            <a:spAutoFit/>
          </a:bodyPr>
          <a:lstStyle/>
          <a:p>
            <a:pPr>
              <a:lnSpc>
                <a:spcPct val="150000"/>
              </a:lnSpc>
              <a:defRPr sz="1000">
                <a:solidFill>
                  <a:srgbClr val="404040"/>
                </a:solidFill>
              </a:defRPr>
            </a:pPr>
            <a:r>
              <a:rPr lang="en-US" sz="2400" b="1" dirty="0">
                <a:latin typeface="Times New Roman" panose="02020603050405020304" pitchFamily="18" charset="0"/>
                <a:cs typeface="Times New Roman" panose="02020603050405020304" pitchFamily="18" charset="0"/>
              </a:rPr>
              <a:t>Key Insights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cluster of high-risk days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Minimum staffing requirement: 23 officers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523875"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7200899" y="1413551"/>
            <a:ext cx="4714876" cy="4585871"/>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Data:</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Priority Assessment</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US" sz="1600" b="1" dirty="0">
                <a:latin typeface="Times New Roman" panose="02020603050405020304" pitchFamily="18" charset="0"/>
                <a:cs typeface="Times New Roman" panose="02020603050405020304" pitchFamily="18" charset="0"/>
              </a:rPr>
              <a:t>Tier Definition: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High (70+):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Critical risk requiring immediate intervention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Medium (60-69):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Elevated risk requiring monitoring and prevention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Low (&lt;60): </a:t>
            </a:r>
            <a:r>
              <a:rPr lang="en-CA" sz="1200" b="1" dirty="0">
                <a:solidFill>
                  <a:srgbClr val="0F1115"/>
                </a:solidFill>
                <a:latin typeface="Times New Roman" panose="02020603050405020304" pitchFamily="18" charset="0"/>
                <a:cs typeface="Times New Roman" panose="02020603050405020304" pitchFamily="18" charset="0"/>
              </a:rPr>
              <a:t>		</a:t>
            </a:r>
            <a:r>
              <a:rPr lang="en-CA" sz="1200" dirty="0">
                <a:solidFill>
                  <a:srgbClr val="0F1115"/>
                </a:solidFill>
                <a:latin typeface="Times New Roman" panose="02020603050405020304" pitchFamily="18" charset="0"/>
                <a:cs typeface="Times New Roman" panose="02020603050405020304" pitchFamily="18" charset="0"/>
              </a:rPr>
              <a:t>Stable, standard patrol levels sufficient</a:t>
            </a:r>
            <a:r>
              <a:rPr lang="en-US" sz="1200" dirty="0">
                <a:solidFill>
                  <a:srgbClr val="0F1115"/>
                </a:solidFill>
                <a:latin typeface="Times New Roman" panose="02020603050405020304" pitchFamily="18" charset="0"/>
                <a:cs typeface="Times New Roman" panose="02020603050405020304" pitchFamily="18" charset="0"/>
              </a:rPr>
              <a:t> </a:t>
            </a:r>
            <a:endParaRPr lang="en-CA" sz="1200" dirty="0">
              <a:solidFill>
                <a:srgbClr val="0F1115"/>
              </a:solidFill>
              <a:latin typeface="Times New Roman" panose="02020603050405020304" pitchFamily="18" charset="0"/>
              <a:cs typeface="Times New Roman" panose="02020603050405020304" pitchFamily="18" charset="0"/>
            </a:endParaRPr>
          </a:p>
          <a:p>
            <a:pPr>
              <a:spcBef>
                <a:spcPts val="600"/>
              </a:spcBef>
            </a:pPr>
            <a:r>
              <a:rPr lang="en-CA" sz="1600" b="1" dirty="0">
                <a:latin typeface="Times New Roman" panose="02020603050405020304" pitchFamily="18" charset="0"/>
                <a:cs typeface="Times New Roman" panose="02020603050405020304" pitchFamily="18" charset="0"/>
              </a:rPr>
              <a:t>Key Insights</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This scoring system allows us to move beyond simple crime counts and focus resources on areas with the most severe and concentrated threats, such as District 4</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(evenings, weekends) and officer availability (weekday vulnerability)</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but a systemic outlier requiring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CBA8526B-5913-4A31-BD69-2065E4B8809B}" type="datetime3">
              <a:rPr lang="en-US" smtClean="0"/>
              <a:t>30 November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5" y="1470024"/>
            <a:ext cx="8686800"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8982075" y="1426697"/>
            <a:ext cx="3200455" cy="3724096"/>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Minimum Required Officers: 23</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r>
              <a:rPr lang="en-CA" sz="1200" dirty="0">
                <a:latin typeface="Times New Roman" panose="02020603050405020304" pitchFamily="18" charset="0"/>
                <a:cs typeface="Times New Roman" panose="02020603050405020304" pitchFamily="18" charset="0"/>
                <a:sym typeface="Wingdings" panose="05000000000000000000" pitchFamily="2" charset="2"/>
              </a:rPr>
              <a:t> </a:t>
            </a:r>
            <a:r>
              <a:rPr lang="en-CA" sz="1200" dirty="0">
                <a:solidFill>
                  <a:srgbClr val="FF0000"/>
                </a:solidFill>
                <a:latin typeface="Times New Roman" panose="02020603050405020304" pitchFamily="18" charset="0"/>
                <a:cs typeface="Times New Roman" panose="02020603050405020304" pitchFamily="18" charset="0"/>
              </a:rPr>
              <a:t>Misleading</a:t>
            </a:r>
          </a:p>
          <a:p>
            <a:pPr marL="171450" indent="-171450">
              <a:buFont typeface="Wingdings" panose="05000000000000000000" pitchFamily="2" charset="2"/>
              <a:buChar char="v"/>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High-Unavailability Days: While criminal activity peaks on Fridays, our operational vulnerability is highest Monday-Thursday due to low officer availability. This mismatch requires strategic scheduling adjustments</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9907EC0E-FFC0-4DAD-A328-A2D9C6092260}" type="datetime3">
              <a:rPr lang="en-US" smtClean="0"/>
              <a:t>30 November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vulnerability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2BBDE202-2122-4B41-99F3-A95E29B999DB}" type="datetime3">
              <a:rPr lang="en-US" smtClean="0"/>
              <a:t>30 November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https://github.com/fuxima/YRP/blob/main/YorkRegionCrimeAnalysis_presentation.pptx</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5" name="Picture 4">
            <a:extLst>
              <a:ext uri="{FF2B5EF4-FFF2-40B4-BE49-F238E27FC236}">
                <a16:creationId xmlns:a16="http://schemas.microsoft.com/office/drawing/2014/main" id="{DF816EED-0AE4-9878-7C9B-0C27D1474C7D}"/>
              </a:ext>
            </a:extLst>
          </p:cNvPr>
          <p:cNvPicPr>
            <a:picLocks noChangeAspect="1"/>
          </p:cNvPicPr>
          <p:nvPr/>
        </p:nvPicPr>
        <p:blipFill>
          <a:blip r:embed="rId7"/>
          <a:stretch>
            <a:fillRect/>
          </a:stretch>
        </p:blipFill>
        <p:spPr>
          <a:xfrm>
            <a:off x="4911011" y="1908045"/>
            <a:ext cx="792812" cy="764924"/>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CBA8526B-5913-4A31-BD69-2065E4B8809B}" type="datetime3">
              <a:rPr lang="en-US" smtClean="0"/>
              <a:t>30 November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8874</TotalTime>
  <Words>5095</Words>
  <Application>Microsoft Office PowerPoint</Application>
  <PresentationFormat>Widescreen</PresentationFormat>
  <Paragraphs>570</Paragraphs>
  <Slides>29</Slides>
  <Notes>21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Aptos</vt:lpstr>
      <vt:lpstr>Arial</vt:lpstr>
      <vt:lpstr>Calibri</vt:lpstr>
      <vt:lpstr>Courier New</vt:lpstr>
      <vt:lpstr>quote-cjk-patch</vt:lpstr>
      <vt:lpstr>Symbol</vt:lpstr>
      <vt:lpstr>Times New Roman</vt:lpstr>
      <vt:lpstr>Wingdings</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197</cp:revision>
  <dcterms:created xsi:type="dcterms:W3CDTF">2013-01-27T09:14:16Z</dcterms:created>
  <dcterms:modified xsi:type="dcterms:W3CDTF">2025-11-30T20:33:08Z</dcterms:modified>
  <cp:category/>
</cp:coreProperties>
</file>