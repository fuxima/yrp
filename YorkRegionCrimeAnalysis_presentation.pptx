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1"/>
  </p:notesMasterIdLst>
  <p:sldIdLst>
    <p:sldId id="256" r:id="rId2"/>
    <p:sldId id="257" r:id="rId3"/>
    <p:sldId id="315" r:id="rId4"/>
    <p:sldId id="291" r:id="rId5"/>
    <p:sldId id="258" r:id="rId6"/>
    <p:sldId id="268" r:id="rId7"/>
    <p:sldId id="294" r:id="rId8"/>
    <p:sldId id="299" r:id="rId9"/>
    <p:sldId id="304" r:id="rId10"/>
    <p:sldId id="306" r:id="rId11"/>
    <p:sldId id="301" r:id="rId12"/>
    <p:sldId id="287" r:id="rId13"/>
    <p:sldId id="303" r:id="rId14"/>
    <p:sldId id="295" r:id="rId15"/>
    <p:sldId id="305" r:id="rId16"/>
    <p:sldId id="296" r:id="rId17"/>
    <p:sldId id="293" r:id="rId18"/>
    <p:sldId id="281" r:id="rId19"/>
    <p:sldId id="279" r:id="rId20"/>
    <p:sldId id="307" r:id="rId21"/>
    <p:sldId id="309" r:id="rId22"/>
    <p:sldId id="313" r:id="rId23"/>
    <p:sldId id="310" r:id="rId24"/>
    <p:sldId id="311" r:id="rId25"/>
    <p:sldId id="308" r:id="rId26"/>
    <p:sldId id="312" r:id="rId27"/>
    <p:sldId id="314" r:id="rId28"/>
    <p:sldId id="316" r:id="rId29"/>
    <p:sldId id="31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89952" autoAdjust="0"/>
  </p:normalViewPr>
  <p:slideViewPr>
    <p:cSldViewPr snapToGrid="0" snapToObjects="1">
      <p:cViewPr varScale="1">
        <p:scale>
          <a:sx n="95" d="100"/>
          <a:sy n="95" d="100"/>
        </p:scale>
        <p:origin x="78" y="180"/>
      </p:cViewPr>
      <p:guideLst>
        <p:guide orient="horz" pos="2160"/>
        <p:guide pos="3840"/>
      </p:guideLst>
    </p:cSldViewPr>
  </p:slideViewPr>
  <p:notesTextViewPr>
    <p:cViewPr>
      <p:scale>
        <a:sx n="3" d="2"/>
        <a:sy n="3" d="2"/>
      </p:scale>
      <p:origin x="0" y="0"/>
    </p:cViewPr>
  </p:notesTextViewPr>
  <p:sorterViewPr>
    <p:cViewPr>
      <p:scale>
        <a:sx n="100" d="100"/>
        <a:sy n="100" d="100"/>
      </p:scale>
      <p:origin x="0" y="-357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Working with sensitive, regulated data and delivering insights under strict compliance protocols—directly applicable to handling police data.</a:t>
            </a:r>
            <a:endParaRPr lang="en-US" dirty="0"/>
          </a:p>
        </p:txBody>
      </p:sp>
    </p:spTree>
    <p:extLst>
      <p:ext uri="{BB962C8B-B14F-4D97-AF65-F5344CB8AC3E}">
        <p14:creationId xmlns:p14="http://schemas.microsoft.com/office/powerpoint/2010/main" val="36265132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complex, time-series forecasting models for high-stakes scenarios, just like crime forecasting.</a:t>
            </a:r>
            <a:endParaRPr lang="en-US" dirty="0"/>
          </a:p>
        </p:txBody>
      </p:sp>
    </p:spTree>
    <p:extLst>
      <p:ext uri="{BB962C8B-B14F-4D97-AF65-F5344CB8AC3E}">
        <p14:creationId xmlns:p14="http://schemas.microsoft.com/office/powerpoint/2010/main" val="3858922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I've built production systems with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and RAG. Imagine applying that to automatically analyze officer reports, court documents, or public sentiment to generate investigative leads.</a:t>
            </a:r>
            <a:endParaRPr lang="en-US" dirty="0"/>
          </a:p>
        </p:txBody>
      </p:sp>
    </p:spTree>
    <p:extLst>
      <p:ext uri="{BB962C8B-B14F-4D97-AF65-F5344CB8AC3E}">
        <p14:creationId xmlns:p14="http://schemas.microsoft.com/office/powerpoint/2010/main" val="3470161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99A1C02-EC3D-4526-A61C-EEEDB77E2C98}" type="datetime3">
              <a:rPr lang="en-US" smtClean="0"/>
              <a:pPr/>
              <a:t>30 November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EB5AF9EF-6ADA-4F60-854C-E9FB1C1ACAFF}" type="datetime3">
              <a:rPr lang="en-US" smtClean="0"/>
              <a:pPr/>
              <a:t>30 November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546119-C893-498C-9D0E-1FED4A71C90C}"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E520D2C-89AD-4BC4-9A24-B26313B0DCB9}"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ADC46CA-2787-45EE-A4E5-1A72CC227786}" type="datetime3">
              <a:rPr lang="en-US" smtClean="0"/>
              <a:t>30 November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02D7722-7447-447D-A250-A2689617305A}" type="datetime3">
              <a:rPr lang="en-US" smtClean="0"/>
              <a:t>30 November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2BF359-877E-4B39-989F-5DE3896EB032}"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2764952-7DF7-4A84-9308-2205B598FB52}"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BA20F-C345-4B13-8D50-AF8D3C7AE326}"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80F348-B7E0-44CC-A938-3905BDF7D764}"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049832-F83F-49E8-9854-52B245B32CC0}" type="datetime3">
              <a:rPr lang="en-US" smtClean="0"/>
              <a:t>30 November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fuxima/YRP/blob/main/YorkRegionCrimeAnalysis.pptx" TargetMode="External"/><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fuxima.wixsite.com/fishway/about-form"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hyperlink" Target="key_driver_report-w2024-05-10-w2024-09-27.docx"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hyperlink" Target="http://127.0.0.1:3000/"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1754326"/>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2EC6F790-6FF3-446A-870A-D3E7CFED8F65}" type="datetime3">
              <a:rPr lang="en-US" smtClean="0"/>
              <a:t>30 November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3048000" y="1293940"/>
            <a:ext cx="6096000" cy="4068101"/>
          </a:xfrm>
          <a:prstGeom prst="rect">
            <a:avLst/>
          </a:prstGeom>
          <a:noFill/>
        </p:spPr>
        <p:txBody>
          <a:bodyPr wrap="square">
            <a:spAutoFit/>
          </a:bodyPr>
          <a:lstStyle/>
          <a:p>
            <a:pPr>
              <a:lnSpc>
                <a:spcPct val="115000"/>
              </a:lnSpc>
              <a:spcAft>
                <a:spcPts val="800"/>
              </a:spcAft>
              <a:buNone/>
            </a:pPr>
            <a:r>
              <a:rPr lang="en-CA" sz="1800" kern="100" dirty="0">
                <a:effectLst/>
                <a:latin typeface="Times New Roman" panose="02020603050405020304" pitchFamily="18" charset="0"/>
                <a:ea typeface="Aptos" panose="020B0004020202020204" pitchFamily="34" charset="0"/>
                <a:cs typeface="Times New Roman" panose="02020603050405020304" pitchFamily="18" charset="0"/>
              </a:rPr>
              <a:t> </a:t>
            </a:r>
            <a:endParaRPr lang="en-CA" sz="24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lnSpc>
                <a:spcPct val="115000"/>
              </a:lnSpc>
              <a:spcAft>
                <a:spcPts val="800"/>
              </a:spcAft>
              <a:buFont typeface="Arial" panose="020B0604020202020204" pitchFamily="34" charset="0"/>
              <a:buChar char="•"/>
              <a:tabLst>
                <a:tab pos="457200" algn="l"/>
              </a:tabLst>
            </a:pPr>
            <a:endParaRPr lang="en-CA" sz="24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Diagnosing the 2024 Crisis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Forecasting the Future Threat for 2026</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Spotlight on District 4 (Vaughan)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Our Strategic Action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EB5AF9EF-6ADA-4F60-854C-E9FB1C1ACAFF}" type="datetime3">
              <a:rPr lang="en-US" smtClean="0"/>
              <a:pPr/>
              <a:t>30 November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5062924"/>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Crime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911 Calls</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Focused on factors with a plausible, documented correlation to crime or police workload </a:t>
            </a:r>
          </a:p>
          <a:p>
            <a:pPr lvl="3" indent="-457200">
              <a:spcBef>
                <a:spcPts val="600"/>
              </a:spcBef>
              <a:spcAft>
                <a:spcPts val="300"/>
              </a:spcAft>
              <a:buFont typeface="+mj-lt"/>
              <a:buAutoNum type="arabicPeriod"/>
            </a:pPr>
            <a:r>
              <a:rPr lang="en-US" b="1" dirty="0">
                <a:latin typeface="Times New Roman" panose="02020603050405020304" pitchFamily="18" charset="0"/>
                <a:cs typeface="Times New Roman" panose="02020603050405020304" pitchFamily="18" charset="0"/>
              </a:rPr>
              <a:t>Weather data</a:t>
            </a:r>
            <a:r>
              <a:rPr lang="en-US" dirty="0">
                <a:latin typeface="Times New Roman" panose="02020603050405020304" pitchFamily="18" charset="0"/>
                <a:cs typeface="Times New Roman" panose="02020603050405020304" pitchFamily="18" charset="0"/>
              </a:rPr>
              <a:t> (temperature), as higher temperatures can correlate with increased outdoor activity and certain crime types</a:t>
            </a:r>
          </a:p>
          <a:p>
            <a:pPr lvl="3" indent="-457200">
              <a:spcBef>
                <a:spcPts val="600"/>
              </a:spcBef>
              <a:spcAft>
                <a:spcPts val="300"/>
              </a:spcAft>
              <a:buFont typeface="+mj-lt"/>
              <a:buAutoNum type="arabicPeriod"/>
            </a:pPr>
            <a:r>
              <a:rPr lang="en-US" dirty="0">
                <a:latin typeface="Times New Roman" panose="02020603050405020304" pitchFamily="18" charset="0"/>
                <a:cs typeface="Times New Roman" panose="02020603050405020304" pitchFamily="18" charset="0"/>
              </a:rPr>
              <a:t>More critically,  </a:t>
            </a:r>
            <a:r>
              <a:rPr lang="en-US" b="1" dirty="0">
                <a:latin typeface="Times New Roman" panose="02020603050405020304" pitchFamily="18" charset="0"/>
                <a:cs typeface="Times New Roman" panose="02020603050405020304" pitchFamily="18" charset="0"/>
              </a:rPr>
              <a:t>holiday calendars and road safety data</a:t>
            </a:r>
            <a:r>
              <a:rPr lang="en-US" dirty="0">
                <a:latin typeface="Times New Roman" panose="02020603050405020304" pitchFamily="18" charset="0"/>
                <a:cs typeface="Times New Roman" panose="02020603050405020304" pitchFamily="18" charset="0"/>
              </a:rPr>
              <a:t> to account for predictable surges in non-crime call volumes (like traffic accidents) that still tie up officer resources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Data/feature selection: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 to calculate feature importance, ensuring the external data 	added predictive value</a:t>
            </a:r>
            <a:endParaRPr lang="en-CA" sz="2000" b="1"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123825" y="1313793"/>
            <a:ext cx="9223658" cy="5407683"/>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9347484" y="1327746"/>
            <a:ext cx="2834992" cy="3744615"/>
          </a:xfrm>
          <a:prstGeom prst="rect">
            <a:avLst/>
          </a:prstGeom>
          <a:noFill/>
        </p:spPr>
        <p:txBody>
          <a:bodyPr wrap="square">
            <a:spAutoFit/>
          </a:bodyPr>
          <a:lstStyle/>
          <a:p>
            <a:pPr>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Strategic insights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Weekend Top Activity</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Evening Peak</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High Season: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August, September, October</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Low Season: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February, November,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December</a:t>
            </a:r>
          </a:p>
          <a:p>
            <a:pPr>
              <a:spcBef>
                <a:spcPts val="1200"/>
              </a:spcBef>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Implication</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spcAft>
                <a:spcPts val="800"/>
              </a:spcAft>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to our advantage by pre-deploying resources, which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F43757BF-2F7E-46E5-9A4E-50D85FE8A8F5}" type="datetime3">
              <a:rPr lang="en-US" smtClean="0"/>
              <a:t>30 November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9196552" y="1555862"/>
            <a:ext cx="2421732" cy="3498394"/>
          </a:xfrm>
          <a:prstGeom prst="rect">
            <a:avLst/>
          </a:prstGeom>
          <a:noFill/>
        </p:spPr>
        <p:txBody>
          <a:bodyPr wrap="square">
            <a:spAutoFit/>
          </a:bodyPr>
          <a:lstStyle/>
          <a:p>
            <a:pPr marL="342900" lvl="0" indent="-342900">
              <a:spcAft>
                <a:spcPts val="800"/>
              </a:spcAft>
              <a:buFont typeface="Arial" panose="020B0604020202020204" pitchFamily="34" charset="0"/>
              <a:buChar char="•"/>
              <a:tabLst>
                <a:tab pos="457200" algn="l"/>
              </a:tabLst>
            </a:pPr>
            <a:r>
              <a:rPr lang="en-CA" sz="1600" kern="100" dirty="0">
                <a:effectLst/>
                <a:latin typeface="Times New Roman" panose="02020603050405020304" pitchFamily="18" charset="0"/>
                <a:ea typeface="Aptos" panose="020B0004020202020204" pitchFamily="34" charset="0"/>
                <a:cs typeface="Times New Roman" panose="02020603050405020304" pitchFamily="18" charset="0"/>
              </a:rPr>
              <a:t>Property and Violent Crime Dominate Volume</a:t>
            </a:r>
            <a:endParaRPr lang="en-CA" sz="1600" kern="100" dirty="0">
              <a:latin typeface="Times New Roman" panose="02020603050405020304" pitchFamily="18" charset="0"/>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tabLst>
                <a:tab pos="457200" algn="l"/>
              </a:tabLst>
            </a:pPr>
            <a:r>
              <a:rPr lang="en-CA" sz="1600" b="1" dirty="0">
                <a:latin typeface="Times New Roman" panose="02020603050405020304" pitchFamily="18" charset="0"/>
                <a:ea typeface="Aptos" panose="020B0004020202020204" pitchFamily="34" charset="0"/>
              </a:rPr>
              <a:t>Core Message:</a:t>
            </a:r>
            <a:r>
              <a:rPr lang="en-CA" sz="1600" dirty="0">
                <a:latin typeface="Times New Roman" panose="02020603050405020304" pitchFamily="18" charset="0"/>
                <a:ea typeface="Aptos" panose="020B0004020202020204" pitchFamily="34" charset="0"/>
              </a:rPr>
              <a:t> </a:t>
            </a:r>
          </a:p>
          <a:p>
            <a:pPr>
              <a:spcAft>
                <a:spcPts val="800"/>
              </a:spcAft>
              <a:tabLst>
                <a:tab pos="457200" algn="l"/>
              </a:tabLst>
            </a:pPr>
            <a:r>
              <a:rPr lang="en-CA" sz="1600" dirty="0">
                <a:latin typeface="Times New Roman" panose="02020603050405020304" pitchFamily="18" charset="0"/>
                <a:ea typeface="Aptos" panose="020B0004020202020204" pitchFamily="34" charset="0"/>
              </a:rPr>
              <a:t>Property and Violent crime are not just the most common; they are growing at an alarming rate. This isn't a general crime problem; it's a specific one requiring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F0D9266A-34D5-49FE-BC9B-420F9F433C3C}" type="datetime3">
              <a:rPr lang="en-US" smtClean="0"/>
              <a:t>30 November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265194" y="1364481"/>
            <a:ext cx="1163955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create a feedback loop that depletes officer capacity, reducing our ability to respond and prevent future crime, particularly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6419849" y="3807170"/>
            <a:ext cx="5109116" cy="2859778"/>
          </a:xfrm>
          <a:prstGeom prst="rect">
            <a:avLst/>
          </a:prstGeom>
        </p:spPr>
      </p:pic>
      <p:sp>
        <p:nvSpPr>
          <p:cNvPr id="8" name="TextBox 7"/>
          <p:cNvSpPr txBox="1"/>
          <p:nvPr/>
        </p:nvSpPr>
        <p:spPr>
          <a:xfrm>
            <a:off x="6743700" y="1345128"/>
            <a:ext cx="4747165" cy="2416046"/>
          </a:xfrm>
          <a:prstGeom prst="rect">
            <a:avLst/>
          </a:prstGeom>
          <a:noFill/>
        </p:spPr>
        <p:txBody>
          <a:bodyPr wrap="square">
            <a:spAutoFit/>
          </a:bodyPr>
          <a:lstStyle/>
          <a:p>
            <a:pPr>
              <a:spcAft>
                <a:spcPts val="600"/>
              </a:spcAft>
            </a:pPr>
            <a:r>
              <a:rPr lang="en-CA" sz="1400" b="1" dirty="0">
                <a:latin typeface="Times New Roman" panose="02020603050405020304" pitchFamily="18" charset="0"/>
                <a:cs typeface="Times New Roman" panose="02020603050405020304" pitchFamily="18" charset="0"/>
              </a:rPr>
              <a:t>Primary Drivers of the 2024 Anomaly:</a:t>
            </a:r>
            <a:endParaRPr lang="en-CA" sz="1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A significant surge in </a:t>
            </a:r>
            <a:r>
              <a:rPr lang="en-CA" sz="1200" b="1" dirty="0">
                <a:latin typeface="Times New Roman" panose="02020603050405020304" pitchFamily="18" charset="0"/>
                <a:cs typeface="Times New Roman" panose="02020603050405020304" pitchFamily="18" charset="0"/>
              </a:rPr>
              <a:t>violent crime, particularly gun violence.</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Organized crime activity</a:t>
            </a:r>
            <a:r>
              <a:rPr lang="en-CA" sz="1200" dirty="0">
                <a:latin typeface="Times New Roman" panose="02020603050405020304" pitchFamily="18" charset="0"/>
                <a:cs typeface="Times New Roman" panose="02020603050405020304" pitchFamily="18" charset="0"/>
              </a:rPr>
              <a:t> driving nationwide increases in auto theft.</a:t>
            </a: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Ongoing conflicts within the tow truck industry</a:t>
            </a:r>
            <a:r>
              <a:rPr lang="en-CA" sz="1200" dirty="0">
                <a:latin typeface="Times New Roman" panose="02020603050405020304" pitchFamily="18" charset="0"/>
                <a:cs typeface="Times New Roman" panose="02020603050405020304" pitchFamily="18" charset="0"/>
              </a:rPr>
              <a:t>, leading to gun violence and arson.</a:t>
            </a: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Proliferation of </a:t>
            </a:r>
            <a:r>
              <a:rPr lang="en-CA" sz="1200" b="1" dirty="0">
                <a:latin typeface="Times New Roman" panose="02020603050405020304" pitchFamily="18" charset="0"/>
                <a:cs typeface="Times New Roman" panose="02020603050405020304" pitchFamily="18" charset="0"/>
              </a:rPr>
              <a:t>illegal firearms.</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Challenges related to the national bail system for firearm offences.</a:t>
            </a:r>
          </a:p>
          <a:p>
            <a:pPr>
              <a:spcBef>
                <a:spcPts val="600"/>
              </a:spcBef>
              <a:spcAft>
                <a:spcPts val="600"/>
              </a:spcAft>
            </a:pPr>
            <a:r>
              <a:rPr lang="en-CA" sz="1400" b="1" dirty="0">
                <a:latin typeface="Times New Roman" panose="02020603050405020304" pitchFamily="18" charset="0"/>
                <a:cs typeface="Times New Roman" panose="02020603050405020304" pitchFamily="18" charset="0"/>
              </a:rPr>
              <a:t>Implication:</a:t>
            </a:r>
          </a:p>
          <a:p>
            <a:r>
              <a:rPr lang="en-CA" sz="1200" dirty="0">
                <a:latin typeface="Times New Roman" panose="02020603050405020304" pitchFamily="18" charset="0"/>
                <a:cs typeface="Times New Roman" panose="02020603050405020304" pitchFamily="18" charset="0"/>
              </a:rPr>
              <a:t>These drivers converged to create a 'storm,' overwhelming existing systems and exposing critical vulnerabilities in our resource allocation,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38124" y="1338224"/>
            <a:ext cx="6181725"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505949" y="1299363"/>
            <a:ext cx="2581275" cy="4585871"/>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+268.6%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 	+223.8%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+197.0%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Assault: 		+134.3%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Property Crime: 	+107.4%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Drug Offenses: 	+71.6%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(Vaughan):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Strategic Implications: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 hotspots</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Timming: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overnight patrol coverage by 40%</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Targeting:</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Disrupt organized auto theft networks as priority</a:t>
            </a:r>
          </a:p>
          <a:p>
            <a:pPr marL="171450" indent="-171450">
              <a:buFont typeface="Arial" panose="020B0604020202020204" pitchFamily="34" charset="0"/>
              <a:buChar char="•"/>
            </a:pPr>
            <a:r>
              <a:rPr lang="en-CA" sz="1200" b="1" kern="100" dirty="0">
                <a:latin typeface="Times New Roman" panose="02020603050405020304" pitchFamily="18" charset="0"/>
                <a:ea typeface="Aptos" panose="020B0004020202020204" pitchFamily="34" charset="0"/>
                <a:cs typeface="Times New Roman" panose="02020603050405020304" pitchFamily="18" charset="0"/>
              </a:rPr>
              <a:t>Planning</a:t>
            </a: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Implement summer surge response plan for 2025</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Prevention:</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Address root causes of gun violence spike</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Predict Driver Factors</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9</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924914"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700584" y="1177161"/>
            <a:ext cx="4053266" cy="4893647"/>
          </a:xfrm>
          <a:prstGeom prst="rect">
            <a:avLst/>
          </a:prstGeom>
          <a:noFill/>
        </p:spPr>
        <p:txBody>
          <a:bodyPr wrap="square">
            <a:spAutoFit/>
          </a:bodyPr>
          <a:lstStyle/>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342900" lvl="0" indent="-342900">
              <a:buFont typeface="+mj-lt"/>
              <a:buAutoNum type="arabicPeriod"/>
              <a:tabLst>
                <a:tab pos="457200" algn="l"/>
              </a:tabLst>
            </a:pPr>
            <a:r>
              <a:rPr lang="en-CA" sz="1200" kern="100" dirty="0">
                <a:latin typeface="Times New Roman" panose="02020603050405020304" pitchFamily="18" charset="0"/>
                <a:cs typeface="Times New Roman" panose="02020603050405020304" pitchFamily="18" charset="0"/>
              </a:rPr>
              <a:t>Count from the Same Month in Previous Year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68.3%</a:t>
            </a: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18.2%</a:t>
            </a: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6.5%</a:t>
            </a:r>
          </a:p>
          <a:p>
            <a:pPr lvl="0">
              <a:tabLst>
                <a:tab pos="457200" algn="l"/>
              </a:tabLst>
            </a:pPr>
            <a:endParaRPr lang="en-CA" sz="16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Recommended Next Steps</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Focus on the top 6 factors</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rolling 7-day monitoring</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Develop weekly pattern analysis for different crime types</a:t>
            </a:r>
          </a:p>
          <a:p>
            <a:pPr marL="342900" lvl="0" indent="-342900">
              <a:buFont typeface="+mj-lt"/>
              <a:buAutoNum type="arabicPeriod"/>
              <a:tabLst>
                <a:tab pos="457200" algn="l"/>
              </a:tabLst>
            </a:pPr>
            <a:endParaRPr lang="en-CA" sz="16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Enhancement Opportunities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Add holiday and special event indicators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Incorporate economic indicators (unemployment, etc.)</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Include social media/sentiment analysis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Add school calendar effects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real-time updating of models</a:t>
            </a:r>
          </a:p>
          <a:p>
            <a:pPr marL="342900" lvl="0" indent="-342900">
              <a:buFont typeface="Symbol" panose="05050102010706020507" pitchFamily="18" charset="2"/>
              <a:buChar char=""/>
            </a:pP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lvl="0"/>
            <a:r>
              <a:rPr lang="en-CA" sz="1600" b="1" kern="100" dirty="0">
                <a:latin typeface="Times New Roman" panose="02020603050405020304" pitchFamily="18" charset="0"/>
                <a:cs typeface="Times New Roman" panose="02020603050405020304" pitchFamily="18" charset="0"/>
              </a:rPr>
              <a:t>Concluding Insight</a:t>
            </a:r>
          </a:p>
          <a:p>
            <a:pPr marL="171450" lvl="0" indent="-171450">
              <a:buFont typeface="Arial" panose="020B0604020202020204" pitchFamily="34" charset="0"/>
              <a:buChar char="•"/>
            </a:pPr>
            <a:r>
              <a:rPr lang="en-CA" sz="1200" kern="100" dirty="0">
                <a:latin typeface="Times New Roman" panose="02020603050405020304" pitchFamily="18" charset="0"/>
                <a:cs typeface="Times New Roman" panose="02020603050405020304" pitchFamily="18" charset="0"/>
              </a:rPr>
              <a:t>This analysis confirms that while historical patterns are predictable, the 2024 surge was driven by factors outside these models (like organized crime), justifying our need for both predictive resource planning and targeted tactical interventions</a:t>
            </a:r>
          </a:p>
        </p:txBody>
      </p:sp>
    </p:spTree>
    <p:extLst>
      <p:ext uri="{BB962C8B-B14F-4D97-AF65-F5344CB8AC3E}">
        <p14:creationId xmlns:p14="http://schemas.microsoft.com/office/powerpoint/2010/main" val="1035280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Multi-Sources Crime Intelligence</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10</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329605" cy="5262044"/>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6489739" y="3867149"/>
            <a:ext cx="5519059" cy="2634229"/>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6489740" y="1221451"/>
            <a:ext cx="5534093" cy="2646878"/>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2025 to Oct 2025; Outlier: 2024</a:t>
            </a:r>
          </a:p>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MAE=15.1, RMSE=18.9, R²=0.32</a:t>
            </a:r>
          </a:p>
          <a:p>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Gradient Boosting: MAE=15.4, RMSE=19.4, R²=0.29</a:t>
            </a:r>
          </a:p>
          <a:p>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Ensemble (weighted (RF: 0.53, GB: 0.47)): MAE=15.0, RMSE=18.9, R²=0.32</a:t>
            </a:r>
          </a:p>
          <a:p>
            <a:pPr marL="171450" indent="-171450">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for staffing. The 'missed' spikes are from organized crime—which we address with targeted interventions in District 4, not forecasting</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Insight: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Stable </a:t>
            </a:r>
            <a:r>
              <a:rPr lang="en-CA" sz="1200" kern="100" dirty="0">
                <a:latin typeface="Times New Roman" panose="02020603050405020304" pitchFamily="18" charset="0"/>
                <a:cs typeface="Times New Roman" panose="02020603050405020304" pitchFamily="18" charset="0"/>
              </a:rPr>
              <a:t>seasonal patterns captured. While our model reliably predicts the seasonal ebb and flow of crime (e.g., more in summer, less in winter), it confirms that major crime surges are driven by complex, unpredictable factors like organized crime spikes. This is why our strategic plan combines this baseline forecast with a targeted intervention in District 4</a:t>
            </a:r>
          </a:p>
          <a:p>
            <a:pPr marL="171450" indent="-171450">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Strategic Recommendation: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Resources Planning: Align with seasonal patterns</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12</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5160387"/>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necessitating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Strategic Recommendations</a:t>
            </a:r>
            <a:endParaRPr lang="en-CA" sz="1600" dirty="0">
              <a:latin typeface="Times New Roman" panose="02020603050405020304" pitchFamily="18" charset="0"/>
              <a:cs typeface="Times New Roman" panose="02020603050405020304" pitchFamily="18" charset="0"/>
            </a:endParaRPr>
          </a:p>
          <a:p>
            <a:r>
              <a:rPr lang="en-CA" sz="1200" dirty="0">
                <a:latin typeface="Times New Roman" panose="02020603050405020304" pitchFamily="18" charset="0"/>
                <a:cs typeface="Times New Roman" panose="02020603050405020304" pitchFamily="18" charset="0"/>
              </a:rPr>
              <a:t>1. Base 2026 planning on 3394 crimes/month forecast</a:t>
            </a:r>
          </a:p>
          <a:p>
            <a:r>
              <a:rPr lang="en-CA" sz="1200" dirty="0">
                <a:latin typeface="Times New Roman" panose="02020603050405020304" pitchFamily="18" charset="0"/>
                <a:cs typeface="Times New Roman" panose="02020603050405020304" pitchFamily="18" charset="0"/>
              </a:rPr>
              <a:t>2. Maintain ±502 crimes flexibility in budgets</a:t>
            </a:r>
          </a:p>
          <a:p>
            <a:pPr>
              <a:spcAft>
                <a:spcPts val="600"/>
              </a:spcAft>
            </a:pPr>
            <a:r>
              <a:rPr lang="en-CA" sz="1200" dirty="0">
                <a:latin typeface="Times New Roman" panose="02020603050405020304" pitchFamily="18" charset="0"/>
                <a:cs typeface="Times New Roman" panose="02020603050405020304" pitchFamily="18" charset="0"/>
              </a:rPr>
              <a:t>3. 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Priority</a:t>
            </a:r>
          </a:p>
          <a:p>
            <a:pPr>
              <a:spcAft>
                <a:spcPts val="400"/>
              </a:spcAft>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to cover our vulnerability period, using overtime strategically for Friday peak activity. </a:t>
            </a:r>
            <a:r>
              <a:rPr lang="en-CA" sz="1200" b="1" dirty="0">
                <a:latin typeface="Times New Roman" panose="02020603050405020304" pitchFamily="18" charset="0"/>
                <a:cs typeface="Times New Roman" panose="02020603050405020304" pitchFamily="18" charset="0"/>
              </a:rPr>
              <a:t>Why focus on weekdays?</a:t>
            </a:r>
            <a:r>
              <a:rPr lang="en-CA" sz="1200" dirty="0">
                <a:latin typeface="Times New Roman" panose="02020603050405020304" pitchFamily="18" charset="0"/>
                <a:cs typeface="Times New Roman" panose="02020603050405020304" pitchFamily="18" charset="0"/>
              </a:rPr>
              <a:t> While absolute crime is lower Monday-Thursday, our officer unavailability is highest on these days, creating a critical vulnerability window. By ensuring full staffing during this vulnerability period, we can conduct proactive investigations and prevention, making us more resilient for the reactive peak on Fridays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a:spcAft>
                <a:spcPts val="400"/>
              </a:spcAft>
              <a:defRPr sz="1000"/>
            </a:pPr>
            <a:r>
              <a:rPr lang="en-CA" sz="1200" dirty="0">
                <a:latin typeface="Times New Roman" panose="02020603050405020304" pitchFamily="18" charset="0"/>
                <a:cs typeface="Times New Roman" panose="02020603050405020304" pitchFamily="18" charset="0"/>
              </a:rPr>
              <a:t>Activate the 'Summer Surge Plan' from June 1st, pre-deploying tactical units to District 4 hotspots</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257551"/>
            <a:ext cx="4761597" cy="3098258"/>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CF0160F9-68E2-47DE-BD2D-9F8B2C0C2841}" type="datetime3">
              <a:rPr lang="en-US" smtClean="0"/>
              <a:t>30 November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846659"/>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Urgent Action Needed</a:t>
            </a:r>
            <a:endParaRPr lang="en-CA" sz="1600" dirty="0">
              <a:latin typeface="Times New Roman" panose="02020603050405020304" pitchFamily="18" charset="0"/>
              <a:cs typeface="Times New Roman" panose="02020603050405020304" pitchFamily="18" charset="0"/>
            </a:endParaRP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5.2% increase in crime for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extreme event. Our forecast shows a return to the underlying pre-2024 growth trend, indicating that the systemic pressures that existed before the 2024 spike are still present and will lead to increased crime again if unaddressed</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Operations</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 Staffing Risk Analysis</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1577163"/>
          </a:xfrm>
          <a:prstGeom prst="rect">
            <a:avLst/>
          </a:prstGeom>
          <a:noFill/>
        </p:spPr>
        <p:txBody>
          <a:bodyPr wrap="square">
            <a:spAutoFit/>
          </a:bodyPr>
          <a:lstStyle/>
          <a:p>
            <a:pPr>
              <a:lnSpc>
                <a:spcPct val="150000"/>
              </a:lnSpc>
              <a:defRPr sz="1000">
                <a:solidFill>
                  <a:srgbClr val="404040"/>
                </a:solidFill>
              </a:defRPr>
            </a:pPr>
            <a:r>
              <a:rPr lang="en-US" sz="2400" b="1" dirty="0">
                <a:latin typeface="Times New Roman" panose="02020603050405020304" pitchFamily="18" charset="0"/>
                <a:cs typeface="Times New Roman" panose="02020603050405020304" pitchFamily="18" charset="0"/>
              </a:rPr>
              <a:t>Key Insights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cluster of high-risk days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Minimum staffing requirement: 23 officers</a:t>
            </a:r>
          </a:p>
        </p:txBody>
      </p:sp>
    </p:spTree>
    <p:extLst>
      <p:ext uri="{BB962C8B-B14F-4D97-AF65-F5344CB8AC3E}">
        <p14:creationId xmlns:p14="http://schemas.microsoft.com/office/powerpoint/2010/main" val="1897872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16</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523875" y="1390650"/>
            <a:ext cx="6591299" cy="5032376"/>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7200899" y="1413551"/>
            <a:ext cx="4714876" cy="4585871"/>
          </a:xfrm>
          <a:prstGeom prst="rect">
            <a:avLst/>
          </a:prstGeom>
          <a:noFill/>
        </p:spPr>
        <p:txBody>
          <a:bodyPr wrap="square">
            <a:spAutoFit/>
          </a:bodyPr>
          <a:lstStyle/>
          <a:p>
            <a:pPr>
              <a:spcBef>
                <a:spcPts val="600"/>
              </a:spcBef>
            </a:pPr>
            <a:r>
              <a:rPr lang="en-US" sz="1600" b="1" dirty="0">
                <a:latin typeface="Times New Roman" panose="02020603050405020304" pitchFamily="18" charset="0"/>
                <a:cs typeface="Times New Roman" panose="02020603050405020304" pitchFamily="18" charset="0"/>
              </a:rPr>
              <a:t>Data:</a:t>
            </a:r>
            <a:r>
              <a:rPr lang="en-US" sz="1600" dirty="0">
                <a:latin typeface="Times New Roman" panose="02020603050405020304" pitchFamily="18" charset="0"/>
                <a:cs typeface="Times New Roman" panose="02020603050405020304" pitchFamily="18" charset="0"/>
              </a:rPr>
              <a:t> </a:t>
            </a:r>
            <a:r>
              <a:rPr lang="en-CA" sz="1400" dirty="0">
                <a:solidFill>
                  <a:srgbClr val="0F1115"/>
                </a:solidFill>
                <a:latin typeface="Times New Roman" panose="02020603050405020304" pitchFamily="18" charset="0"/>
                <a:cs typeface="Times New Roman" panose="02020603050405020304" pitchFamily="18" charset="0"/>
              </a:rPr>
              <a:t>traffic, geographic, demographic, economic, weather, unemployment, youth population</a:t>
            </a:r>
            <a:endParaRPr lang="en-US" sz="1400" dirty="0">
              <a:latin typeface="Times New Roman" panose="02020603050405020304" pitchFamily="18" charset="0"/>
              <a:cs typeface="Times New Roman" panose="02020603050405020304" pitchFamily="18" charset="0"/>
            </a:endParaRPr>
          </a:p>
          <a:p>
            <a:pPr>
              <a:spcBef>
                <a:spcPts val="600"/>
              </a:spcBef>
            </a:pPr>
            <a:r>
              <a:rPr lang="en-US" sz="1600" b="1" dirty="0">
                <a:latin typeface="Times New Roman" panose="02020603050405020304" pitchFamily="18" charset="0"/>
                <a:cs typeface="Times New Roman" panose="02020603050405020304" pitchFamily="18" charset="0"/>
              </a:rPr>
              <a:t>Model:</a:t>
            </a:r>
            <a:r>
              <a:rPr lang="en-US" sz="16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XGBoost</a:t>
            </a:r>
            <a:r>
              <a:rPr lang="en-US" sz="1400" dirty="0">
                <a:latin typeface="Times New Roman" panose="02020603050405020304" pitchFamily="18" charset="0"/>
                <a:cs typeface="Times New Roman" panose="02020603050405020304" pitchFamily="18" charset="0"/>
              </a:rPr>
              <a:t> for feature importance</a:t>
            </a:r>
          </a:p>
          <a:p>
            <a:pPr marL="36000">
              <a:spcBef>
                <a:spcPts val="600"/>
              </a:spcBef>
            </a:pPr>
            <a:r>
              <a:rPr lang="en-CA" sz="1600" b="1" dirty="0">
                <a:latin typeface="Times New Roman" panose="02020603050405020304" pitchFamily="18" charset="0"/>
                <a:cs typeface="Times New Roman" panose="02020603050405020304" pitchFamily="18" charset="0"/>
              </a:rPr>
              <a:t>Priority Assessment</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Call-for-service load</a:t>
            </a:r>
          </a:p>
          <a:p>
            <a:pPr>
              <a:spcBef>
                <a:spcPts val="600"/>
              </a:spcBef>
            </a:pPr>
            <a:r>
              <a:rPr lang="en-US" sz="1600" b="1" dirty="0">
                <a:latin typeface="Times New Roman" panose="02020603050405020304" pitchFamily="18" charset="0"/>
                <a:cs typeface="Times New Roman" panose="02020603050405020304" pitchFamily="18" charset="0"/>
              </a:rPr>
              <a:t>Tier Definition: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High (70+):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Critical risk requiring immediate intervention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Medium (60-69):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Elevated risk requiring monitoring and prevention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Low (&lt;60):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Stable, standard patrol levels sufficient</a:t>
            </a:r>
            <a:r>
              <a:rPr lang="en-US" sz="1200" dirty="0">
                <a:solidFill>
                  <a:srgbClr val="0F1115"/>
                </a:solidFill>
                <a:latin typeface="Times New Roman" panose="02020603050405020304" pitchFamily="18" charset="0"/>
                <a:cs typeface="Times New Roman" panose="02020603050405020304" pitchFamily="18" charset="0"/>
              </a:rPr>
              <a:t> </a:t>
            </a:r>
            <a:endParaRPr lang="en-CA" sz="1200" dirty="0">
              <a:solidFill>
                <a:srgbClr val="0F1115"/>
              </a:solidFill>
              <a:latin typeface="Times New Roman" panose="02020603050405020304" pitchFamily="18" charset="0"/>
              <a:cs typeface="Times New Roman" panose="02020603050405020304" pitchFamily="18" charset="0"/>
            </a:endParaRPr>
          </a:p>
          <a:p>
            <a:pPr>
              <a:spcBef>
                <a:spcPts val="600"/>
              </a:spcBef>
            </a:pPr>
            <a:r>
              <a:rPr lang="en-CA" sz="1600" b="1" dirty="0">
                <a:latin typeface="Times New Roman" panose="02020603050405020304" pitchFamily="18" charset="0"/>
                <a:cs typeface="Times New Roman" panose="02020603050405020304" pitchFamily="18" charset="0"/>
              </a:rPr>
              <a:t>Key Insights</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This scoring system allows us to move beyond simple crime counts and focus resources on areas with the most severe and concentrated threats, such as District 4</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(evenings, weekends) and officer availability (weekday vulnerability)</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data confirms that District 4 is not just a hotspot, but a systemic outlier requiring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 (Vaughan)</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5" y="1470024"/>
            <a:ext cx="8686800"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8982075" y="1426697"/>
            <a:ext cx="3200455" cy="3724096"/>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Minimum Required Officers: 23</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r>
              <a:rPr lang="en-CA" sz="1200" dirty="0">
                <a:latin typeface="Times New Roman" panose="02020603050405020304" pitchFamily="18" charset="0"/>
                <a:cs typeface="Times New Roman" panose="02020603050405020304" pitchFamily="18" charset="0"/>
                <a:sym typeface="Wingdings" panose="05000000000000000000" pitchFamily="2" charset="2"/>
              </a:rPr>
              <a:t> </a:t>
            </a:r>
            <a:r>
              <a:rPr lang="en-CA" sz="1200" dirty="0">
                <a:solidFill>
                  <a:srgbClr val="FF0000"/>
                </a:solidFill>
                <a:latin typeface="Times New Roman" panose="02020603050405020304" pitchFamily="18" charset="0"/>
                <a:cs typeface="Times New Roman" panose="02020603050405020304" pitchFamily="18" charset="0"/>
              </a:rPr>
              <a:t>Misleading</a:t>
            </a:r>
          </a:p>
          <a:p>
            <a:pPr marL="171450" indent="-171450">
              <a:buFont typeface="Wingdings" panose="05000000000000000000" pitchFamily="2" charset="2"/>
              <a:buChar char="v"/>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p>
          <a:p>
            <a:pPr marL="171450" indent="-171450">
              <a:buFont typeface="Arial" panose="020B0604020202020204" pitchFamily="34" charset="0"/>
              <a:buChar char="•"/>
            </a:pPr>
            <a:endParaRPr lang="en-CA" sz="1200"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High Risk Periods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High-Unavailability Months: August, September and October</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High-Unavailability Days: While criminal activity peaks on Fridays, our operational vulnerability is highest Monday-Thursday due to low officer availability. This mismatch requires strategic scheduling adjustments</a:t>
            </a:r>
          </a:p>
        </p:txBody>
      </p:sp>
    </p:spTree>
    <p:extLst>
      <p:ext uri="{BB962C8B-B14F-4D97-AF65-F5344CB8AC3E}">
        <p14:creationId xmlns:p14="http://schemas.microsoft.com/office/powerpoint/2010/main" val="849133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9907EC0E-FFC0-4DAD-A328-A2D9C6092260}" type="datetime3">
              <a:rPr lang="en-US" smtClean="0"/>
              <a:t>30 November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18</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bidding to cover weekday vulnerability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2BBDE202-2122-4B41-99F3-A95E29B999DB}" type="datetime3">
              <a:rPr lang="en-US" smtClean="0"/>
              <a:t>30 November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897709" y="1043762"/>
            <a:ext cx="9056041" cy="501194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latin typeface="Times New Roman" panose="02020603050405020304" pitchFamily="18" charset="0"/>
                <a:cs typeface="Times New Roman" panose="02020603050405020304" pitchFamily="18" charset="0"/>
                <a:hlinkClick r:id="rId3"/>
              </a:rPr>
              <a:t>https://github.com/fuxima/YRP/blob/main/YorkRegionCrimeAnalysis.pptx</a:t>
            </a: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8" name="Picture 7" descr="A qr code with purple border&#10;&#10;AI-generated content may be incorrect.">
            <a:extLst>
              <a:ext uri="{FF2B5EF4-FFF2-40B4-BE49-F238E27FC236}">
                <a16:creationId xmlns:a16="http://schemas.microsoft.com/office/drawing/2014/main" id="{DC1F4CC9-B331-CF9D-12AF-ED5B1EE15658}"/>
              </a:ext>
            </a:extLst>
          </p:cNvPr>
          <p:cNvPicPr>
            <a:picLocks noChangeAspect="1"/>
          </p:cNvPicPr>
          <p:nvPr/>
        </p:nvPicPr>
        <p:blipFill>
          <a:blip r:embed="rId6"/>
          <a:stretch>
            <a:fillRect/>
          </a:stretch>
        </p:blipFill>
        <p:spPr>
          <a:xfrm>
            <a:off x="5262416" y="1952591"/>
            <a:ext cx="784225" cy="756576"/>
          </a:xfrm>
          <a:prstGeom prst="rect">
            <a:avLst/>
          </a:prstGeom>
        </p:spPr>
      </p:pic>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7"/>
          <a:stretch>
            <a:fillRect/>
          </a:stretch>
        </p:blipFill>
        <p:spPr>
          <a:xfrm flipV="1">
            <a:off x="5293768" y="4185032"/>
            <a:ext cx="775190" cy="764923"/>
          </a:xfrm>
          <a:prstGeom prst="rect">
            <a:avLst/>
          </a:prstGeom>
        </p:spPr>
      </p:pic>
    </p:spTree>
    <p:extLst>
      <p:ext uri="{BB962C8B-B14F-4D97-AF65-F5344CB8AC3E}">
        <p14:creationId xmlns:p14="http://schemas.microsoft.com/office/powerpoint/2010/main" val="3689265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35A04-3B08-BBDD-B93B-D4DCA7663493}"/>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About Myself</a:t>
            </a:r>
            <a:endParaRPr lang="en-CA" dirty="0"/>
          </a:p>
        </p:txBody>
      </p:sp>
      <p:sp>
        <p:nvSpPr>
          <p:cNvPr id="3" name="Date Placeholder 2">
            <a:extLst>
              <a:ext uri="{FF2B5EF4-FFF2-40B4-BE49-F238E27FC236}">
                <a16:creationId xmlns:a16="http://schemas.microsoft.com/office/drawing/2014/main" id="{91EB852D-6FDD-3F8E-3820-E94804C61D2B}"/>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0A528B38-CC67-1F5B-68E3-4A2C1522A19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62BB52D-5552-8031-FDD8-E1025E37C253}"/>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C557FB2D-A0B6-6588-D93E-8A3DF188E3BA}"/>
              </a:ext>
            </a:extLst>
          </p:cNvPr>
          <p:cNvSpPr txBox="1"/>
          <p:nvPr/>
        </p:nvSpPr>
        <p:spPr>
          <a:xfrm>
            <a:off x="588580" y="1894198"/>
            <a:ext cx="11276330" cy="433965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Canadian Citizen &amp; PhD in Applied mathematics </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Since about 20 years ago when immigrated to Canada</a:t>
            </a:r>
          </a:p>
          <a:p>
            <a:r>
              <a:rPr lang="en-US" sz="2400" b="1" dirty="0">
                <a:latin typeface="Times New Roman" panose="02020603050405020304" pitchFamily="18" charset="0"/>
                <a:cs typeface="Times New Roman" panose="02020603050405020304" pitchFamily="18" charset="0"/>
              </a:rPr>
              <a:t>Career (</a:t>
            </a:r>
            <a:r>
              <a:rPr lang="en-US" sz="2400" dirty="0">
                <a:latin typeface="Times New Roman" panose="02020603050405020304" pitchFamily="18" charset="0"/>
                <a:cs typeface="Times New Roman" panose="02020603050405020304" pitchFamily="18" charset="0"/>
              </a:rPr>
              <a:t>Total Experience 15 Years</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Engineering (Climate change and sea-level rise predictive modeling)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Pharmaceutical (Clinical trial data &amp; patients data modeling)</a:t>
            </a:r>
          </a:p>
          <a:p>
            <a:r>
              <a:rPr lang="en-US" sz="2400" b="1" dirty="0">
                <a:latin typeface="Times New Roman" panose="02020603050405020304" pitchFamily="18" charset="0"/>
                <a:cs typeface="Times New Roman" panose="02020603050405020304" pitchFamily="18" charset="0"/>
              </a:rPr>
              <a:t>Data Science </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 ML/AI</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Python, R, SQL, </a:t>
            </a:r>
            <a:r>
              <a:rPr lang="en-US" sz="2000" dirty="0" err="1">
                <a:latin typeface="Times New Roman" panose="02020603050405020304" pitchFamily="18" charset="0"/>
                <a:cs typeface="Times New Roman" panose="02020603050405020304" pitchFamily="18" charset="0"/>
              </a:rPr>
              <a:t>PySpark</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Models: Traditional ML: Regression, Classification, </a:t>
            </a:r>
            <a:r>
              <a:rPr lang="en-US" sz="2000" dirty="0" err="1">
                <a:latin typeface="Times New Roman" panose="02020603050405020304" pitchFamily="18" charset="0"/>
                <a:cs typeface="Times New Roman" panose="02020603050405020304" pitchFamily="18" charset="0"/>
              </a:rPr>
              <a:t>Clusuting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LightGBM</a:t>
            </a:r>
            <a:endParaRPr lang="en-US" sz="2000" dirty="0">
              <a:latin typeface="Times New Roman" panose="02020603050405020304" pitchFamily="18" charset="0"/>
              <a:cs typeface="Times New Roman" panose="02020603050405020304" pitchFamily="18" charset="0"/>
            </a:endParaRPr>
          </a:p>
          <a:p>
            <a:pPr lvl="2"/>
            <a:r>
              <a:rPr lang="en-US" sz="2400" dirty="0">
                <a:latin typeface="Times New Roman" panose="02020603050405020304" pitchFamily="18" charset="0"/>
                <a:cs typeface="Times New Roman" panose="02020603050405020304" pitchFamily="18" charset="0"/>
              </a:rPr>
              <a:t>Deep Learning: RNN, TensorFlow/</a:t>
            </a:r>
            <a:r>
              <a:rPr lang="en-US" sz="2400" dirty="0" err="1">
                <a:latin typeface="Times New Roman" panose="02020603050405020304" pitchFamily="18" charset="0"/>
                <a:cs typeface="Times New Roman" panose="02020603050405020304" pitchFamily="18" charset="0"/>
              </a:rPr>
              <a:t>Pytorch</a:t>
            </a:r>
            <a:r>
              <a:rPr lang="en-US" sz="2400" dirty="0">
                <a:latin typeface="Times New Roman" panose="02020603050405020304" pitchFamily="18" charset="0"/>
                <a:cs typeface="Times New Roman" panose="02020603050405020304" pitchFamily="18" charset="0"/>
              </a:rPr>
              <a:t> &amp;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 for time series data</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Platform: Databricks, Cloudera, AWS &amp; Azure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 Visualizations: Power BI, Spotfire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Dashboard: R-Shiny, Flask, Dash, </a:t>
            </a:r>
            <a:r>
              <a:rPr lang="en-US" sz="2000" dirty="0" err="1">
                <a:latin typeface="Times New Roman" panose="02020603050405020304" pitchFamily="18" charset="0"/>
                <a:cs typeface="Times New Roman" panose="02020603050405020304" pitchFamily="18" charset="0"/>
              </a:rPr>
              <a:t>Streamlit</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Report/Documentation: Quarto</a:t>
            </a:r>
          </a:p>
        </p:txBody>
      </p:sp>
    </p:spTree>
    <p:extLst>
      <p:ext uri="{BB962C8B-B14F-4D97-AF65-F5344CB8AC3E}">
        <p14:creationId xmlns:p14="http://schemas.microsoft.com/office/powerpoint/2010/main" val="3324050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5901-EFAE-4E6A-F46D-402D92FB23C7}"/>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Climate Change and Sea Level Rise Prediction</a:t>
            </a:r>
            <a:endParaRPr lang="en-CA" dirty="0"/>
          </a:p>
        </p:txBody>
      </p:sp>
      <p:sp>
        <p:nvSpPr>
          <p:cNvPr id="3" name="Date Placeholder 2">
            <a:extLst>
              <a:ext uri="{FF2B5EF4-FFF2-40B4-BE49-F238E27FC236}">
                <a16:creationId xmlns:a16="http://schemas.microsoft.com/office/drawing/2014/main" id="{F7B3F6D2-7CBB-4514-22B3-F6F6DF020310}"/>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66DBF08E-8E20-8012-D305-0A1819EC018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FB9FB46-F5EA-2068-8A52-FF0658F1E12B}"/>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6" name="TextBox 5">
            <a:extLst>
              <a:ext uri="{FF2B5EF4-FFF2-40B4-BE49-F238E27FC236}">
                <a16:creationId xmlns:a16="http://schemas.microsoft.com/office/drawing/2014/main" id="{064F3CB9-038B-CB1A-1BCA-988039A1CEFC}"/>
              </a:ext>
            </a:extLst>
          </p:cNvPr>
          <p:cNvSpPr txBox="1"/>
          <p:nvPr/>
        </p:nvSpPr>
        <p:spPr>
          <a:xfrm>
            <a:off x="1592035" y="2201329"/>
            <a:ext cx="9007929" cy="3237874"/>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Time-series forecast</a:t>
            </a:r>
            <a:endParaRPr lang="en-US" sz="2400" b="1"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ETL Data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EDA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Output</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Joint Probability (Storm Surge + Seal Level Rise in Bay of Fundy)</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hlinkClick r:id="rId3"/>
              </a:rPr>
              <a:t>https://fuxima.wixsite.com/fishway/about-form</a:t>
            </a:r>
            <a:endParaRPr lang="en-US" sz="2000" dirty="0">
              <a:latin typeface="Times New Roman" panose="02020603050405020304" pitchFamily="18" charset="0"/>
              <a:cs typeface="Times New Roman" panose="02020603050405020304" pitchFamily="18" charset="0"/>
            </a:endParaRPr>
          </a:p>
          <a:p>
            <a:pPr>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754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42D96-2795-2D3A-EC9C-7052FF984169}"/>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APP: Rx Prescription Data, Patient Data, Claim Data &amp; Drug Store Universe Data</a:t>
            </a:r>
            <a:br>
              <a:rPr lang="en-US" sz="6000" dirty="0">
                <a:latin typeface="Times New Roman" panose="02020603050405020304" pitchFamily="18" charset="0"/>
                <a:cs typeface="Times New Roman" panose="02020603050405020304" pitchFamily="18" charset="0"/>
              </a:rPr>
            </a:br>
            <a:endParaRPr lang="en-CA" dirty="0"/>
          </a:p>
        </p:txBody>
      </p:sp>
      <p:sp>
        <p:nvSpPr>
          <p:cNvPr id="3" name="Date Placeholder 2">
            <a:extLst>
              <a:ext uri="{FF2B5EF4-FFF2-40B4-BE49-F238E27FC236}">
                <a16:creationId xmlns:a16="http://schemas.microsoft.com/office/drawing/2014/main" id="{A19F3359-66BB-3AB5-A0FB-271E691B6244}"/>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944A711F-4F81-B27D-9130-21C91F23FE1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C39ACD4C-B408-E1A9-87B7-B3C0995584DC}"/>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F92C8F70-4A35-EFF2-0D01-89FA36ACA813}"/>
              </a:ext>
            </a:extLst>
          </p:cNvPr>
          <p:cNvSpPr txBox="1"/>
          <p:nvPr/>
        </p:nvSpPr>
        <p:spPr>
          <a:xfrm>
            <a:off x="367862" y="1302912"/>
            <a:ext cx="11456275" cy="5258171"/>
          </a:xfrm>
          <a:prstGeom prst="rect">
            <a:avLst/>
          </a:prstGeom>
          <a:noFill/>
        </p:spPr>
        <p:txBody>
          <a:bodyPr wrap="square">
            <a:spAutoFit/>
          </a:bodyPr>
          <a:lstStyle/>
          <a:p>
            <a:r>
              <a:rPr lang="en-US" sz="3200" b="1" dirty="0">
                <a:latin typeface="Times New Roman" panose="02020603050405020304" pitchFamily="18" charset="0"/>
                <a:cs typeface="Times New Roman" panose="02020603050405020304" pitchFamily="18" charset="0"/>
              </a:rPr>
              <a:t>Data Ingestion: </a:t>
            </a:r>
            <a:r>
              <a:rPr lang="en-US" sz="2800" dirty="0">
                <a:latin typeface="Times New Roman" panose="02020603050405020304" pitchFamily="18" charset="0"/>
                <a:cs typeface="Times New Roman" panose="02020603050405020304" pitchFamily="18" charset="0"/>
              </a:rPr>
              <a:t>Collect data from All States in USA &amp; Prediction Modeling</a:t>
            </a:r>
          </a:p>
          <a:p>
            <a:r>
              <a:rPr lang="en-US" sz="3200" b="1" dirty="0">
                <a:latin typeface="Times New Roman" panose="02020603050405020304" pitchFamily="18" charset="0"/>
                <a:cs typeface="Times New Roman" panose="02020603050405020304" pitchFamily="18" charset="0"/>
              </a:rPr>
              <a:t>Anomaly Detection</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Moving Average ± 3</a:t>
            </a:r>
            <a:r>
              <a:rPr lang="el-GR" sz="2000" dirty="0">
                <a:latin typeface="Times New Roman" panose="02020603050405020304" pitchFamily="18" charset="0"/>
                <a:cs typeface="Times New Roman" panose="02020603050405020304" pitchFamily="18" charset="0"/>
              </a:rPr>
              <a:t>σ</a:t>
            </a:r>
            <a:r>
              <a:rPr lang="en-US" sz="2000" dirty="0">
                <a:latin typeface="Times New Roman" panose="02020603050405020304" pitchFamily="18" charset="0"/>
                <a:cs typeface="Times New Roman" panose="02020603050405020304" pitchFamily="18" charset="0"/>
              </a:rPr>
              <a:t>; Box plot – IQR; Z-score</a:t>
            </a:r>
          </a:p>
          <a:p>
            <a:r>
              <a:rPr lang="en-US" sz="3200" b="1" dirty="0">
                <a:latin typeface="Times New Roman" panose="02020603050405020304" pitchFamily="18" charset="0"/>
                <a:cs typeface="Times New Roman" panose="02020603050405020304" pitchFamily="18" charset="0"/>
              </a:rPr>
              <a:t>Holiday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Holiday drop; Holiday re-bounce</a:t>
            </a:r>
          </a:p>
          <a:p>
            <a:r>
              <a:rPr lang="en-US" sz="3200" b="1" dirty="0">
                <a:latin typeface="Times New Roman" panose="02020603050405020304" pitchFamily="18" charset="0"/>
                <a:cs typeface="Times New Roman" panose="02020603050405020304" pitchFamily="18" charset="0"/>
              </a:rPr>
              <a:t>Model: </a:t>
            </a:r>
            <a:r>
              <a:rPr lang="en-US" sz="2000" dirty="0">
                <a:latin typeface="Times New Roman" panose="02020603050405020304" pitchFamily="18" charset="0"/>
                <a:cs typeface="Times New Roman" panose="02020603050405020304" pitchFamily="18" charset="0"/>
              </a:rPr>
              <a:t>TensorFlow</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a:t>
            </a:r>
          </a:p>
          <a:p>
            <a:r>
              <a:rPr lang="en-US" sz="3200" b="1" dirty="0">
                <a:latin typeface="Times New Roman" panose="02020603050405020304" pitchFamily="18" charset="0"/>
                <a:cs typeface="Times New Roman" panose="02020603050405020304" pitchFamily="18" charset="0"/>
              </a:rPr>
              <a:t>Hyperparameter Tuning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Different layers; Learning Rate; Dropout Rates; </a:t>
            </a:r>
          </a:p>
          <a:p>
            <a:pPr lvl="1"/>
            <a:r>
              <a:rPr lang="en-US" sz="2000" dirty="0">
                <a:latin typeface="Times New Roman" panose="02020603050405020304" pitchFamily="18" charset="0"/>
                <a:cs typeface="Times New Roman" panose="02020603050405020304" pitchFamily="18" charset="0"/>
              </a:rPr>
              <a:t>Early Stopping; Embedding Dimensions</a:t>
            </a:r>
          </a:p>
          <a:p>
            <a:r>
              <a:rPr lang="en-US" sz="3200" b="1" dirty="0">
                <a:latin typeface="Times New Roman" panose="02020603050405020304" pitchFamily="18" charset="0"/>
                <a:cs typeface="Times New Roman" panose="02020603050405020304" pitchFamily="18" charset="0"/>
              </a:rPr>
              <a:t>Generate Weekly Report </a:t>
            </a:r>
            <a:r>
              <a:rPr lang="en-US" sz="3200" dirty="0">
                <a:latin typeface="Times New Roman" panose="02020603050405020304" pitchFamily="18" charset="0"/>
                <a:cs typeface="Times New Roman" panose="02020603050405020304" pitchFamily="18" charset="0"/>
              </a:rPr>
              <a:t>in word/pdf/html</a:t>
            </a:r>
          </a:p>
          <a:p>
            <a:r>
              <a:rPr lang="en-US" sz="3200" b="1" dirty="0">
                <a:latin typeface="Times New Roman" panose="02020603050405020304" pitchFamily="18" charset="0"/>
                <a:cs typeface="Times New Roman" panose="02020603050405020304" pitchFamily="18" charset="0"/>
              </a:rPr>
              <a:t>Deliverables (offering) </a:t>
            </a:r>
            <a:r>
              <a:rPr lang="en-US" sz="2400" b="1" dirty="0">
                <a:latin typeface="Times New Roman" panose="02020603050405020304" pitchFamily="18" charset="0"/>
                <a:cs typeface="Times New Roman" panose="02020603050405020304" pitchFamily="18" charset="0"/>
              </a:rPr>
              <a:t>for Pharma, Payers, Providers, Government</a:t>
            </a:r>
            <a:endParaRPr lang="en-US" sz="2400"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hlinkClick r:id="rId2" action="ppaction://hlinkfile"/>
              </a:rPr>
              <a:t>Key Driver Analysis</a:t>
            </a:r>
            <a:endParaRPr lang="en-US"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7945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2EC3-D0DA-6F87-BD14-67A1D5C4193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Deep Learning (RNN) – Cancer Prediction</a:t>
            </a:r>
            <a:endParaRPr lang="en-CA" dirty="0"/>
          </a:p>
        </p:txBody>
      </p:sp>
      <p:sp>
        <p:nvSpPr>
          <p:cNvPr id="3" name="Date Placeholder 2">
            <a:extLst>
              <a:ext uri="{FF2B5EF4-FFF2-40B4-BE49-F238E27FC236}">
                <a16:creationId xmlns:a16="http://schemas.microsoft.com/office/drawing/2014/main" id="{08624E13-781B-069A-BA56-F6C435B8A7F8}"/>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744DECCF-56FD-0724-2F5A-51153EEEB18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AA1709A-AB3A-0FC3-BAAF-F178D03FC1A7}"/>
              </a:ext>
            </a:extLst>
          </p:cNvPr>
          <p:cNvSpPr>
            <a:spLocks noGrp="1"/>
          </p:cNvSpPr>
          <p:nvPr>
            <p:ph type="sldNum" sz="quarter" idx="12"/>
          </p:nvPr>
        </p:nvSpPr>
        <p:spPr/>
        <p:txBody>
          <a:bodyPr/>
          <a:lstStyle/>
          <a:p>
            <a:fld id="{C1FF6DA9-008F-8B48-92A6-B652298478BF}" type="slidenum">
              <a:rPr lang="en-US" smtClean="0"/>
              <a:t>23</a:t>
            </a:fld>
            <a:endParaRPr lang="en-US"/>
          </a:p>
        </p:txBody>
      </p:sp>
      <p:sp>
        <p:nvSpPr>
          <p:cNvPr id="6" name="TextBox 5">
            <a:extLst>
              <a:ext uri="{FF2B5EF4-FFF2-40B4-BE49-F238E27FC236}">
                <a16:creationId xmlns:a16="http://schemas.microsoft.com/office/drawing/2014/main" id="{90CB64B8-702C-1936-39F2-FC2D91E88442}"/>
              </a:ext>
            </a:extLst>
          </p:cNvPr>
          <p:cNvSpPr txBox="1"/>
          <p:nvPr/>
        </p:nvSpPr>
        <p:spPr>
          <a:xfrm>
            <a:off x="2032000" y="1419968"/>
            <a:ext cx="7321264" cy="4684424"/>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Model</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TensorFlow + </a:t>
            </a:r>
            <a:r>
              <a:rPr lang="en-US" sz="2000" dirty="0" err="1">
                <a:latin typeface="Times New Roman" panose="02020603050405020304" pitchFamily="18" charset="0"/>
                <a:cs typeface="Times New Roman" panose="02020603050405020304" pitchFamily="18" charset="0"/>
              </a:rPr>
              <a:t>Keras</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LSTM</a:t>
            </a:r>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Patient Sequential Data</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Tokenization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a:t>
            </a:r>
          </a:p>
          <a:p>
            <a:r>
              <a:rPr lang="en-US" sz="2000" b="1" dirty="0">
                <a:latin typeface="Times New Roman" panose="02020603050405020304" pitchFamily="18" charset="0"/>
                <a:cs typeface="Times New Roman" panose="02020603050405020304" pitchFamily="18" charset="0"/>
              </a:rPr>
              <a:t>Imbalanced Classes</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Class Weighting</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SMOTE (Synthetic Minority Over-sampling Technique)</a:t>
            </a:r>
          </a:p>
          <a:p>
            <a:r>
              <a:rPr lang="en-US" sz="2000" b="1" dirty="0">
                <a:latin typeface="Times New Roman" panose="02020603050405020304" pitchFamily="18" charset="0"/>
                <a:cs typeface="Times New Roman" panose="02020603050405020304" pitchFamily="18" charset="0"/>
              </a:rPr>
              <a:t>Hyperparameter Tuning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Different layers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Dropout rates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 dimensions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Learning rate</a:t>
            </a:r>
          </a:p>
          <a:p>
            <a:pPr>
              <a:lnSpc>
                <a:spcPct val="150000"/>
              </a:lnSpc>
            </a:pPr>
            <a:r>
              <a:rPr lang="en-US" sz="2000" b="1" dirty="0">
                <a:latin typeface="Times New Roman" panose="02020603050405020304" pitchFamily="18" charset="0"/>
                <a:cs typeface="Times New Roman" panose="02020603050405020304" pitchFamily="18" charset="0"/>
                <a:hlinkClick r:id="rId2"/>
              </a:rPr>
              <a:t>Dashboard</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76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Canadian Education and </a:t>
            </a:r>
            <a:r>
              <a:rPr lang="en-US" b="1" dirty="0" err="1">
                <a:latin typeface="Times New Roman" panose="02020603050405020304" pitchFamily="18" charset="0"/>
                <a:cs typeface="Times New Roman" panose="02020603050405020304" pitchFamily="18" charset="0"/>
              </a:rPr>
              <a:t>Labour</a:t>
            </a:r>
            <a:r>
              <a:rPr lang="en-US" b="1" dirty="0">
                <a:latin typeface="Times New Roman" panose="02020603050405020304" pitchFamily="18" charset="0"/>
                <a:cs typeface="Times New Roman" panose="02020603050405020304" pitchFamily="18" charset="0"/>
              </a:rPr>
              <a:t> Market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785195"/>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5211378" y="1323530"/>
            <a:ext cx="1769242"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9A61F-C1C3-2897-9DBD-87C863B4A21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Data Integration &amp; Modeling </a:t>
            </a:r>
            <a:endParaRPr lang="en-CA" dirty="0"/>
          </a:p>
        </p:txBody>
      </p:sp>
      <p:sp>
        <p:nvSpPr>
          <p:cNvPr id="3" name="Date Placeholder 2">
            <a:extLst>
              <a:ext uri="{FF2B5EF4-FFF2-40B4-BE49-F238E27FC236}">
                <a16:creationId xmlns:a16="http://schemas.microsoft.com/office/drawing/2014/main" id="{FBA234E7-E761-7C2D-D60C-50CBD4D90F3F}"/>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BE11E4B1-751D-1B62-8767-7AF91E660CC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386BDA-A19F-8A81-B313-EBC7746D1A22}"/>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6" name="TextBox 5">
            <a:extLst>
              <a:ext uri="{FF2B5EF4-FFF2-40B4-BE49-F238E27FC236}">
                <a16:creationId xmlns:a16="http://schemas.microsoft.com/office/drawing/2014/main" id="{4ED9C8F1-BCD3-B662-D1BE-42B0A29C2CE4}"/>
              </a:ext>
            </a:extLst>
          </p:cNvPr>
          <p:cNvSpPr txBox="1"/>
          <p:nvPr/>
        </p:nvSpPr>
        <p:spPr>
          <a:xfrm>
            <a:off x="1200567" y="1368680"/>
            <a:ext cx="10485666" cy="3170099"/>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Polling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Ten Neuroscience Studies</a:t>
            </a:r>
          </a:p>
          <a:p>
            <a:r>
              <a:rPr lang="en-US" sz="2000" b="1" dirty="0">
                <a:latin typeface="Times New Roman" panose="02020603050405020304" pitchFamily="18" charset="0"/>
                <a:cs typeface="Times New Roman" panose="02020603050405020304" pitchFamily="18" charset="0"/>
              </a:rPr>
              <a:t>Challenge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Variety of Data Structures and Format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harmonization (Using SAS, SQL converted the source data into</a:t>
            </a:r>
            <a:r>
              <a:rPr lang="en-US" dirty="0">
                <a:latin typeface="Times New Roman" panose="02020603050405020304" pitchFamily="18" charset="0"/>
                <a:cs typeface="Times New Roman" panose="02020603050405020304" pitchFamily="18" charset="0"/>
                <a:sym typeface="Wingdings" panose="05000000000000000000" pitchFamily="2" charset="2"/>
              </a:rPr>
              <a:t> R)</a:t>
            </a:r>
          </a:p>
          <a:p>
            <a:r>
              <a:rPr lang="en-US" sz="2000" dirty="0">
                <a:latin typeface="Times New Roman" panose="02020603050405020304" pitchFamily="18" charset="0"/>
                <a:cs typeface="Times New Roman" panose="02020603050405020304" pitchFamily="18" charset="0"/>
                <a:sym typeface="Wingdings" panose="05000000000000000000" pitchFamily="2" charset="2"/>
              </a:rPr>
              <a:t>R </a:t>
            </a:r>
            <a:r>
              <a:rPr lang="en-US" sz="2000" b="1" dirty="0">
                <a:latin typeface="Times New Roman" panose="02020603050405020304" pitchFamily="18" charset="0"/>
                <a:cs typeface="Times New Roman" panose="02020603050405020304" pitchFamily="18" charset="0"/>
                <a:sym typeface="Wingdings" panose="05000000000000000000" pitchFamily="2" charset="2"/>
              </a:rPr>
              <a:t>Shiny App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Safety (ISS)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Efficacy (ISE)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Cross-study meta-data modeling</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Patients Enrolment </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 Dropout</a:t>
            </a:r>
          </a:p>
        </p:txBody>
      </p:sp>
      <p:sp>
        <p:nvSpPr>
          <p:cNvPr id="7" name="TextBox 6">
            <a:extLst>
              <a:ext uri="{FF2B5EF4-FFF2-40B4-BE49-F238E27FC236}">
                <a16:creationId xmlns:a16="http://schemas.microsoft.com/office/drawing/2014/main" id="{56781D57-5245-DAD9-E69D-E5D482040A2A}"/>
              </a:ext>
            </a:extLst>
          </p:cNvPr>
          <p:cNvSpPr txBox="1"/>
          <p:nvPr/>
        </p:nvSpPr>
        <p:spPr>
          <a:xfrm>
            <a:off x="1200567" y="4944674"/>
            <a:ext cx="7537033" cy="400110"/>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This Approach Applies to YRP’s </a:t>
            </a:r>
            <a:r>
              <a:rPr lang="en-CA" sz="2000" b="1" dirty="0">
                <a:latin typeface="Times New Roman" panose="02020603050405020304" pitchFamily="18" charset="0"/>
                <a:cs typeface="Times New Roman" panose="02020603050405020304" pitchFamily="18" charset="0"/>
              </a:rPr>
              <a:t>Multi-Sources Crime Intelligence</a:t>
            </a:r>
            <a:endParaRPr lang="en-US" sz="1600" dirty="0">
              <a:latin typeface="Times New Roman" panose="02020603050405020304" pitchFamily="18" charset="0"/>
              <a:cs typeface="Times New Roman" panose="02020603050405020304" pitchFamily="18" charset="0"/>
              <a:sym typeface="Wingdings" panose="05000000000000000000" pitchFamily="2" charset="2"/>
            </a:endParaRPr>
          </a:p>
        </p:txBody>
      </p:sp>
    </p:spTree>
    <p:extLst>
      <p:ext uri="{BB962C8B-B14F-4D97-AF65-F5344CB8AC3E}">
        <p14:creationId xmlns:p14="http://schemas.microsoft.com/office/powerpoint/2010/main" val="3976967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BB08-B76F-D354-1E9D-FF92B5DB19C5}"/>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AI Agents: Generative AI &amp; LLM Integration</a:t>
            </a:r>
            <a:endParaRPr lang="en-CA" dirty="0"/>
          </a:p>
        </p:txBody>
      </p:sp>
      <p:sp>
        <p:nvSpPr>
          <p:cNvPr id="3" name="Date Placeholder 2">
            <a:extLst>
              <a:ext uri="{FF2B5EF4-FFF2-40B4-BE49-F238E27FC236}">
                <a16:creationId xmlns:a16="http://schemas.microsoft.com/office/drawing/2014/main" id="{A3F4C9E7-3AAA-5F79-24C5-2279C17C10B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FD9E9429-8B4F-D212-DA94-BF04207E60B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B1765FE-58B7-44CA-8482-3A25C47EB2C8}"/>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6" name="TextBox 5">
            <a:extLst>
              <a:ext uri="{FF2B5EF4-FFF2-40B4-BE49-F238E27FC236}">
                <a16:creationId xmlns:a16="http://schemas.microsoft.com/office/drawing/2014/main" id="{B122EDAA-A784-C3CE-C7C4-4BA07FB868B4}"/>
              </a:ext>
            </a:extLst>
          </p:cNvPr>
          <p:cNvSpPr txBox="1"/>
          <p:nvPr/>
        </p:nvSpPr>
        <p:spPr>
          <a:xfrm>
            <a:off x="378371" y="1312537"/>
            <a:ext cx="11498317" cy="5509200"/>
          </a:xfrm>
          <a:prstGeom prst="rect">
            <a:avLst/>
          </a:prstGeom>
          <a:noFill/>
        </p:spPr>
        <p:txBody>
          <a:bodyPr wrap="square">
            <a:spAutoFit/>
          </a:bodyPr>
          <a:lstStyle/>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Developed production applications using </a:t>
            </a:r>
            <a:r>
              <a:rPr lang="en-US" sz="3200" dirty="0">
                <a:highlight>
                  <a:srgbClr val="FFFF00"/>
                </a:highlight>
                <a:latin typeface="Times New Roman" panose="02020603050405020304" pitchFamily="18" charset="0"/>
                <a:cs typeface="Times New Roman" panose="02020603050405020304" pitchFamily="18" charset="0"/>
              </a:rPr>
              <a:t>ChatGPT/DeepSeek</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LangChain</a:t>
            </a:r>
            <a:r>
              <a:rPr lang="en-US" sz="3200" dirty="0">
                <a:latin typeface="Times New Roman" panose="02020603050405020304" pitchFamily="18" charset="0"/>
                <a:cs typeface="Times New Roman" panose="02020603050405020304" pitchFamily="18" charset="0"/>
              </a:rPr>
              <a:t>, and Python (</a:t>
            </a:r>
            <a:r>
              <a:rPr lang="en-US" sz="3200" dirty="0">
                <a:highlight>
                  <a:srgbClr val="FFFF00"/>
                </a:highlight>
                <a:latin typeface="Times New Roman" panose="02020603050405020304" pitchFamily="18" charset="0"/>
                <a:cs typeface="Times New Roman" panose="02020603050405020304" pitchFamily="18" charset="0"/>
              </a:rPr>
              <a:t>RESTful APIs:</a:t>
            </a:r>
            <a:r>
              <a:rPr lang="en-US" sz="3200" dirty="0">
                <a:latin typeface="Times New Roman" panose="02020603050405020304" pitchFamily="18" charset="0"/>
                <a:cs typeface="Times New Roman" panose="02020603050405020304" pitchFamily="18" charset="0"/>
              </a:rPr>
              <a:t> </a:t>
            </a:r>
            <a:r>
              <a:rPr lang="en-US" sz="3200" dirty="0">
                <a:highlight>
                  <a:srgbClr val="00FF00"/>
                </a:highlight>
                <a:latin typeface="Times New Roman" panose="02020603050405020304" pitchFamily="18" charset="0"/>
                <a:cs typeface="Times New Roman" panose="02020603050405020304" pitchFamily="18" charset="0"/>
              </a:rPr>
              <a:t>official SDKs </a:t>
            </a:r>
            <a:r>
              <a:rPr lang="en-US" sz="3200" dirty="0">
                <a:latin typeface="Times New Roman" panose="02020603050405020304" pitchFamily="18" charset="0"/>
                <a:cs typeface="Times New Roman" panose="02020603050405020304" pitchFamily="18" charset="0"/>
              </a:rPr>
              <a:t>and </a:t>
            </a:r>
            <a:r>
              <a:rPr lang="en-US" sz="3200" dirty="0">
                <a:highlight>
                  <a:srgbClr val="00FF00"/>
                </a:highlight>
                <a:latin typeface="Times New Roman" panose="02020603050405020304" pitchFamily="18" charset="0"/>
                <a:cs typeface="Times New Roman" panose="02020603050405020304" pitchFamily="18" charset="0"/>
              </a:rPr>
              <a:t>direct HTTP calls</a:t>
            </a:r>
            <a:r>
              <a:rPr lang="en-US" sz="3200" dirty="0">
                <a:latin typeface="Times New Roman" panose="02020603050405020304" pitchFamily="18" charset="0"/>
                <a:cs typeface="Times New Roman" panose="02020603050405020304" pitchFamily="18" charset="0"/>
              </a:rPr>
              <a:t>)</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Implemented text-generation pipelines, conversational memory, and </a:t>
            </a:r>
            <a:r>
              <a:rPr lang="en-US" sz="3200" dirty="0">
                <a:highlight>
                  <a:srgbClr val="FFFF00"/>
                </a:highlight>
                <a:latin typeface="Times New Roman" panose="02020603050405020304" pitchFamily="18" charset="0"/>
                <a:cs typeface="Times New Roman" panose="02020603050405020304" pitchFamily="18" charset="0"/>
              </a:rPr>
              <a:t>RAG</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Retrieval-Augmented Generation)</a:t>
            </a:r>
            <a:r>
              <a:rPr lang="en-US" sz="3200" dirty="0">
                <a:latin typeface="Times New Roman" panose="02020603050405020304" pitchFamily="18" charset="0"/>
                <a:cs typeface="Times New Roman" panose="02020603050405020304" pitchFamily="18" charset="0"/>
              </a:rPr>
              <a:t>. I used vector databases </a:t>
            </a:r>
            <a:r>
              <a:rPr lang="en-US" sz="3200" dirty="0">
                <a:highlight>
                  <a:srgbClr val="FFFF00"/>
                </a:highlight>
                <a:latin typeface="Times New Roman" panose="02020603050405020304" pitchFamily="18" charset="0"/>
                <a:cs typeface="Times New Roman" panose="02020603050405020304" pitchFamily="18" charset="0"/>
              </a:rPr>
              <a:t>(</a:t>
            </a:r>
            <a:r>
              <a:rPr lang="en-US" sz="3200" dirty="0" err="1">
                <a:highlight>
                  <a:srgbClr val="FFFF00"/>
                </a:highlight>
                <a:latin typeface="Times New Roman" panose="02020603050405020304" pitchFamily="18" charset="0"/>
                <a:cs typeface="Times New Roman" panose="02020603050405020304" pitchFamily="18" charset="0"/>
              </a:rPr>
              <a:t>ChromaDB</a:t>
            </a:r>
            <a:r>
              <a:rPr lang="en-US" sz="3200" dirty="0">
                <a:highlight>
                  <a:srgbClr val="FFFF00"/>
                </a:highlight>
                <a:latin typeface="Times New Roman" panose="02020603050405020304" pitchFamily="18" charset="0"/>
                <a:cs typeface="Times New Roman" panose="02020603050405020304" pitchFamily="18" charset="0"/>
              </a:rPr>
              <a:t>, Pinecone). </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Created agents for LLMs to access our different databases, do analysis and deliver summary including </a:t>
            </a:r>
            <a:r>
              <a:rPr lang="en-US" sz="3200" dirty="0">
                <a:highlight>
                  <a:srgbClr val="FFFF00"/>
                </a:highlight>
                <a:latin typeface="Times New Roman" panose="02020603050405020304" pitchFamily="18" charset="0"/>
                <a:cs typeface="Times New Roman" panose="02020603050405020304" pitchFamily="18" charset="0"/>
              </a:rPr>
              <a:t>FDA Announcement</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competitor press releases</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market reports, Natural events (</a:t>
            </a:r>
            <a:r>
              <a:rPr lang="en-US" sz="3200" dirty="0" err="1">
                <a:highlight>
                  <a:srgbClr val="FFFF00"/>
                </a:highlight>
                <a:latin typeface="Times New Roman" panose="02020603050405020304" pitchFamily="18" charset="0"/>
                <a:cs typeface="Times New Roman" panose="02020603050405020304" pitchFamily="18" charset="0"/>
              </a:rPr>
              <a:t>Stm</a:t>
            </a:r>
            <a:r>
              <a:rPr lang="en-US" sz="3200" dirty="0">
                <a:highlight>
                  <a:srgbClr val="FFFF00"/>
                </a:highlight>
                <a:latin typeface="Times New Roman" panose="02020603050405020304" pitchFamily="18" charset="0"/>
                <a:cs typeface="Times New Roman" panose="02020603050405020304" pitchFamily="18" charset="0"/>
              </a:rPr>
              <a:t>/HURC) and Holiday impacts</a:t>
            </a:r>
            <a:r>
              <a:rPr lang="en-US" sz="3200" dirty="0">
                <a:latin typeface="Times New Roman" panose="02020603050405020304" pitchFamily="18" charset="0"/>
                <a:cs typeface="Times New Roman" panose="02020603050405020304" pitchFamily="18" charset="0"/>
              </a:rPr>
              <a:t> including Holiday Drop and post-holiday </a:t>
            </a:r>
            <a:r>
              <a:rPr lang="en-US" sz="3200" dirty="0" err="1">
                <a:latin typeface="Times New Roman" panose="02020603050405020304" pitchFamily="18" charset="0"/>
                <a:cs typeface="Times New Roman" panose="02020603050405020304" pitchFamily="18" charset="0"/>
              </a:rPr>
              <a:t>rebounce</a:t>
            </a:r>
            <a:r>
              <a:rPr lang="en-US"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37559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1E64A-38EF-0062-5B0C-B12504625421}"/>
              </a:ext>
            </a:extLst>
          </p:cNvPr>
          <p:cNvSpPr>
            <a:spLocks noGrp="1"/>
          </p:cNvSpPr>
          <p:nvPr>
            <p:ph type="title"/>
          </p:nvPr>
        </p:nvSpPr>
        <p:spPr/>
        <p:txBody>
          <a:bodyPr/>
          <a:lstStyle/>
          <a:p>
            <a:endParaRPr lang="en-CA"/>
          </a:p>
        </p:txBody>
      </p:sp>
      <p:sp>
        <p:nvSpPr>
          <p:cNvPr id="3" name="Date Placeholder 2">
            <a:extLst>
              <a:ext uri="{FF2B5EF4-FFF2-40B4-BE49-F238E27FC236}">
                <a16:creationId xmlns:a16="http://schemas.microsoft.com/office/drawing/2014/main" id="{76C814E0-8913-3B5C-30FD-548DBEE6AACD}"/>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87FBDDC2-BA94-81DE-2754-37457591B26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636190-1559-0452-20B7-74F871212E25}"/>
              </a:ext>
            </a:extLst>
          </p:cNvPr>
          <p:cNvSpPr>
            <a:spLocks noGrp="1"/>
          </p:cNvSpPr>
          <p:nvPr>
            <p:ph type="sldNum" sz="quarter" idx="12"/>
          </p:nvPr>
        </p:nvSpPr>
        <p:spPr/>
        <p:txBody>
          <a:bodyPr/>
          <a:lstStyle/>
          <a:p>
            <a:fld id="{C1FF6DA9-008F-8B48-92A6-B652298478BF}" type="slidenum">
              <a:rPr lang="en-US" smtClean="0"/>
              <a:t>27</a:t>
            </a:fld>
            <a:endParaRPr lang="en-US"/>
          </a:p>
        </p:txBody>
      </p:sp>
      <p:pic>
        <p:nvPicPr>
          <p:cNvPr id="9" name="Picture 2" descr="What is a Confusion Matrix? | Machine Learning Glossary ...">
            <a:extLst>
              <a:ext uri="{FF2B5EF4-FFF2-40B4-BE49-F238E27FC236}">
                <a16:creationId xmlns:a16="http://schemas.microsoft.com/office/drawing/2014/main" id="{1A25C9F5-32EF-8AE0-9807-077CD280A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9403" y="2305050"/>
            <a:ext cx="7409467" cy="455295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2B4EF6C-BA01-9294-C576-448054A5A333}"/>
              </a:ext>
            </a:extLst>
          </p:cNvPr>
          <p:cNvSpPr txBox="1"/>
          <p:nvPr/>
        </p:nvSpPr>
        <p:spPr>
          <a:xfrm>
            <a:off x="0" y="0"/>
            <a:ext cx="12198869" cy="6447406"/>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Recall </a:t>
            </a:r>
            <a:r>
              <a:rPr lang="en-US" sz="2800" b="1" dirty="0">
                <a:latin typeface="Times New Roman" panose="02020603050405020304" pitchFamily="18" charset="0"/>
                <a:cs typeface="Times New Roman" panose="02020603050405020304" pitchFamily="18" charset="0"/>
              </a:rPr>
              <a:t>is the percentage of a class correctly predicted for that class</a:t>
            </a:r>
          </a:p>
          <a:p>
            <a:r>
              <a:rPr lang="en-US" sz="2800" b="1" dirty="0">
                <a:latin typeface="Times New Roman" panose="02020603050405020304" pitchFamily="18" charset="0"/>
                <a:cs typeface="Times New Roman" panose="02020603050405020304" pitchFamily="18" charset="0"/>
              </a:rPr>
              <a:t>Recall</a:t>
            </a:r>
            <a:r>
              <a:rPr lang="en-US" sz="2800" dirty="0">
                <a:latin typeface="Times New Roman" panose="02020603050405020304" pitchFamily="18" charset="0"/>
                <a:cs typeface="Times New Roman" panose="02020603050405020304" pitchFamily="18" charset="0"/>
              </a:rPr>
              <a:t> (also known as </a:t>
            </a:r>
            <a:r>
              <a:rPr lang="en-US" sz="2800" b="1" u="sng" dirty="0">
                <a:latin typeface="Times New Roman" panose="02020603050405020304" pitchFamily="18" charset="0"/>
                <a:cs typeface="Times New Roman" panose="02020603050405020304" pitchFamily="18" charset="0"/>
              </a:rPr>
              <a:t>sensitivity</a:t>
            </a:r>
            <a:r>
              <a:rPr lang="en-US" sz="2800" u="sng"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or </a:t>
            </a:r>
            <a:r>
              <a:rPr lang="en-US" sz="2800" b="1" u="sng" dirty="0">
                <a:highlight>
                  <a:srgbClr val="FFFF00"/>
                </a:highlight>
                <a:latin typeface="Times New Roman" panose="02020603050405020304" pitchFamily="18" charset="0"/>
                <a:cs typeface="Times New Roman" panose="02020603050405020304" pitchFamily="18" charset="0"/>
              </a:rPr>
              <a:t>true positive rate</a:t>
            </a:r>
            <a:r>
              <a:rPr lang="en-US" sz="2800" dirty="0">
                <a:latin typeface="Times New Roman" panose="02020603050405020304" pitchFamily="18" charset="0"/>
                <a:cs typeface="Times New Roman" panose="02020603050405020304" pitchFamily="18" charset="0"/>
              </a:rPr>
              <a:t>) measures the proportion of actual positive cases that were correctly identified by the model</a:t>
            </a:r>
          </a:p>
          <a:p>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Recall = True Positives / (True Positives + False Negatives)</a:t>
            </a: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400" b="1" dirty="0"/>
          </a:p>
          <a:p>
            <a:pPr>
              <a:lnSpc>
                <a:spcPct val="150000"/>
              </a:lnSpc>
            </a:pPr>
            <a:endParaRPr lang="en-US" sz="2400" b="1" dirty="0"/>
          </a:p>
          <a:p>
            <a:pPr>
              <a:lnSpc>
                <a:spcPct val="150000"/>
              </a:lnSpc>
            </a:pPr>
            <a:r>
              <a:rPr lang="en-US" sz="2400" b="1" dirty="0"/>
              <a:t>F1 score </a:t>
            </a:r>
            <a:r>
              <a:rPr lang="en-US" sz="2400" dirty="0"/>
              <a:t>= 2 * (Precision * Recall) </a:t>
            </a:r>
          </a:p>
          <a:p>
            <a:pPr>
              <a:lnSpc>
                <a:spcPct val="150000"/>
              </a:lnSpc>
            </a:pPr>
            <a:r>
              <a:rPr lang="en-US" sz="2400" dirty="0"/>
              <a:t>		/ (Precision + Recall)</a:t>
            </a:r>
            <a:endParaRPr lang="en-US" sz="2800"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F1 Score </a:t>
            </a:r>
            <a:r>
              <a:rPr lang="en-US" sz="2800" dirty="0">
                <a:latin typeface="Times New Roman" panose="02020603050405020304" pitchFamily="18" charset="0"/>
                <a:cs typeface="Times New Roman" panose="02020603050405020304" pitchFamily="18" charset="0"/>
              </a:rPr>
              <a:t>is the harmonic mean of recall</a:t>
            </a:r>
          </a:p>
          <a:p>
            <a:pPr>
              <a:lnSpc>
                <a:spcPct val="150000"/>
              </a:lnSpc>
            </a:pPr>
            <a:r>
              <a:rPr lang="en-US" sz="2800" dirty="0">
                <a:latin typeface="Times New Roman" panose="02020603050405020304" pitchFamily="18" charset="0"/>
                <a:cs typeface="Times New Roman" panose="02020603050405020304" pitchFamily="18" charset="0"/>
              </a:rPr>
              <a:t>	 and precision</a:t>
            </a:r>
          </a:p>
        </p:txBody>
      </p:sp>
      <p:pic>
        <p:nvPicPr>
          <p:cNvPr id="11" name="Picture 10">
            <a:extLst>
              <a:ext uri="{FF2B5EF4-FFF2-40B4-BE49-F238E27FC236}">
                <a16:creationId xmlns:a16="http://schemas.microsoft.com/office/drawing/2014/main" id="{177AA45E-1DC0-C597-3769-8B89B01345B9}"/>
              </a:ext>
            </a:extLst>
          </p:cNvPr>
          <p:cNvPicPr>
            <a:picLocks noChangeAspect="1"/>
          </p:cNvPicPr>
          <p:nvPr/>
        </p:nvPicPr>
        <p:blipFill>
          <a:blip r:embed="rId3"/>
          <a:stretch>
            <a:fillRect/>
          </a:stretch>
        </p:blipFill>
        <p:spPr>
          <a:xfrm>
            <a:off x="-33563" y="2582944"/>
            <a:ext cx="7659848" cy="1414021"/>
          </a:xfrm>
          <a:prstGeom prst="rect">
            <a:avLst/>
          </a:prstGeom>
        </p:spPr>
      </p:pic>
    </p:spTree>
    <p:extLst>
      <p:ext uri="{BB962C8B-B14F-4D97-AF65-F5344CB8AC3E}">
        <p14:creationId xmlns:p14="http://schemas.microsoft.com/office/powerpoint/2010/main" val="401144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5DFDD8-F80D-FB95-4BF6-EB365B69A227}"/>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821C2DEB-AA2F-16B8-CEFC-F79915096E4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28A1850-956D-982B-898D-E57043ADB058}"/>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11" name="TextBox 10">
            <a:extLst>
              <a:ext uri="{FF2B5EF4-FFF2-40B4-BE49-F238E27FC236}">
                <a16:creationId xmlns:a16="http://schemas.microsoft.com/office/drawing/2014/main" id="{C2FEF65F-669D-8EC8-58C3-199C5AF8CB91}"/>
              </a:ext>
            </a:extLst>
          </p:cNvPr>
          <p:cNvSpPr txBox="1"/>
          <p:nvPr/>
        </p:nvSpPr>
        <p:spPr>
          <a:xfrm>
            <a:off x="0" y="21562"/>
            <a:ext cx="12192000" cy="4300408"/>
          </a:xfrm>
          <a:prstGeom prst="rect">
            <a:avLst/>
          </a:prstGeom>
          <a:noFill/>
        </p:spPr>
        <p:txBody>
          <a:bodyPr wrap="square">
            <a:spAutoFit/>
          </a:bodyPr>
          <a:lstStyle/>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R² is quite low (0.32). How can we trust a model with such low explanatory power?"</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an excellent question. The R² measures how well the model explains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variance</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 the data. Our model is very good at capturing the predictable, seasonal baseline—the 'heartbeat' of crime for resource planning. The 'missed' variance are the large, unpredictable spikes from events like organized crime rings, which are not easily forecast with traditional time-series data. This is precisely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why</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our strategy is two-pronged: use the model for baseline staffing and use tactical intelligence for the spikes. A perfect model for crime is unrealistic; a smart strategy that understands model limitations is essential."</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 integrated external data. Can you walk us through your feature selection process and why you chose those specific datasets?"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"Certainly. I focused on factors with a plausible, documented correlation to crime or police workload. I used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weather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(temperature), as higher temperatures can correlate with increased outdoor activity and certain crime types. More critically, I incorporated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holiday calendars and road safety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account for predictable surges in non-crime call volumes (like traffic accidents) that still tie up officer resources. For feature selection, I used models like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calculate feature importance, ensuring the external data added predictive value."</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improve this model if you had more time and resources?"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lvl="1">
              <a:lnSpc>
                <a:spcPct val="115000"/>
              </a:lnSpc>
              <a:spcAft>
                <a:spcPts val="800"/>
              </a:spcAft>
              <a:buSzPts val="1000"/>
              <a:tabLst>
                <a:tab pos="914400" algn="l"/>
              </a:tabLst>
            </a:pPr>
            <a:r>
              <a:rPr lang="en-US" sz="1200" kern="100" dirty="0">
                <a:effectLst/>
                <a:latin typeface="Aptos" panose="020B0004020202020204" pitchFamily="34" charset="0"/>
                <a:ea typeface="Aptos" panose="020B0004020202020204" pitchFamily="34" charset="0"/>
                <a:cs typeface="Times New Roman" panose="02020603050405020304" pitchFamily="18" charset="0"/>
              </a:rPr>
              <a:t> "I would focus on three areas: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Data Enrichment: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Integrate more granular data, like real-time economic indicators (unemployment filings) or anonymized mobility data.</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Model Sophistication: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Experiment with more advanced deep learning models like LSTMs or Transformers that might better capture complex, long-range dependencies.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Operational Integration: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Build a real-time dashboard that updates the forecast weekly or daily, allowing for dynamic resource allocation, and use LLM agents to automatically scan news and social media for early signals of emerging tensions."</a:t>
            </a:r>
          </a:p>
        </p:txBody>
      </p:sp>
      <p:sp>
        <p:nvSpPr>
          <p:cNvPr id="13" name="TextBox 12">
            <a:extLst>
              <a:ext uri="{FF2B5EF4-FFF2-40B4-BE49-F238E27FC236}">
                <a16:creationId xmlns:a16="http://schemas.microsoft.com/office/drawing/2014/main" id="{0F71E1CE-887D-1C69-F91A-465D61D2ED12}"/>
              </a:ext>
            </a:extLst>
          </p:cNvPr>
          <p:cNvSpPr txBox="1"/>
          <p:nvPr/>
        </p:nvSpPr>
        <p:spPr>
          <a:xfrm>
            <a:off x="0" y="4314695"/>
            <a:ext cx="12192000" cy="2513252"/>
          </a:xfrm>
          <a:prstGeom prst="rect">
            <a:avLst/>
          </a:prstGeom>
          <a:noFill/>
        </p:spPr>
        <p:txBody>
          <a:bodyPr wrap="square">
            <a:spAutoFit/>
          </a:bodyPr>
          <a:lstStyle/>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plan calls for shifting resources to District 4. What do you say to the Commanders of other Districts who will see this as robbing Peter to pay Paul?"</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 critical operational concern. The data shows District 4 is a systemic outlier. This isn't about favoring one district but about deploying resources to where the threat is most concentrated and severe to protect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entire region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A major crime event in District 4, like an organized auto-theft ring or a spike in gun violence, often drains resources from surrounding districts anyway. By concentrating efforts to 'put out the biggest fire,' we stabilize the entire region. This should be presented as a temporary, data-supported surge to address a critical vulnerability."</a:t>
            </a:r>
          </a:p>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implement the 'Strategic Shift Bidding' in practice, considering union contracts and officer morale?"</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recognize this is as much a human challenge as a technical one. I would propose a pilot program framed as a 'Proactive Patrol Initiative.' The data shows that ensuring full staffing on weekdays reduces burnout by preventing reactive chaos on Fridays. We could use incentive-based overtime for Mondays-Thursdays, rather than forced reassignments. The key is to present the data to the officers and their representatives, showing them how this plan actually creates more predictable schedules and reduces their stress during high-chaos periods."</a:t>
            </a:r>
          </a:p>
        </p:txBody>
      </p:sp>
    </p:spTree>
    <p:extLst>
      <p:ext uri="{BB962C8B-B14F-4D97-AF65-F5344CB8AC3E}">
        <p14:creationId xmlns:p14="http://schemas.microsoft.com/office/powerpoint/2010/main" val="2336704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558EC78-1D4C-3A61-8520-BAF78CCF0DAE}"/>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9C6C1A2-4953-6D8A-4747-89E9A6C02BB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6D871AFC-0DA6-36F0-73C7-9BBE8B529932}"/>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7" name="TextBox 6">
            <a:extLst>
              <a:ext uri="{FF2B5EF4-FFF2-40B4-BE49-F238E27FC236}">
                <a16:creationId xmlns:a16="http://schemas.microsoft.com/office/drawing/2014/main" id="{C635A2E1-10B2-7CAF-4FE4-E1612BC69DF6}"/>
              </a:ext>
            </a:extLst>
          </p:cNvPr>
          <p:cNvSpPr txBox="1"/>
          <p:nvPr/>
        </p:nvSpPr>
        <p:spPr>
          <a:xfrm>
            <a:off x="0" y="32378"/>
            <a:ext cx="12192000" cy="2615844"/>
          </a:xfrm>
          <a:prstGeom prst="rect">
            <a:avLst/>
          </a:prstGeom>
          <a:noFill/>
        </p:spPr>
        <p:txBody>
          <a:bodyPr wrap="square">
            <a:spAutoFit/>
          </a:bodyPr>
          <a:lstStyle/>
          <a:p>
            <a:pPr marL="0" marR="0">
              <a:lnSpc>
                <a:spcPct val="115000"/>
              </a:lnSpc>
              <a:spcAft>
                <a:spcPts val="800"/>
              </a:spcAft>
              <a:buNone/>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Behavioral &amp; Role-Fit Questions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"This role involves explaining complex data to non-technical audiences, including senior officers. How do you do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focus on the 'so what?' and avoid technical jargon. For example, instead of saying 'the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model identified a high feature importance for the temporal variable,' I would say, 'the data tells us that historical patterns from last year are the single biggest predictor of crime this month.' I use clear, intuitive visuals like the ones in this presentation—hotspot maps, simple bar charts for growth rates, and the '95% vs 54%' comparison—to make the insight immediate and undeniable."</a:t>
            </a: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"Where do you see the future of AI and Data Science in policing, and how do you fit into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"The future is in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predictive prevention and intelligent automation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Beyond forecasting, AI can help in cybercrime detection, analyzing complex networks of organized crime from text reports, and optimizing patrol routes in real-time. My experience, especially with building LLM applications, positions me to help YRP not just analyze the past, but to build the tools that will give our officers a decisive advantage in the future. I'm not just a data scientist; I'm a builder of solutions that enhance public safety."</a:t>
            </a:r>
          </a:p>
        </p:txBody>
      </p:sp>
      <p:sp>
        <p:nvSpPr>
          <p:cNvPr id="9" name="TextBox 8">
            <a:extLst>
              <a:ext uri="{FF2B5EF4-FFF2-40B4-BE49-F238E27FC236}">
                <a16:creationId xmlns:a16="http://schemas.microsoft.com/office/drawing/2014/main" id="{324C6654-BD97-C651-7E47-C29C21AF3CFC}"/>
              </a:ext>
            </a:extLst>
          </p:cNvPr>
          <p:cNvSpPr txBox="1"/>
          <p:nvPr/>
        </p:nvSpPr>
        <p:spPr>
          <a:xfrm>
            <a:off x="0" y="2692848"/>
            <a:ext cx="12192000" cy="3046988"/>
          </a:xfrm>
          <a:prstGeom prst="rect">
            <a:avLst/>
          </a:prstGeom>
          <a:noFill/>
        </p:spPr>
        <p:txBody>
          <a:bodyPr wrap="square">
            <a:spAutoFit/>
          </a:bodyPr>
          <a:lstStyle/>
          <a:p>
            <a:r>
              <a:rPr lang="en-US" sz="1600" b="1" i="0" dirty="0">
                <a:solidFill>
                  <a:srgbClr val="0F1115"/>
                </a:solidFill>
                <a:effectLst/>
                <a:latin typeface="quote-cjk-patch"/>
              </a:rPr>
              <a:t>On Collaboration:</a:t>
            </a:r>
            <a:r>
              <a:rPr lang="en-US" sz="1600" b="0" i="0" dirty="0">
                <a:solidFill>
                  <a:srgbClr val="0F1115"/>
                </a:solidFill>
                <a:effectLst/>
                <a:latin typeface="quote-cjk-patch"/>
              </a:rPr>
              <a:t> "The job description mentions close collaboration with GIS, Data Engineering, and front-line decision-makers. Could you describe what a typical collaborative project looks like from initiation to deployment? What does a successful partnership look like in practice?</a:t>
            </a:r>
          </a:p>
          <a:p>
            <a:endParaRPr lang="en-US" sz="1600" dirty="0">
              <a:solidFill>
                <a:srgbClr val="0F1115"/>
              </a:solidFill>
              <a:latin typeface="quote-cjk-patch"/>
            </a:endParaRPr>
          </a:p>
          <a:p>
            <a:r>
              <a:rPr lang="en-US" sz="1600" b="1" dirty="0"/>
              <a:t>On the Tech Stack Evolution:</a:t>
            </a:r>
            <a:r>
              <a:rPr lang="en-US" sz="1600" dirty="0"/>
              <a:t> "I noticed the presentation mentioned tools like Python, SQL, and Power BI. Could you describe the current on-premise or cloud data infrastructure (e.g., Azure, AWS)? Are there any planned investments or shifts in the technology roadmap for the bureau?</a:t>
            </a:r>
          </a:p>
          <a:p>
            <a:endParaRPr lang="en-US" sz="1600" dirty="0"/>
          </a:p>
          <a:p>
            <a:r>
              <a:rPr lang="en-US" sz="1600" b="1" dirty="0"/>
              <a:t>On </a:t>
            </a:r>
            <a:r>
              <a:rPr lang="en-US" sz="1600" b="1" dirty="0" err="1"/>
              <a:t>MLOps</a:t>
            </a:r>
            <a:r>
              <a:rPr lang="en-US" sz="1600" b="1" dirty="0"/>
              <a:t> &amp; Model Deployment:</a:t>
            </a:r>
            <a:r>
              <a:rPr lang="en-US" sz="1600" dirty="0"/>
              <a:t> "The purpose of this role is to transform data into strategic assets that support decision-making. Could you talk about the process for taking a model from a </a:t>
            </a:r>
            <a:r>
              <a:rPr lang="en-US" sz="1600" dirty="0" err="1"/>
              <a:t>Jupyter</a:t>
            </a:r>
            <a:r>
              <a:rPr lang="en-US" sz="1600" dirty="0"/>
              <a:t> Notebook to a production environment? Is there a established </a:t>
            </a:r>
            <a:r>
              <a:rPr lang="en-US" sz="1600" dirty="0" err="1"/>
              <a:t>MLOps</a:t>
            </a:r>
            <a:r>
              <a:rPr lang="en-US" sz="1600" dirty="0"/>
              <a:t> pipeline, or is that an area for development?</a:t>
            </a:r>
          </a:p>
          <a:p>
            <a:endParaRPr lang="en-US" sz="1600" dirty="0"/>
          </a:p>
          <a:p>
            <a:r>
              <a:rPr lang="en-US" sz="1600" b="1" dirty="0"/>
              <a:t>On the AI Strategy:</a:t>
            </a:r>
            <a:r>
              <a:rPr lang="en-US" sz="1600" dirty="0"/>
              <a:t> "York Regional Police seems committed to becoming more data-driven. Is there a formal AI or data strategy in place? How does leadership envision the role of advanced analytics, like the LLM applications I mentioned, evolving in the next few years?</a:t>
            </a:r>
          </a:p>
        </p:txBody>
      </p:sp>
    </p:spTree>
    <p:extLst>
      <p:ext uri="{BB962C8B-B14F-4D97-AF65-F5344CB8AC3E}">
        <p14:creationId xmlns:p14="http://schemas.microsoft.com/office/powerpoint/2010/main" val="2790151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8866</TotalTime>
  <Words>5092</Words>
  <Application>Microsoft Office PowerPoint</Application>
  <PresentationFormat>Widescreen</PresentationFormat>
  <Paragraphs>569</Paragraphs>
  <Slides>29</Slides>
  <Notes>21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Aptos</vt:lpstr>
      <vt:lpstr>Arial</vt:lpstr>
      <vt:lpstr>Calibri</vt:lpstr>
      <vt:lpstr>Courier New</vt:lpstr>
      <vt:lpstr>quote-cjk-patch</vt:lpstr>
      <vt:lpstr>Symbol</vt:lpstr>
      <vt:lpstr>Times New Roman</vt:lpstr>
      <vt:lpstr>Wingdings</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Crime Predict Driver Factors</vt:lpstr>
      <vt:lpstr>Multi-Sources Crime Intelligence</vt:lpstr>
      <vt:lpstr>Crime Time-Series Modeling</vt:lpstr>
      <vt:lpstr>Forecast: A Return to Growth in 2026 Demands Action</vt:lpstr>
      <vt:lpstr>PowerPoint Presentation</vt:lpstr>
      <vt:lpstr>District 4 (Vaughan) Operations  &amp; The Staffing Crisis</vt:lpstr>
      <vt:lpstr>Top 10 High-Impact Operational Days</vt:lpstr>
      <vt:lpstr>District 4 (Vaughan) is the Epicenter of This Risk</vt:lpstr>
      <vt:lpstr>The Staffing Crisis: 95% Legal Compliance Masks 54% Operational Readiness In District 4 (Vaughan)</vt:lpstr>
      <vt:lpstr>PowerPoint Presentation</vt:lpstr>
      <vt:lpstr>PowerPoint Presentation</vt:lpstr>
      <vt:lpstr>About Myself</vt:lpstr>
      <vt:lpstr>Climate Change and Sea Level Rise Prediction</vt:lpstr>
      <vt:lpstr>APP: Rx Prescription Data, Patient Data, Claim Data &amp; Drug Store Universe Data </vt:lpstr>
      <vt:lpstr>Deep Learning (RNN) – Cancer Prediction</vt:lpstr>
      <vt:lpstr>Canadian Education and Labour Market</vt:lpstr>
      <vt:lpstr>Data Integration &amp; Modeling </vt:lpstr>
      <vt:lpstr>AI Agents: Generative AI &amp; LLM Integration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196</cp:revision>
  <dcterms:created xsi:type="dcterms:W3CDTF">2013-01-27T09:14:16Z</dcterms:created>
  <dcterms:modified xsi:type="dcterms:W3CDTF">2025-11-30T20:25:19Z</dcterms:modified>
  <cp:category/>
</cp:coreProperties>
</file>