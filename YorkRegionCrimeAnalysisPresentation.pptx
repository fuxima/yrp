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sldIdLst>
    <p:sldId id="256" r:id="rId2"/>
    <p:sldId id="257" r:id="rId3"/>
    <p:sldId id="315" r:id="rId4"/>
    <p:sldId id="291" r:id="rId5"/>
    <p:sldId id="258" r:id="rId6"/>
    <p:sldId id="268" r:id="rId7"/>
    <p:sldId id="294" r:id="rId8"/>
    <p:sldId id="299" r:id="rId9"/>
    <p:sldId id="306" r:id="rId10"/>
    <p:sldId id="311" r:id="rId11"/>
    <p:sldId id="304" r:id="rId12"/>
    <p:sldId id="301" r:id="rId13"/>
    <p:sldId id="287" r:id="rId14"/>
    <p:sldId id="303" r:id="rId15"/>
    <p:sldId id="295" r:id="rId16"/>
    <p:sldId id="305" r:id="rId17"/>
    <p:sldId id="296" r:id="rId18"/>
    <p:sldId id="293" r:id="rId19"/>
    <p:sldId id="281" r:id="rId20"/>
    <p:sldId id="279" r:id="rId21"/>
    <p:sldId id="307" r:id="rId22"/>
    <p:sldId id="309" r:id="rId23"/>
    <p:sldId id="310" r:id="rId24"/>
    <p:sldId id="312" r:id="rId25"/>
    <p:sldId id="308" r:id="rId26"/>
    <p:sldId id="313" r:id="rId27"/>
    <p:sldId id="316" r:id="rId28"/>
    <p:sldId id="317"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6247" autoAdjust="0"/>
  </p:normalViewPr>
  <p:slideViewPr>
    <p:cSldViewPr snapToGrid="0" snapToObjects="1">
      <p:cViewPr varScale="1">
        <p:scale>
          <a:sx n="74" d="100"/>
          <a:sy n="74" d="100"/>
        </p:scale>
        <p:origin x="324" y="56"/>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1778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Good morning. My name is Fuxi Ma, and today I will present a data-driven action plan to address crime trends and staffing challenges in York Region, with a specific focus on the high-risk area of District 4.</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This is our roadmap for today. We'll start by examining the data foundation and key crime trends, then diagnose the unique crisis of 2024. We'll forecast the threat landscape for 2026, with a special spotlight on the high-risk area of District 4 in Vaughan, and conclude with our concrete strategic action plan.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I focused on factors with a plausible, documented correlation to crime or police workload. I used </a:t>
            </a:r>
            <a:r>
              <a:rPr lang="en-US" sz="1200" b="1" i="0" kern="1200" dirty="0">
                <a:solidFill>
                  <a:schemeClr val="tx1"/>
                </a:solidFill>
                <a:effectLst/>
                <a:latin typeface="+mn-lt"/>
                <a:ea typeface="+mn-ea"/>
                <a:cs typeface="+mn-cs"/>
              </a:rPr>
              <a:t>weather data</a:t>
            </a:r>
            <a:r>
              <a:rPr lang="en-US" sz="1200" b="0" i="0" kern="1200" dirty="0">
                <a:solidFill>
                  <a:schemeClr val="tx1"/>
                </a:solidFill>
                <a:effectLst/>
                <a:latin typeface="+mn-lt"/>
                <a:ea typeface="+mn-ea"/>
                <a:cs typeface="+mn-cs"/>
              </a:rPr>
              <a:t> (temperature), as higher temperatures can correlate with increased outdoor activity and certain crime types. More critically, I incorporated </a:t>
            </a:r>
            <a:r>
              <a:rPr lang="en-US" sz="1200" b="1" i="0" kern="1200" dirty="0">
                <a:solidFill>
                  <a:schemeClr val="tx1"/>
                </a:solidFill>
                <a:effectLst/>
                <a:latin typeface="+mn-lt"/>
                <a:ea typeface="+mn-ea"/>
                <a:cs typeface="+mn-cs"/>
              </a:rPr>
              <a:t>holiday calendars and road safety data</a:t>
            </a:r>
            <a:r>
              <a:rPr lang="en-US" sz="1200" b="0" i="0" kern="1200" dirty="0">
                <a:solidFill>
                  <a:schemeClr val="tx1"/>
                </a:solidFill>
                <a:effectLst/>
                <a:latin typeface="+mn-lt"/>
                <a:ea typeface="+mn-ea"/>
                <a:cs typeface="+mn-cs"/>
              </a:rPr>
              <a:t> to account for predictable surges in non-crime call volumes (like traffic accidents) that still tie up officer resources. For feature selection, I used models like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to calculate feature importance, ensuring the external data added predictive value.</a:t>
            </a:r>
            <a:endParaRPr lang="en-US" dirty="0"/>
          </a:p>
        </p:txBody>
      </p:sp>
    </p:spTree>
    <p:extLst>
      <p:ext uri="{BB962C8B-B14F-4D97-AF65-F5344CB8AC3E}">
        <p14:creationId xmlns:p14="http://schemas.microsoft.com/office/powerpoint/2010/main" val="1296731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Our analysis reveals that crime is not random; it has a predictable rhythm. We see clear peaks on weekends, during evening hours, and across the late summer and early fall months, specifically August through October. Conversely, activity dips in the late autumn and winter.</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key takeaway here is that this predictability is our greatest advantage. Because we know </a:t>
            </a:r>
            <a:r>
              <a:rPr lang="en-US" sz="1200" b="0" i="1" kern="1200" dirty="0">
                <a:solidFill>
                  <a:schemeClr val="tx1"/>
                </a:solidFill>
                <a:effectLst/>
                <a:latin typeface="+mn-lt"/>
                <a:ea typeface="+mn-ea"/>
                <a:cs typeface="+mn-cs"/>
              </a:rPr>
              <a:t>when</a:t>
            </a:r>
            <a:r>
              <a:rPr lang="en-US" sz="1200" b="0" i="0" kern="1200" dirty="0">
                <a:solidFill>
                  <a:schemeClr val="tx1"/>
                </a:solidFill>
                <a:effectLst/>
                <a:latin typeface="+mn-lt"/>
                <a:ea typeface="+mn-ea"/>
                <a:cs typeface="+mn-cs"/>
              </a:rPr>
              <a:t> crime is most likely to occur, we can pre-emptively deploy our resources. This is the foundational idea behind our proposed 'Summer Surge Plan,' which we will detail later.</a:t>
            </a:r>
            <a:endParaRPr lang="en-CA" dirty="0"/>
          </a:p>
        </p:txBody>
      </p:sp>
    </p:spTree>
    <p:extLst>
      <p:ext uri="{BB962C8B-B14F-4D97-AF65-F5344CB8AC3E}">
        <p14:creationId xmlns:p14="http://schemas.microsoft.com/office/powerpoint/2010/main" val="1518490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When we look at </a:t>
            </a:r>
            <a:r>
              <a:rPr lang="en-US" sz="1200" b="0"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types of crime are occurring, it's clear that Property and Violent crimes dominate the landscape. More alarmingly, these specific categories are growing at an accelerated rate. This isn't a vague, general crime wave; it's a targeted crisis in auto theft and gun violence that requires equally specific tactical responses.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5259D-2D66-D144-CEA9-4D63E3411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F888F-AE62-97CF-AD88-201BD785B2F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ED325C-BA22-DDE1-36F2-6C891FE5D899}"/>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High crime volumes don't exist in a vacuum; they create a dangerous feedback loop. Increased crime leads to more 911 calls, which forces more officer overtime, leading to burnout and staffing shortages. This, in turn, reduces our overall response capacity, making it harder to prevent the next crime. This cycle is particularly acute in District 4.</a:t>
            </a:r>
            <a:endParaRPr dirty="0"/>
          </a:p>
        </p:txBody>
      </p:sp>
      <p:sp>
        <p:nvSpPr>
          <p:cNvPr id="4" name="Slide Number Placeholder 3">
            <a:extLst>
              <a:ext uri="{FF2B5EF4-FFF2-40B4-BE49-F238E27FC236}">
                <a16:creationId xmlns:a16="http://schemas.microsoft.com/office/drawing/2014/main" id="{05CAB240-FCA4-BA23-32AB-E5DC7BE6257A}"/>
              </a:ext>
            </a:extLst>
          </p:cNvPr>
          <p:cNvSpPr>
            <a:spLocks noGrp="1"/>
          </p:cNvSpPr>
          <p:nvPr>
            <p:ph type="sldNum" sz="quarter" idx="5"/>
          </p:nvPr>
        </p:nvSpPr>
        <p:spPr/>
      </p:sp>
    </p:spTree>
    <p:extLst>
      <p:ext uri="{BB962C8B-B14F-4D97-AF65-F5344CB8AC3E}">
        <p14:creationId xmlns:p14="http://schemas.microsoft.com/office/powerpoint/2010/main" val="4048965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2024 was not a normal year. It was an anomaly driven by a convergence of several powerful factors: a significant surge in gun violence, organized crime driving auto theft, ongoing tow-truck industry conflicts, and systemic challenges like the proliferation of illegal firearms and bail reform. This created a 'perfect storm' that overwhelmed our existing systems.</a:t>
            </a:r>
            <a:endParaRPr lang="en-CA" dirty="0"/>
          </a:p>
        </p:txBody>
      </p:sp>
    </p:spTree>
    <p:extLst>
      <p:ext uri="{BB962C8B-B14F-4D97-AF65-F5344CB8AC3E}">
        <p14:creationId xmlns:p14="http://schemas.microsoft.com/office/powerpoint/2010/main" val="3067857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Let's put numbers to that surge. We saw astronomical increases in key areas: Auto Theft up 268%, Gun Violence up 223%, and Assaults up 134%. The geographic epicenter for this activity was unequivocally District 4 in Vaughan. Our strategic response must be immediate and focused: deploying tactical and investigative resources to this district, enhancing overnight patrols, and directly targeting organized theft networks.</a:t>
            </a:r>
            <a:endParaRPr lang="en-CA" dirty="0"/>
          </a:p>
        </p:txBody>
      </p:sp>
    </p:spTree>
    <p:extLst>
      <p:ext uri="{BB962C8B-B14F-4D97-AF65-F5344CB8AC3E}">
        <p14:creationId xmlns:p14="http://schemas.microsoft.com/office/powerpoint/2010/main" val="710471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Building on that insight, our ability to fuse multi-source crime intelligence—from traditional crime data to advanced time-series modeling—gives us a significant analytical advantage. It's the quality and integration of this data that powers our strategic recommendations.</a:t>
            </a:r>
            <a:endParaRPr lang="en-US" dirty="0"/>
          </a:p>
        </p:txBody>
      </p:sp>
    </p:spTree>
    <p:extLst>
      <p:ext uri="{BB962C8B-B14F-4D97-AF65-F5344CB8AC3E}">
        <p14:creationId xmlns:p14="http://schemas.microsoft.com/office/powerpoint/2010/main" val="2138423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So, what factors best predict crime? Our models show that the single strongest predictor is historical crime count from the same month in previous years, accounting for over 68% of predictability. The day of the week and even average temperature also play significant roles. This tells us to focus our monitoring on these top factors while developing more granular, weekly pattern analyses.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slide brings a critical insight: while historical patterns are highly predictable, the 2024 surge was driven by external, non-cyclical factors like organized crime. This justifies a dual-track strategy: using predictive models for general resource planning </a:t>
            </a:r>
            <a:r>
              <a:rPr lang="en-US" sz="1200" b="0" i="1"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maintaining targeted tactical interventions for unpredictable criminal shocks.</a:t>
            </a:r>
            <a:endParaRPr lang="en-CA" dirty="0"/>
          </a:p>
        </p:txBody>
      </p:sp>
    </p:spTree>
    <p:extLst>
      <p:ext uri="{BB962C8B-B14F-4D97-AF65-F5344CB8AC3E}">
        <p14:creationId xmlns:p14="http://schemas.microsoft.com/office/powerpoint/2010/main" val="2691152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Here are the technical details of our primary forecasting model. We used data from 2020 to 2023 to train models like Random Forest and Gradient Boosting, testing them on 2025 data. You'll notice the R-squared values are relatively low, around 0.32.</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'low' R² is not a failure; it's by design. The model reliably captures the stable, predictable seasonal 'tide' of crime—the summer peaks and winter lows—which is perfect for long-term staffing and resource planning. The variance it 'misses' are the sudden spikes from organized crime, which are best addressed by the targeted interventions we've already discussed for District 4.</a:t>
            </a:r>
            <a:endParaRPr lang="en-CA" dirty="0"/>
          </a:p>
        </p:txBody>
      </p:sp>
    </p:spTree>
    <p:extLst>
      <p:ext uri="{BB962C8B-B14F-4D97-AF65-F5344CB8AC3E}">
        <p14:creationId xmlns:p14="http://schemas.microsoft.com/office/powerpoint/2010/main" val="3670811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Our forecast indicates that while we won't see a repeat of the 2024 peak, crime levels are projected to return to a growth trend in 2026. We must be proactive. We recommend basing 2026 planning on a forecast of 3,394 crimes per month, with built-in flexibility. A key priority is a strategic shift bid to ensure full staffing Monday through Thursday, our period of highest operational vulnerability, to allow for proactive police work.</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We forecast a return to a 5.2% growth trend in 2026. The systemic pressures from </a:t>
            </a:r>
            <a:r>
              <a:rPr lang="en-US" sz="1200" b="1" i="1" kern="1200" dirty="0">
                <a:solidFill>
                  <a:schemeClr val="tx1"/>
                </a:solidFill>
                <a:effectLst/>
                <a:latin typeface="+mn-lt"/>
                <a:ea typeface="+mn-ea"/>
                <a:cs typeface="+mn-cs"/>
              </a:rPr>
              <a:t>before</a:t>
            </a:r>
            <a:r>
              <a:rPr lang="en-US" sz="1200" b="1" i="0" kern="1200" dirty="0">
                <a:solidFill>
                  <a:schemeClr val="tx1"/>
                </a:solidFill>
                <a:effectLst/>
                <a:latin typeface="+mn-lt"/>
                <a:ea typeface="+mn-ea"/>
                <a:cs typeface="+mn-cs"/>
              </a:rPr>
              <a:t> the 2024 spike are still there.</a:t>
            </a:r>
            <a:endParaRPr lang="en-CA" dirty="0"/>
          </a:p>
        </p:txBody>
      </p:sp>
    </p:spTree>
    <p:extLst>
      <p:ext uri="{BB962C8B-B14F-4D97-AF65-F5344CB8AC3E}">
        <p14:creationId xmlns:p14="http://schemas.microsoft.com/office/powerpoint/2010/main" val="3941121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CA730-1803-FDF9-4853-C3BA06981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0F01D-C4EF-7C00-53A3-23B416B6D3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67B145-4AD7-F53E-98E7-D0055589AFE4}"/>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The need for action is urgent. The 2024 surge was an extreme event, but our forecast shows the underlying systemic pressures that existed </a:t>
            </a:r>
            <a:r>
              <a:rPr lang="en-US" sz="1200" b="0" i="1" kern="1200" dirty="0">
                <a:solidFill>
                  <a:schemeClr val="tx1"/>
                </a:solidFill>
                <a:effectLst/>
                <a:latin typeface="+mn-lt"/>
                <a:ea typeface="+mn-ea"/>
                <a:cs typeface="+mn-cs"/>
              </a:rPr>
              <a:t>before</a:t>
            </a:r>
            <a:r>
              <a:rPr lang="en-US" sz="1200" b="0" i="0" kern="1200" dirty="0">
                <a:solidFill>
                  <a:schemeClr val="tx1"/>
                </a:solidFill>
                <a:effectLst/>
                <a:latin typeface="+mn-lt"/>
                <a:ea typeface="+mn-ea"/>
                <a:cs typeface="+mn-cs"/>
              </a:rPr>
              <a:t> 2024 are still present. A projected 5.2% increase in 2026 is a clear signal that we must reallocate resources now to counter this return to a growing trend.</a:t>
            </a:r>
            <a:endParaRPr dirty="0"/>
          </a:p>
        </p:txBody>
      </p:sp>
      <p:sp>
        <p:nvSpPr>
          <p:cNvPr id="4" name="Slide Number Placeholder 3">
            <a:extLst>
              <a:ext uri="{FF2B5EF4-FFF2-40B4-BE49-F238E27FC236}">
                <a16:creationId xmlns:a16="http://schemas.microsoft.com/office/drawing/2014/main" id="{5CF0137F-6132-B452-22B3-BD0B9139C692}"/>
              </a:ext>
            </a:extLst>
          </p:cNvPr>
          <p:cNvSpPr>
            <a:spLocks noGrp="1"/>
          </p:cNvSpPr>
          <p:nvPr>
            <p:ph type="sldNum" sz="quarter" idx="5"/>
          </p:nvPr>
        </p:nvSpPr>
        <p:spPr/>
      </p:sp>
    </p:spTree>
    <p:extLst>
      <p:ext uri="{BB962C8B-B14F-4D97-AF65-F5344CB8AC3E}">
        <p14:creationId xmlns:p14="http://schemas.microsoft.com/office/powerpoint/2010/main" val="4078113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1" i="0" kern="1200" dirty="0">
                <a:solidFill>
                  <a:schemeClr val="tx1"/>
                </a:solidFill>
                <a:effectLst/>
                <a:latin typeface="+mn-lt"/>
                <a:ea typeface="+mn-ea"/>
                <a:cs typeface="+mn-cs"/>
              </a:rPr>
              <a:t>Our biggest vulnerability isn't Friday night; it's Tuesday afternoon, when crime is lower but our officer availability is at its weakest, preventing proactive policing.</a:t>
            </a:r>
            <a:endParaRPr lang="en-US" dirty="0"/>
          </a:p>
        </p:txBody>
      </p:sp>
    </p:spTree>
    <p:extLst>
      <p:ext uri="{BB962C8B-B14F-4D97-AF65-F5344CB8AC3E}">
        <p14:creationId xmlns:p14="http://schemas.microsoft.com/office/powerpoint/2010/main" val="1141632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CA" dirty="0"/>
          </a:p>
        </p:txBody>
      </p:sp>
    </p:spTree>
    <p:extLst>
      <p:ext uri="{BB962C8B-B14F-4D97-AF65-F5344CB8AC3E}">
        <p14:creationId xmlns:p14="http://schemas.microsoft.com/office/powerpoint/2010/main" val="603484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sz="1200" b="0" i="0" kern="1200" dirty="0">
                <a:solidFill>
                  <a:schemeClr val="tx1"/>
                </a:solidFill>
                <a:effectLst/>
                <a:latin typeface="+mn-lt"/>
                <a:ea typeface="+mn-ea"/>
                <a:cs typeface="+mn-cs"/>
              </a:rPr>
              <a:t>This is perhaps the most critical slide. On paper, we have a 95% staffing compliance rate. But this metric is dangerously misleading. It means we meet the bare legal minimum. In reality, our </a:t>
            </a:r>
            <a:r>
              <a:rPr lang="en-CA" sz="1200" b="0" i="1" kern="1200" dirty="0">
                <a:solidFill>
                  <a:schemeClr val="tx1"/>
                </a:solidFill>
                <a:effectLst/>
                <a:latin typeface="+mn-lt"/>
                <a:ea typeface="+mn-ea"/>
                <a:cs typeface="+mn-cs"/>
              </a:rPr>
              <a:t>effective operational readiness</a:t>
            </a:r>
            <a:r>
              <a:rPr lang="en-CA" sz="1200" b="0" i="0" kern="1200" dirty="0">
                <a:solidFill>
                  <a:schemeClr val="tx1"/>
                </a:solidFill>
                <a:effectLst/>
                <a:latin typeface="+mn-lt"/>
                <a:ea typeface="+mn-ea"/>
                <a:cs typeface="+mn-cs"/>
              </a:rPr>
              <a:t> is only 54%. On an average day, nearly half our force is unavailable. We are trying to fight a war at half-strength. And notice this key insight: while crime peaks on Fridays, our vulnerability is actually highest Monday through Thursday due to low officer availability. This mismatch is a critical vulnerability we must solve with strategic scheduling.</a:t>
            </a:r>
          </a:p>
          <a:p>
            <a:endParaRPr lang="en-CA"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District 4 in Vaughan is the epicenter of this risk.</a:t>
            </a:r>
            <a:r>
              <a:rPr lang="en-US" sz="1200" b="0" i="0" kern="1200" dirty="0">
                <a:solidFill>
                  <a:schemeClr val="tx1"/>
                </a:solidFill>
                <a:effectLst/>
                <a:latin typeface="+mn-lt"/>
                <a:ea typeface="+mn-ea"/>
                <a:cs typeface="+mn-cs"/>
              </a:rPr>
              <a:t> It's not just about crime volume, but a dangerous </a:t>
            </a:r>
            <a:r>
              <a:rPr lang="en-US" sz="1200" b="0" i="1" kern="1200" dirty="0">
                <a:solidFill>
                  <a:schemeClr val="tx1"/>
                </a:solidFill>
                <a:effectLst/>
                <a:latin typeface="+mn-lt"/>
                <a:ea typeface="+mn-ea"/>
                <a:cs typeface="+mn-cs"/>
              </a:rPr>
              <a:t>mismatch</a:t>
            </a:r>
            <a:r>
              <a:rPr lang="en-US" sz="1200" b="0" i="0" kern="1200" dirty="0">
                <a:solidFill>
                  <a:schemeClr val="tx1"/>
                </a:solidFill>
                <a:effectLst/>
                <a:latin typeface="+mn-lt"/>
                <a:ea typeface="+mn-ea"/>
                <a:cs typeface="+mn-cs"/>
              </a:rPr>
              <a:t> between crime patterns and officer availability. </a:t>
            </a:r>
            <a:endParaRPr lang="en-CA" dirty="0"/>
          </a:p>
        </p:txBody>
      </p:sp>
    </p:spTree>
    <p:extLst>
      <p:ext uri="{BB962C8B-B14F-4D97-AF65-F5344CB8AC3E}">
        <p14:creationId xmlns:p14="http://schemas.microsoft.com/office/powerpoint/2010/main" val="3455342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2AB09-565C-BDB4-7348-71DB1685D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6D687-7351-1C98-0EBC-69072DE484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18421F1-375B-AAD2-7174-D90F1200E463}"/>
              </a:ext>
            </a:extLst>
          </p:cNvPr>
          <p:cNvSpPr>
            <a:spLocks noGrp="1"/>
          </p:cNvSpPr>
          <p:nvPr>
            <p:ph type="body" sz="quarter" idx="3"/>
          </p:nvPr>
        </p:nvSpPr>
        <p:spPr/>
        <p:txBody>
          <a:bodyPr/>
          <a:lstStyle/>
          <a:p>
            <a:r>
              <a:rPr lang="en-CA" sz="1200" b="0" i="0" kern="1200" dirty="0">
                <a:solidFill>
                  <a:schemeClr val="tx1"/>
                </a:solidFill>
                <a:effectLst/>
                <a:latin typeface="+mn-lt"/>
                <a:ea typeface="+mn-ea"/>
                <a:cs typeface="+mn-cs"/>
              </a:rPr>
              <a:t>So, what is our prescription? It is a dual-pronged plan.</a:t>
            </a:r>
          </a:p>
          <a:p>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First, we surge immediately.</a:t>
            </a:r>
            <a:r>
              <a:rPr lang="en-CA" sz="1200" b="0" i="0" kern="1200" dirty="0">
                <a:solidFill>
                  <a:schemeClr val="tx1"/>
                </a:solidFill>
                <a:effectLst/>
                <a:latin typeface="+mn-lt"/>
                <a:ea typeface="+mn-ea"/>
                <a:cs typeface="+mn-cs"/>
              </a:rPr>
              <a:t> We must deploy targeted resources to District 4 to combat the clear and present danger of gun violence and organized crime.</a:t>
            </a:r>
          </a:p>
          <a:p>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Second, we build for the future.</a:t>
            </a:r>
            <a:r>
              <a:rPr lang="en-CA" sz="1200" b="0" i="0" kern="1200" dirty="0">
                <a:solidFill>
                  <a:schemeClr val="tx1"/>
                </a:solidFill>
                <a:effectLst/>
                <a:latin typeface="+mn-lt"/>
                <a:ea typeface="+mn-ea"/>
                <a:cs typeface="+mn-cs"/>
              </a:rPr>
              <a:t> We use the forecasted decline to implement sustainable prevention and optimization programs.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We commit to monitoring our progress through this very data-driven framework, with quarterly reviews. Our measure of success is clear: a reduction in District 4's risk score and the disruption of the organized crime networks driving this crisis.</a:t>
            </a:r>
          </a:p>
        </p:txBody>
      </p:sp>
      <p:sp>
        <p:nvSpPr>
          <p:cNvPr id="4" name="Slide Number Placeholder 3">
            <a:extLst>
              <a:ext uri="{FF2B5EF4-FFF2-40B4-BE49-F238E27FC236}">
                <a16:creationId xmlns:a16="http://schemas.microsoft.com/office/drawing/2014/main" id="{3C3D0A89-7B6B-3723-C398-350B8EDF49C2}"/>
              </a:ext>
            </a:extLst>
          </p:cNvPr>
          <p:cNvSpPr>
            <a:spLocks noGrp="1"/>
          </p:cNvSpPr>
          <p:nvPr>
            <p:ph type="sldNum" sz="quarter" idx="5"/>
          </p:nvPr>
        </p:nvSpPr>
        <p:spPr/>
      </p:sp>
    </p:spTree>
    <p:extLst>
      <p:ext uri="{BB962C8B-B14F-4D97-AF65-F5344CB8AC3E}">
        <p14:creationId xmlns:p14="http://schemas.microsoft.com/office/powerpoint/2010/main" val="3815871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1FA40-C2C6-E2D9-2628-25F3D06C1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DD0DD-31AE-C5AD-DCF4-17A7DE43E4E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44D8AB0-46B8-A1C2-4B3D-D4488F71D3D3}"/>
              </a:ext>
            </a:extLst>
          </p:cNvPr>
          <p:cNvSpPr>
            <a:spLocks noGrp="1"/>
          </p:cNvSpPr>
          <p:nvPr>
            <p:ph type="body" sz="quarter" idx="3"/>
          </p:nvPr>
        </p:nvSpPr>
        <p:spPr/>
        <p:txBody>
          <a:bodyPr/>
          <a:lstStyle/>
          <a:p>
            <a:r>
              <a:rPr lang="en-CA" sz="1200" b="0" i="0" kern="1200" dirty="0">
                <a:solidFill>
                  <a:schemeClr val="tx1"/>
                </a:solidFill>
                <a:effectLst/>
                <a:latin typeface="+mn-lt"/>
                <a:ea typeface="+mn-ea"/>
                <a:cs typeface="+mn-cs"/>
              </a:rPr>
              <a:t>This concludes our presentation. The full analysis, including all data and code, is available for your review on GitHub. We are confident that this data-driven approach provides a clear and actionable path forward. Thank you. We are now ready for your questions.</a:t>
            </a:r>
            <a:endParaRPr dirty="0"/>
          </a:p>
        </p:txBody>
      </p:sp>
      <p:sp>
        <p:nvSpPr>
          <p:cNvPr id="4" name="Slide Number Placeholder 3">
            <a:extLst>
              <a:ext uri="{FF2B5EF4-FFF2-40B4-BE49-F238E27FC236}">
                <a16:creationId xmlns:a16="http://schemas.microsoft.com/office/drawing/2014/main" id="{80022B6D-E905-4337-9792-A4F15278CF69}"/>
              </a:ext>
            </a:extLst>
          </p:cNvPr>
          <p:cNvSpPr>
            <a:spLocks noGrp="1"/>
          </p:cNvSpPr>
          <p:nvPr>
            <p:ph type="sldNum" sz="quarter" idx="5"/>
          </p:nvPr>
        </p:nvSpPr>
        <p:spPr/>
      </p:sp>
    </p:spTree>
    <p:extLst>
      <p:ext uri="{BB962C8B-B14F-4D97-AF65-F5344CB8AC3E}">
        <p14:creationId xmlns:p14="http://schemas.microsoft.com/office/powerpoint/2010/main" val="3291553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Working with sensitive, regulated data and delivering insights under strict compliance protocols—directly applicable to handling police data.</a:t>
            </a:r>
            <a:endParaRPr lang="en-US" dirty="0"/>
          </a:p>
        </p:txBody>
      </p:sp>
    </p:spTree>
    <p:extLst>
      <p:ext uri="{BB962C8B-B14F-4D97-AF65-F5344CB8AC3E}">
        <p14:creationId xmlns:p14="http://schemas.microsoft.com/office/powerpoint/2010/main" val="36265132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Building complex, time-series forecasting models for high-stakes scenarios, just like crime forecasting.</a:t>
            </a:r>
            <a:endParaRPr lang="en-US" dirty="0"/>
          </a:p>
        </p:txBody>
      </p:sp>
    </p:spTree>
    <p:extLst>
      <p:ext uri="{BB962C8B-B14F-4D97-AF65-F5344CB8AC3E}">
        <p14:creationId xmlns:p14="http://schemas.microsoft.com/office/powerpoint/2010/main" val="3858922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I've built production systems with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 and RAG. Imagine applying that to automatically analyze officer reports, court documents, or public sentiment to generate investigative leads.</a:t>
            </a:r>
            <a:endParaRPr lang="en-US" dirty="0"/>
          </a:p>
        </p:txBody>
      </p:sp>
    </p:spTree>
    <p:extLst>
      <p:ext uri="{BB962C8B-B14F-4D97-AF65-F5344CB8AC3E}">
        <p14:creationId xmlns:p14="http://schemas.microsoft.com/office/powerpoint/2010/main" val="3470161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tx1">
                    <a:lumMod val="65000"/>
                    <a:lumOff val="35000"/>
                  </a:schemeClr>
                </a:solidFill>
              </a:defRPr>
            </a:lvl1pPr>
          </a:lstStyle>
          <a:p>
            <a:fld id="{03B2452F-9EE5-4BEA-8693-AC121412F4A5}" type="datetime3">
              <a:rPr lang="en-US" smtClean="0"/>
              <a:t>11 December 2025</a:t>
            </a:fld>
            <a:endParaRPr lang="en-US" dirty="0">
              <a:solidFill>
                <a:schemeClr val="tx1">
                  <a:lumMod val="65000"/>
                  <a:lumOff val="35000"/>
                </a:schemeClr>
              </a:solidFill>
            </a:endParaRPr>
          </a:p>
        </p:txBody>
      </p:sp>
      <p:sp>
        <p:nvSpPr>
          <p:cNvPr id="5" name="Footer Placeholder 4"/>
          <p:cNvSpPr>
            <a:spLocks noGrp="1"/>
          </p:cNvSpPr>
          <p:nvPr>
            <p:ph type="ftr" sz="quarter" idx="11"/>
          </p:nvPr>
        </p:nvSpPr>
        <p:spPr/>
        <p:txBody>
          <a:bodyPr/>
          <a:lstStyle>
            <a:lvl1pPr>
              <a:defRPr>
                <a:solidFill>
                  <a:schemeClr val="tx1">
                    <a:lumMod val="65000"/>
                    <a:lumOff val="35000"/>
                  </a:schemeClr>
                </a:solidFill>
              </a:defRPr>
            </a:lvl1pPr>
          </a:lstStyle>
          <a:p>
            <a:r>
              <a:rPr lang="en-US" dirty="0"/>
              <a:t>York Region Crime Analysis</a:t>
            </a:r>
            <a:endParaRPr lang="en-US" dirty="0">
              <a:solidFill>
                <a:schemeClr val="tx1">
                  <a:lumMod val="65000"/>
                  <a:lumOff val="35000"/>
                </a:schemeClr>
              </a:solidFill>
            </a:endParaRPr>
          </a:p>
        </p:txBody>
      </p:sp>
      <p:sp>
        <p:nvSpPr>
          <p:cNvPr id="6" name="Slide Number Placeholder 5"/>
          <p:cNvSpPr>
            <a:spLocks noGrp="1"/>
          </p:cNvSpPr>
          <p:nvPr>
            <p:ph type="sldNum" sz="quarter" idx="12"/>
          </p:nvPr>
        </p:nvSpPr>
        <p:spPr/>
        <p:txBody>
          <a:bodyPr/>
          <a:lstStyle>
            <a:lvl1pPr>
              <a:defRPr>
                <a:solidFill>
                  <a:schemeClr val="tx1">
                    <a:lumMod val="65000"/>
                    <a:lumOff val="35000"/>
                  </a:schemeClr>
                </a:solidFill>
              </a:defRPr>
            </a:lvl1pPr>
          </a:lstStyle>
          <a:p>
            <a:fld id="{C1FF6DA9-008F-8B48-92A6-B652298478BF}" type="slidenum">
              <a:rPr lang="en-US" smtClean="0"/>
              <a:pPr/>
              <a:t>‹#›</a:t>
            </a:fld>
            <a:endParaRPr lang="en-US" dirty="0">
              <a:solidFill>
                <a:schemeClr val="tx1">
                  <a:lumMod val="65000"/>
                  <a:lumOff val="35000"/>
                </a:schemeClr>
              </a:solidFill>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lumMod val="65000"/>
                    <a:lumOff val="35000"/>
                  </a:schemeClr>
                </a:solidFill>
              </a:defRPr>
            </a:lvl1pPr>
          </a:lstStyle>
          <a:p>
            <a:fld id="{7D0705E1-E2BC-4B4B-8557-09EA62A829EE}" type="datetime3">
              <a:rPr lang="en-US" smtClean="0"/>
              <a:t>11 December 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lumOff val="35000"/>
                  </a:schemeClr>
                </a:solidFill>
              </a:defRPr>
            </a:lvl1pPr>
          </a:lstStyle>
          <a:p>
            <a:r>
              <a:rPr lang="en-US" dirty="0"/>
              <a:t>York Region Crime Analysis</a:t>
            </a:r>
            <a:endParaRPr lang="en-US" dirty="0">
              <a:solidFill>
                <a:schemeClr val="tx1">
                  <a:lumMod val="65000"/>
                  <a:lumOff val="35000"/>
                </a:schemeClr>
              </a:solidFill>
            </a:endParaRPr>
          </a:p>
        </p:txBody>
      </p:sp>
      <p:sp>
        <p:nvSpPr>
          <p:cNvPr id="6" name="Slide Number Placeholder 5"/>
          <p:cNvSpPr>
            <a:spLocks noGrp="1"/>
          </p:cNvSpPr>
          <p:nvPr>
            <p:ph type="sldNum" sz="quarter" idx="12"/>
          </p:nvPr>
        </p:nvSpPr>
        <p:spPr/>
        <p:txBody>
          <a:bodyPr/>
          <a:lstStyle>
            <a:lvl1pPr>
              <a:defRPr>
                <a:solidFill>
                  <a:schemeClr val="tx1">
                    <a:lumMod val="65000"/>
                    <a:lumOff val="35000"/>
                  </a:schemeClr>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D74C8B-A0FD-4A0B-91FD-117607CB6271}" type="datetime3">
              <a:rPr lang="en-US" smtClean="0"/>
              <a:t>11 December 2025</a:t>
            </a:fld>
            <a:endParaRPr lang="en-US"/>
          </a:p>
        </p:txBody>
      </p:sp>
      <p:sp>
        <p:nvSpPr>
          <p:cNvPr id="5" name="Footer Placeholder 4"/>
          <p:cNvSpPr>
            <a:spLocks noGrp="1"/>
          </p:cNvSpPr>
          <p:nvPr>
            <p:ph type="ftr" sz="quarter" idx="11"/>
          </p:nvPr>
        </p:nvSpPr>
        <p:spPr/>
        <p:txBody>
          <a:bodyPr/>
          <a:lstStyle/>
          <a:p>
            <a:r>
              <a:rPr lang="en-US"/>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A1BE73-ACE1-4C89-8B9A-9460EAA16388}" type="datetime3">
              <a:rPr lang="en-US" smtClean="0"/>
              <a:t>11 December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FF10B89-10C7-46FB-BEAE-49A877A5C36B}" type="datetime3">
              <a:rPr lang="en-US" smtClean="0"/>
              <a:t>11 December 2025</a:t>
            </a:fld>
            <a:endParaRPr lang="en-US"/>
          </a:p>
        </p:txBody>
      </p:sp>
      <p:sp>
        <p:nvSpPr>
          <p:cNvPr id="8" name="Footer Placeholder 7"/>
          <p:cNvSpPr>
            <a:spLocks noGrp="1"/>
          </p:cNvSpPr>
          <p:nvPr>
            <p:ph type="ftr" sz="quarter" idx="11"/>
          </p:nvPr>
        </p:nvSpPr>
        <p:spPr/>
        <p:txBody>
          <a:bodyPr/>
          <a:lstStyle/>
          <a:p>
            <a:r>
              <a:rPr lang="en-US"/>
              <a:t>York Region Crime Analysis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31DC3B98-FBD4-434B-B724-0C64E85A7567}" type="datetime3">
              <a:rPr lang="en-US" smtClean="0"/>
              <a:t>11 December 2025</a:t>
            </a:fld>
            <a:endParaRPr lang="en-US"/>
          </a:p>
        </p:txBody>
      </p:sp>
      <p:sp>
        <p:nvSpPr>
          <p:cNvPr id="4" name="Footer Placeholder 3"/>
          <p:cNvSpPr>
            <a:spLocks noGrp="1"/>
          </p:cNvSpPr>
          <p:nvPr>
            <p:ph type="ftr" sz="quarter" idx="11"/>
          </p:nvPr>
        </p:nvSpPr>
        <p:spPr/>
        <p:txBody>
          <a:bodyPr/>
          <a:lstStyle/>
          <a:p>
            <a:r>
              <a:rPr lang="en-US"/>
              <a:t>York Region Crime Analysis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1A6CF7-E4D4-40E5-A953-373444EAE132}" type="datetime3">
              <a:rPr lang="en-US" smtClean="0"/>
              <a:t>11 December 2025</a:t>
            </a:fld>
            <a:endParaRPr lang="en-US"/>
          </a:p>
        </p:txBody>
      </p:sp>
      <p:sp>
        <p:nvSpPr>
          <p:cNvPr id="3" name="Footer Placeholder 2"/>
          <p:cNvSpPr>
            <a:spLocks noGrp="1"/>
          </p:cNvSpPr>
          <p:nvPr>
            <p:ph type="ftr" sz="quarter" idx="11"/>
          </p:nvPr>
        </p:nvSpPr>
        <p:spPr/>
        <p:txBody>
          <a:bodyPr/>
          <a:lstStyle/>
          <a:p>
            <a:r>
              <a:rPr lang="en-US"/>
              <a:t>York Region Crime Analysis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DEE39E-1FF2-4F68-AD53-8BDC2C32B03C}" type="datetime3">
              <a:rPr lang="en-US" smtClean="0"/>
              <a:t>11 December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491DE3-D551-4AD5-B7A8-6F1F6BDA1D7B}" type="datetime3">
              <a:rPr lang="en-US" smtClean="0"/>
              <a:t>11 December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2C12A6-BD6B-4ECD-8A9B-11553BFBE2A3}" type="datetime3">
              <a:rPr lang="en-US" smtClean="0"/>
              <a:t>11 December 2025</a:t>
            </a:fld>
            <a:endParaRPr lang="en-US"/>
          </a:p>
        </p:txBody>
      </p:sp>
      <p:sp>
        <p:nvSpPr>
          <p:cNvPr id="5" name="Footer Placeholder 4"/>
          <p:cNvSpPr>
            <a:spLocks noGrp="1"/>
          </p:cNvSpPr>
          <p:nvPr>
            <p:ph type="ftr" sz="quarter" idx="11"/>
          </p:nvPr>
        </p:nvSpPr>
        <p:spPr/>
        <p:txBody>
          <a:bodyPr/>
          <a:lstStyle/>
          <a:p>
            <a:r>
              <a:rPr lang="en-US"/>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3E79E0-3D85-4E2B-9ACD-70B36E1338E9}" type="datetime3">
              <a:rPr lang="en-US" smtClean="0"/>
              <a:t>11 December 2025</a:t>
            </a:fld>
            <a:endParaRPr lang="en-US"/>
          </a:p>
        </p:txBody>
      </p:sp>
      <p:sp>
        <p:nvSpPr>
          <p:cNvPr id="5" name="Footer Placeholder 4"/>
          <p:cNvSpPr>
            <a:spLocks noGrp="1"/>
          </p:cNvSpPr>
          <p:nvPr>
            <p:ph type="ftr" sz="quarter" idx="11"/>
          </p:nvPr>
        </p:nvSpPr>
        <p:spPr/>
        <p:txBody>
          <a:bodyPr/>
          <a:lstStyle/>
          <a:p>
            <a:r>
              <a:rPr lang="en-US" dirty="0"/>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a:solidFill>
            <a:schemeClr val="bg2"/>
          </a:solidFill>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C2CB56-E190-46CB-835A-B286A4A7D003}" type="datetime3">
              <a:rPr lang="en-US" smtClean="0"/>
              <a:t>11 December 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York Region Crime Analysis</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127.0.0.1:5000/" TargetMode="External"/><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fuxima/YRP/blob/main/YorkRegionCrimeAnalysis_presentation.pptx" TargetMode="External"/><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hyperlink" Target="mailto:fuxi.ma@outlook.com" TargetMode="External"/><Relationship Id="rId4" Type="http://schemas.openxmlformats.org/officeDocument/2006/relationships/hyperlink" Target="https://github.com/fuxima/YRP"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fuxima.wixsite.com/fishway/about-form"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hyperlink" Target="http://127.0.0.1:3000/" TargetMode="Externa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hyperlink" Target="file:///C:\Users\Fuxim\Dal\NGS_2020\key_driver_report-w2024-05-10-w2024-09-27.docx" TargetMode="Externa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9EAB9D5-AE06-18BA-9513-5206519C5797}"/>
              </a:ext>
            </a:extLst>
          </p:cNvPr>
          <p:cNvSpPr>
            <a:spLocks noGrp="1"/>
          </p:cNvSpPr>
          <p:nvPr>
            <p:ph type="ctrTitle"/>
          </p:nvPr>
        </p:nvSpPr>
        <p:spPr>
          <a:xfrm>
            <a:off x="3328988" y="1958975"/>
            <a:ext cx="5534024" cy="1470025"/>
          </a:xfrm>
        </p:spPr>
        <p:txBody>
          <a:bodyPr>
            <a:normAutofit fontScale="90000"/>
          </a:bodyPr>
          <a:lstStyle/>
          <a:p>
            <a:pPr>
              <a:defRPr sz="3600" b="1">
                <a:solidFill>
                  <a:srgbClr val="FFFFFF"/>
                </a:solidFill>
              </a:defRPr>
            </a:pPr>
            <a:r>
              <a:rPr lang="en-CA" sz="3600" b="1" dirty="0">
                <a:solidFill>
                  <a:schemeClr val="tx1">
                    <a:lumMod val="65000"/>
                    <a:lumOff val="35000"/>
                  </a:schemeClr>
                </a:solidFill>
                <a:latin typeface="Times New Roman" panose="02020603050405020304" pitchFamily="18" charset="0"/>
                <a:cs typeface="Times New Roman" panose="02020603050405020304" pitchFamily="18" charset="0"/>
              </a:rPr>
              <a:t>York Region Crime Analysis: </a:t>
            </a:r>
            <a:r>
              <a:rPr lang="en-CA" sz="3100" b="1" dirty="0">
                <a:solidFill>
                  <a:schemeClr val="tx1">
                    <a:lumMod val="65000"/>
                    <a:lumOff val="35000"/>
                  </a:schemeClr>
                </a:solidFill>
                <a:latin typeface="Times New Roman" panose="02020603050405020304" pitchFamily="18" charset="0"/>
                <a:cs typeface="Times New Roman" panose="02020603050405020304" pitchFamily="18" charset="0"/>
              </a:rPr>
              <a:t>A Data-Driven Plan for 2026</a:t>
            </a:r>
            <a:endParaRPr sz="36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8107154-E37E-27FC-65D3-C402FDDDA0D7}"/>
              </a:ext>
            </a:extLst>
          </p:cNvPr>
          <p:cNvSpPr txBox="1"/>
          <p:nvPr/>
        </p:nvSpPr>
        <p:spPr>
          <a:xfrm>
            <a:off x="3042920" y="4034135"/>
            <a:ext cx="6106160" cy="2308324"/>
          </a:xfrm>
          <a:prstGeom prst="rect">
            <a:avLst/>
          </a:prstGeom>
          <a:noFill/>
        </p:spPr>
        <p:txBody>
          <a:bodyPr wrap="square">
            <a:spAutoFit/>
          </a:bodyPr>
          <a:lstStyle/>
          <a:p>
            <a:pPr algn="ctr">
              <a:defRPr sz="1800">
                <a:solidFill>
                  <a:srgbClr val="C8C8C8"/>
                </a:solidFill>
              </a:defRPr>
            </a:pPr>
            <a:r>
              <a:rPr lang="en-CA" sz="2400" dirty="0">
                <a:solidFill>
                  <a:schemeClr val="tx1">
                    <a:lumMod val="50000"/>
                    <a:lumOff val="50000"/>
                  </a:schemeClr>
                </a:solidFill>
                <a:latin typeface="Times New Roman" panose="02020603050405020304" pitchFamily="18" charset="0"/>
                <a:cs typeface="Times New Roman" panose="02020603050405020304" pitchFamily="18" charset="0"/>
              </a:rPr>
              <a:t>An Analysis of Crime Trends to Inform Proactive Policing and Resource Strategy</a:t>
            </a:r>
          </a:p>
          <a:p>
            <a:pPr algn="ctr">
              <a:defRPr sz="1800">
                <a:solidFill>
                  <a:srgbClr val="C8C8C8"/>
                </a:solidFill>
              </a:defRPr>
            </a:pPr>
            <a:endParaRPr lang="en-CA" sz="24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defRPr sz="1800">
                <a:solidFill>
                  <a:srgbClr val="C8C8C8"/>
                </a:solidFill>
              </a:defRPr>
            </a:pPr>
            <a:endParaRPr lang="en-CA"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defRPr sz="1800">
                <a:solidFill>
                  <a:srgbClr val="C8C8C8"/>
                </a:solidFill>
              </a:defRPr>
            </a:pPr>
            <a:r>
              <a:rPr lang="en-CA" dirty="0">
                <a:solidFill>
                  <a:schemeClr val="tx1">
                    <a:lumMod val="50000"/>
                    <a:lumOff val="50000"/>
                  </a:schemeClr>
                </a:solidFill>
                <a:latin typeface="Times New Roman" panose="02020603050405020304" pitchFamily="18" charset="0"/>
                <a:cs typeface="Times New Roman" panose="02020603050405020304" pitchFamily="18" charset="0"/>
              </a:rPr>
              <a:t>Fuxi Ma</a:t>
            </a:r>
          </a:p>
          <a:p>
            <a:pPr algn="ctr">
              <a:defRPr sz="1800">
                <a:solidFill>
                  <a:srgbClr val="C8C8C8"/>
                </a:solidFill>
              </a:defRPr>
            </a:pPr>
            <a:endParaRPr lang="en-CA"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defRPr sz="1800">
                <a:solidFill>
                  <a:srgbClr val="C8C8C8"/>
                </a:solidFill>
              </a:defRPr>
            </a:pPr>
            <a:fld id="{93C1AFED-F645-4FCE-B33F-E06257364EE9}" type="datetime3">
              <a:rPr lang="en-CA" smtClean="0">
                <a:solidFill>
                  <a:schemeClr val="tx1">
                    <a:lumMod val="50000"/>
                    <a:lumOff val="50000"/>
                  </a:schemeClr>
                </a:solidFill>
                <a:latin typeface="Times New Roman" panose="02020603050405020304" pitchFamily="18" charset="0"/>
                <a:cs typeface="Times New Roman" panose="02020603050405020304" pitchFamily="18" charset="0"/>
              </a:rPr>
              <a:t>11 December 2025</a:t>
            </a:fld>
            <a:endParaRPr lang="en-CA"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Table of Contents</a:t>
            </a:r>
            <a:endParaRPr b="1" dirty="0">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65E4D7AC-74F5-53A4-15D9-D71F961A5769}"/>
              </a:ext>
            </a:extLst>
          </p:cNvPr>
          <p:cNvSpPr>
            <a:spLocks noGrp="1"/>
          </p:cNvSpPr>
          <p:nvPr>
            <p:ph type="dt" sz="half" idx="10"/>
          </p:nvPr>
        </p:nvSpPr>
        <p:spPr/>
        <p:txBody>
          <a:bodyPr/>
          <a:lstStyle/>
          <a:p>
            <a:fld id="{B992DEAE-B99B-4B10-8932-857894BA0C87}" type="datetime3">
              <a:rPr lang="en-US" smtClean="0"/>
              <a:t>11 December 2025</a:t>
            </a:fld>
            <a:endParaRPr lang="en-US"/>
          </a:p>
        </p:txBody>
      </p:sp>
      <p:sp>
        <p:nvSpPr>
          <p:cNvPr id="11" name="Footer Placeholder 10">
            <a:extLst>
              <a:ext uri="{FF2B5EF4-FFF2-40B4-BE49-F238E27FC236}">
                <a16:creationId xmlns:a16="http://schemas.microsoft.com/office/drawing/2014/main" id="{E4693392-E5C7-DF8D-8C11-8658817EC4FA}"/>
              </a:ext>
            </a:extLst>
          </p:cNvPr>
          <p:cNvSpPr>
            <a:spLocks noGrp="1"/>
          </p:cNvSpPr>
          <p:nvPr>
            <p:ph type="ftr" sz="quarter" idx="11"/>
          </p:nvPr>
        </p:nvSpPr>
        <p:spPr/>
        <p:txBody>
          <a:bodyPr/>
          <a:lstStyle/>
          <a:p>
            <a:r>
              <a:rPr lang="en-US" dirty="0"/>
              <a:t>York Region Crime Analysis</a:t>
            </a:r>
          </a:p>
        </p:txBody>
      </p:sp>
      <p:sp>
        <p:nvSpPr>
          <p:cNvPr id="12" name="Slide Number Placeholder 11">
            <a:extLst>
              <a:ext uri="{FF2B5EF4-FFF2-40B4-BE49-F238E27FC236}">
                <a16:creationId xmlns:a16="http://schemas.microsoft.com/office/drawing/2014/main" id="{4D7AE776-78FB-7408-892C-85F4B6D74367}"/>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4" name="TextBox 3">
            <a:extLst>
              <a:ext uri="{FF2B5EF4-FFF2-40B4-BE49-F238E27FC236}">
                <a16:creationId xmlns:a16="http://schemas.microsoft.com/office/drawing/2014/main" id="{05DDC7B5-620F-4E22-01D5-4E0C8C1F57C3}"/>
              </a:ext>
            </a:extLst>
          </p:cNvPr>
          <p:cNvSpPr txBox="1"/>
          <p:nvPr/>
        </p:nvSpPr>
        <p:spPr>
          <a:xfrm>
            <a:off x="1117600" y="1636268"/>
            <a:ext cx="6096000" cy="3459922"/>
          </a:xfrm>
          <a:prstGeom prst="rect">
            <a:avLst/>
          </a:prstGeom>
          <a:noFill/>
        </p:spPr>
        <p:txBody>
          <a:bodyPr wrap="square">
            <a:spAutoFit/>
          </a:bodyPr>
          <a:lstStyle/>
          <a:p>
            <a:pPr marL="342900" lvl="0" indent="-342900">
              <a:lnSpc>
                <a:spcPct val="115000"/>
              </a:lnSpc>
              <a:spcAft>
                <a:spcPts val="800"/>
              </a:spcAft>
              <a:buFont typeface="Arial" panose="020B0604020202020204" pitchFamily="34" charset="0"/>
              <a:buChar char="•"/>
              <a:tabLst>
                <a:tab pos="457200" algn="l"/>
              </a:tabLst>
            </a:pPr>
            <a:r>
              <a:rPr lang="en-CA" sz="2400" b="1" kern="100" dirty="0">
                <a:latin typeface="Times New Roman" panose="02020603050405020304" pitchFamily="18" charset="0"/>
                <a:ea typeface="Aptos" panose="020B0004020202020204" pitchFamily="34" charset="0"/>
                <a:cs typeface="Times New Roman" panose="02020603050405020304" pitchFamily="18" charset="0"/>
              </a:rPr>
              <a:t>Data Foundation</a:t>
            </a:r>
          </a:p>
          <a:p>
            <a:pPr marL="342900" lvl="0" indent="-342900">
              <a:lnSpc>
                <a:spcPct val="115000"/>
              </a:lnSpc>
              <a:spcAft>
                <a:spcPts val="800"/>
              </a:spcAft>
              <a:buFont typeface="Arial" panose="020B0604020202020204" pitchFamily="34" charset="0"/>
              <a:buChar char="•"/>
              <a:tabLst>
                <a:tab pos="457200" algn="l"/>
              </a:tabLst>
            </a:pPr>
            <a:r>
              <a:rPr lang="en-CA" sz="2400" b="1" kern="100" dirty="0">
                <a:effectLst/>
                <a:latin typeface="Times New Roman" panose="02020603050405020304" pitchFamily="18" charset="0"/>
                <a:ea typeface="Aptos" panose="020B0004020202020204" pitchFamily="34" charset="0"/>
                <a:cs typeface="Times New Roman" panose="02020603050405020304" pitchFamily="18" charset="0"/>
              </a:rPr>
              <a:t>Crime Trends &amp; Patterns</a:t>
            </a:r>
          </a:p>
          <a:p>
            <a:pPr marL="342900" lvl="0" indent="-342900">
              <a:lnSpc>
                <a:spcPct val="115000"/>
              </a:lnSpc>
              <a:spcAft>
                <a:spcPts val="800"/>
              </a:spcAft>
              <a:buFont typeface="Arial" panose="020B0604020202020204" pitchFamily="34" charset="0"/>
              <a:buChar char="•"/>
              <a:tabLst>
                <a:tab pos="457200" algn="l"/>
              </a:tabLst>
            </a:pPr>
            <a:r>
              <a:rPr lang="en-CA" sz="2400" b="1" kern="100" dirty="0">
                <a:effectLst/>
                <a:latin typeface="Times New Roman" panose="02020603050405020304" pitchFamily="18" charset="0"/>
                <a:ea typeface="Aptos" panose="020B0004020202020204" pitchFamily="34" charset="0"/>
                <a:cs typeface="Times New Roman" panose="02020603050405020304" pitchFamily="18" charset="0"/>
              </a:rPr>
              <a:t>2024 Crisis</a:t>
            </a:r>
          </a:p>
          <a:p>
            <a:pPr marL="342900" lvl="0" indent="-342900">
              <a:lnSpc>
                <a:spcPct val="115000"/>
              </a:lnSpc>
              <a:spcAft>
                <a:spcPts val="800"/>
              </a:spcAft>
              <a:buFont typeface="Arial" panose="020B0604020202020204" pitchFamily="34" charset="0"/>
              <a:buChar char="•"/>
              <a:tabLst>
                <a:tab pos="457200" algn="l"/>
              </a:tabLst>
            </a:pPr>
            <a:r>
              <a:rPr lang="en-CA" sz="2400" b="1" kern="100" dirty="0">
                <a:latin typeface="Times New Roman" panose="02020603050405020304" pitchFamily="18" charset="0"/>
                <a:ea typeface="Aptos" panose="020B0004020202020204" pitchFamily="34" charset="0"/>
                <a:cs typeface="Times New Roman" panose="02020603050405020304" pitchFamily="18" charset="0"/>
              </a:rPr>
              <a:t>2026 </a:t>
            </a:r>
            <a:r>
              <a:rPr lang="en-CA" sz="2400" b="1" kern="100" dirty="0">
                <a:effectLst/>
                <a:latin typeface="Times New Roman" panose="02020603050405020304" pitchFamily="18" charset="0"/>
                <a:ea typeface="Aptos" panose="020B0004020202020204" pitchFamily="34" charset="0"/>
                <a:cs typeface="Times New Roman" panose="02020603050405020304" pitchFamily="18" charset="0"/>
              </a:rPr>
              <a:t>Forecast</a:t>
            </a:r>
          </a:p>
          <a:p>
            <a:pPr marL="342900" lvl="0" indent="-342900">
              <a:lnSpc>
                <a:spcPct val="115000"/>
              </a:lnSpc>
              <a:spcAft>
                <a:spcPts val="800"/>
              </a:spcAft>
              <a:buFont typeface="Arial" panose="020B0604020202020204" pitchFamily="34" charset="0"/>
              <a:buChar char="•"/>
              <a:tabLst>
                <a:tab pos="457200" algn="l"/>
              </a:tabLst>
            </a:pPr>
            <a:r>
              <a:rPr lang="en-CA" sz="2400" b="1" kern="100" dirty="0">
                <a:latin typeface="Times New Roman" panose="02020603050405020304" pitchFamily="18" charset="0"/>
                <a:ea typeface="Aptos" panose="020B0004020202020204" pitchFamily="34" charset="0"/>
                <a:cs typeface="Times New Roman" panose="02020603050405020304" pitchFamily="18" charset="0"/>
              </a:rPr>
              <a:t>Conclusions</a:t>
            </a:r>
            <a:endParaRPr lang="en-CA" sz="2400" b="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800100" lvl="1" indent="-342900">
              <a:spcBef>
                <a:spcPts val="300"/>
              </a:spcBef>
              <a:spcAft>
                <a:spcPts val="600"/>
              </a:spcAft>
              <a:buFont typeface="Arial" panose="020B0604020202020204" pitchFamily="34" charset="0"/>
              <a:buChar char="•"/>
              <a:tabLst>
                <a:tab pos="457200" algn="l"/>
              </a:tabLst>
            </a:pPr>
            <a:r>
              <a:rPr lang="en-CA" sz="2000" dirty="0">
                <a:solidFill>
                  <a:srgbClr val="0F1115"/>
                </a:solidFill>
                <a:latin typeface="Times New Roman" panose="02020603050405020304" pitchFamily="18" charset="0"/>
                <a:cs typeface="Times New Roman" panose="02020603050405020304" pitchFamily="18" charset="0"/>
              </a:rPr>
              <a:t>District 4 (Vaughan) – The Epicenter</a:t>
            </a:r>
          </a:p>
          <a:p>
            <a:pPr marL="800100" lvl="1" indent="-342900">
              <a:buFont typeface="Arial" panose="020B0604020202020204" pitchFamily="34" charset="0"/>
              <a:buChar char="•"/>
              <a:tabLst>
                <a:tab pos="457200" algn="l"/>
              </a:tabLst>
            </a:pPr>
            <a:r>
              <a:rPr lang="en-CA" sz="2000" dirty="0">
                <a:solidFill>
                  <a:srgbClr val="0F1115"/>
                </a:solidFill>
                <a:latin typeface="Times New Roman" panose="02020603050405020304" pitchFamily="18" charset="0"/>
                <a:cs typeface="Times New Roman" panose="02020603050405020304" pitchFamily="18" charset="0"/>
              </a:rPr>
              <a:t>Action 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99FFD-BB04-CDB8-10E8-B012D2A6FC7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Foundation</a:t>
            </a:r>
          </a:p>
        </p:txBody>
      </p:sp>
      <p:sp>
        <p:nvSpPr>
          <p:cNvPr id="4" name="Date Placeholder 3">
            <a:extLst>
              <a:ext uri="{FF2B5EF4-FFF2-40B4-BE49-F238E27FC236}">
                <a16:creationId xmlns:a16="http://schemas.microsoft.com/office/drawing/2014/main" id="{4A5EB966-8791-0F73-4A24-0246F97A3592}"/>
              </a:ext>
            </a:extLst>
          </p:cNvPr>
          <p:cNvSpPr>
            <a:spLocks noGrp="1"/>
          </p:cNvSpPr>
          <p:nvPr>
            <p:ph type="dt" sz="half" idx="10"/>
          </p:nvPr>
        </p:nvSpPr>
        <p:spPr/>
        <p:txBody>
          <a:bodyPr/>
          <a:lstStyle/>
          <a:p>
            <a:fld id="{6442CF0B-7E64-45E2-8CE3-8EADC3278EF9}" type="datetime3">
              <a:rPr lang="en-US" smtClean="0"/>
              <a:t>11 December 2025</a:t>
            </a:fld>
            <a:endParaRPr lang="en-US" dirty="0"/>
          </a:p>
        </p:txBody>
      </p:sp>
      <p:sp>
        <p:nvSpPr>
          <p:cNvPr id="5" name="Footer Placeholder 4">
            <a:extLst>
              <a:ext uri="{FF2B5EF4-FFF2-40B4-BE49-F238E27FC236}">
                <a16:creationId xmlns:a16="http://schemas.microsoft.com/office/drawing/2014/main" id="{234B9364-97DD-0813-2BDA-367B8175C7DA}"/>
              </a:ext>
            </a:extLst>
          </p:cNvPr>
          <p:cNvSpPr>
            <a:spLocks noGrp="1"/>
          </p:cNvSpPr>
          <p:nvPr>
            <p:ph type="ftr" sz="quarter" idx="11"/>
          </p:nvPr>
        </p:nvSpPr>
        <p:spPr/>
        <p:txBody>
          <a:bodyPr/>
          <a:lstStyle/>
          <a:p>
            <a:r>
              <a:rPr lang="en-US"/>
              <a:t>York Region Crime Analysis</a:t>
            </a:r>
            <a:endParaRPr lang="en-US" dirty="0">
              <a:solidFill>
                <a:schemeClr val="tx1">
                  <a:lumMod val="65000"/>
                  <a:lumOff val="35000"/>
                </a:schemeClr>
              </a:solidFill>
            </a:endParaRPr>
          </a:p>
        </p:txBody>
      </p:sp>
      <p:sp>
        <p:nvSpPr>
          <p:cNvPr id="6" name="Slide Number Placeholder 5">
            <a:extLst>
              <a:ext uri="{FF2B5EF4-FFF2-40B4-BE49-F238E27FC236}">
                <a16:creationId xmlns:a16="http://schemas.microsoft.com/office/drawing/2014/main" id="{2E2B3553-EDCF-5EA0-DC79-8042659DAD1B}"/>
              </a:ext>
            </a:extLst>
          </p:cNvPr>
          <p:cNvSpPr>
            <a:spLocks noGrp="1"/>
          </p:cNvSpPr>
          <p:nvPr>
            <p:ph type="sldNum" sz="quarter" idx="12"/>
          </p:nvPr>
        </p:nvSpPr>
        <p:spPr/>
        <p:txBody>
          <a:bodyPr/>
          <a:lstStyle/>
          <a:p>
            <a:fld id="{C1FF6DA9-008F-8B48-92A6-B652298478BF}" type="slidenum">
              <a:rPr lang="en-US" smtClean="0"/>
              <a:pPr/>
              <a:t>3</a:t>
            </a:fld>
            <a:endParaRPr lang="en-US" dirty="0"/>
          </a:p>
        </p:txBody>
      </p:sp>
      <p:sp>
        <p:nvSpPr>
          <p:cNvPr id="9" name="TextBox 8">
            <a:extLst>
              <a:ext uri="{FF2B5EF4-FFF2-40B4-BE49-F238E27FC236}">
                <a16:creationId xmlns:a16="http://schemas.microsoft.com/office/drawing/2014/main" id="{CD615604-59A5-AD46-2763-A1FB847AA811}"/>
              </a:ext>
            </a:extLst>
          </p:cNvPr>
          <p:cNvSpPr txBox="1"/>
          <p:nvPr/>
        </p:nvSpPr>
        <p:spPr>
          <a:xfrm>
            <a:off x="1046664" y="1653312"/>
            <a:ext cx="10098672" cy="4562788"/>
          </a:xfrm>
          <a:prstGeom prst="rect">
            <a:avLst/>
          </a:prstGeom>
          <a:noFill/>
        </p:spPr>
        <p:txBody>
          <a:bodyPr wrap="square">
            <a:spAutoFit/>
          </a:bodyPr>
          <a:lstStyle/>
          <a:p>
            <a:pPr marL="342900" lvl="1" indent="-342900">
              <a:spcBef>
                <a:spcPts val="600"/>
              </a:spcBef>
              <a:spcAft>
                <a:spcPts val="300"/>
              </a:spcAft>
              <a:buFont typeface="Arial" panose="020B0604020202020204" pitchFamily="34" charset="0"/>
              <a:buChar char="•"/>
            </a:pPr>
            <a:r>
              <a:rPr lang="en-CA" sz="2400" b="1" dirty="0">
                <a:solidFill>
                  <a:srgbClr val="0F1115"/>
                </a:solidFill>
                <a:latin typeface="Times New Roman" panose="02020603050405020304" pitchFamily="18" charset="0"/>
                <a:cs typeface="Times New Roman" panose="02020603050405020304" pitchFamily="18" charset="0"/>
              </a:rPr>
              <a:t>Primary Datasets</a:t>
            </a:r>
          </a:p>
          <a:p>
            <a:pPr marL="800100" lvl="2" indent="-342900">
              <a:spcBef>
                <a:spcPts val="600"/>
              </a:spcBef>
              <a:spcAft>
                <a:spcPts val="300"/>
              </a:spcAft>
              <a:buFont typeface="Arial" panose="020B0604020202020204" pitchFamily="34" charset="0"/>
              <a:buChar char="•"/>
            </a:pPr>
            <a:r>
              <a:rPr lang="en-CA" sz="2000" dirty="0">
                <a:solidFill>
                  <a:srgbClr val="0F1115"/>
                </a:solidFill>
                <a:latin typeface="Times New Roman" panose="02020603050405020304" pitchFamily="18" charset="0"/>
                <a:cs typeface="Times New Roman" panose="02020603050405020304" pitchFamily="18" charset="0"/>
              </a:rPr>
              <a:t>Crime Data</a:t>
            </a:r>
          </a:p>
          <a:p>
            <a:pPr marL="800100" lvl="2" indent="-342900">
              <a:spcBef>
                <a:spcPts val="600"/>
              </a:spcBef>
              <a:spcAft>
                <a:spcPts val="300"/>
              </a:spcAft>
              <a:buFont typeface="Arial" panose="020B0604020202020204" pitchFamily="34" charset="0"/>
              <a:buChar char="•"/>
            </a:pPr>
            <a:r>
              <a:rPr lang="en-CA" sz="2000" dirty="0">
                <a:solidFill>
                  <a:srgbClr val="0F1115"/>
                </a:solidFill>
                <a:latin typeface="Times New Roman" panose="02020603050405020304" pitchFamily="18" charset="0"/>
                <a:cs typeface="Times New Roman" panose="02020603050405020304" pitchFamily="18" charset="0"/>
              </a:rPr>
              <a:t>911 Calls</a:t>
            </a:r>
          </a:p>
          <a:p>
            <a:pPr marL="800100" lvl="2" indent="-342900">
              <a:spcBef>
                <a:spcPts val="600"/>
              </a:spcBef>
              <a:spcAft>
                <a:spcPts val="300"/>
              </a:spcAft>
              <a:buFont typeface="Arial" panose="020B0604020202020204" pitchFamily="34" charset="0"/>
              <a:buChar char="•"/>
            </a:pPr>
            <a:r>
              <a:rPr lang="en-CA" sz="2000" dirty="0">
                <a:solidFill>
                  <a:srgbClr val="0F1115"/>
                </a:solidFill>
                <a:latin typeface="Times New Roman" panose="02020603050405020304" pitchFamily="18" charset="0"/>
                <a:cs typeface="Times New Roman" panose="02020603050405020304" pitchFamily="18" charset="0"/>
              </a:rPr>
              <a:t>Officer On/Off Duty Data</a:t>
            </a:r>
          </a:p>
          <a:p>
            <a:pPr marL="342900" lvl="1" indent="-342900">
              <a:spcBef>
                <a:spcPts val="600"/>
              </a:spcBef>
              <a:spcAft>
                <a:spcPts val="300"/>
              </a:spcAft>
              <a:buFont typeface="Arial" panose="020B0604020202020204" pitchFamily="34" charset="0"/>
              <a:buChar char="•"/>
            </a:pPr>
            <a:r>
              <a:rPr lang="en-CA" sz="2400" b="1" dirty="0">
                <a:solidFill>
                  <a:srgbClr val="0F1115"/>
                </a:solidFill>
                <a:latin typeface="Times New Roman" panose="02020603050405020304" pitchFamily="18" charset="0"/>
                <a:cs typeface="Times New Roman" panose="02020603050405020304" pitchFamily="18" charset="0"/>
              </a:rPr>
              <a:t>External Datasets</a:t>
            </a:r>
          </a:p>
          <a:p>
            <a:pPr marL="800100" lvl="2" indent="-342900">
              <a:spcBef>
                <a:spcPts val="600"/>
              </a:spcBef>
              <a:spcAft>
                <a:spcPts val="300"/>
              </a:spcAft>
              <a:buFont typeface="Arial" panose="020B0604020202020204" pitchFamily="34" charset="0"/>
              <a:buChar char="•"/>
            </a:pPr>
            <a:r>
              <a:rPr lang="en-US" sz="2000" dirty="0">
                <a:solidFill>
                  <a:srgbClr val="0F1115"/>
                </a:solidFill>
                <a:latin typeface="Times New Roman" panose="02020603050405020304" pitchFamily="18" charset="0"/>
                <a:cs typeface="Times New Roman" panose="02020603050405020304" pitchFamily="18" charset="0"/>
              </a:rPr>
              <a:t>Weather Data </a:t>
            </a:r>
          </a:p>
          <a:p>
            <a:pPr marL="800100" lvl="2" indent="-342900">
              <a:spcBef>
                <a:spcPts val="600"/>
              </a:spcBef>
              <a:spcAft>
                <a:spcPts val="300"/>
              </a:spcAft>
              <a:buFont typeface="Arial" panose="020B0604020202020204" pitchFamily="34" charset="0"/>
              <a:buChar char="•"/>
            </a:pPr>
            <a:r>
              <a:rPr lang="en-US" sz="2000" dirty="0">
                <a:solidFill>
                  <a:srgbClr val="0F1115"/>
                </a:solidFill>
                <a:latin typeface="Times New Roman" panose="02020603050405020304" pitchFamily="18" charset="0"/>
                <a:cs typeface="Times New Roman" panose="02020603050405020304" pitchFamily="18" charset="0"/>
              </a:rPr>
              <a:t>Community Holiday</a:t>
            </a:r>
          </a:p>
          <a:p>
            <a:pPr marL="800100" lvl="2" indent="-342900">
              <a:spcBef>
                <a:spcPts val="600"/>
              </a:spcBef>
              <a:spcAft>
                <a:spcPts val="300"/>
              </a:spcAft>
              <a:buFont typeface="Arial" panose="020B0604020202020204" pitchFamily="34" charset="0"/>
              <a:buChar char="•"/>
            </a:pPr>
            <a:r>
              <a:rPr lang="en-US" sz="2000" dirty="0">
                <a:solidFill>
                  <a:srgbClr val="0F1115"/>
                </a:solidFill>
                <a:latin typeface="Times New Roman" panose="02020603050405020304" pitchFamily="18" charset="0"/>
                <a:cs typeface="Times New Roman" panose="02020603050405020304" pitchFamily="18" charset="0"/>
              </a:rPr>
              <a:t>Road Safety</a:t>
            </a:r>
          </a:p>
          <a:p>
            <a:pPr marL="800100" lvl="2" indent="-342900">
              <a:spcBef>
                <a:spcPts val="600"/>
              </a:spcBef>
              <a:spcAft>
                <a:spcPts val="300"/>
              </a:spcAft>
              <a:buFont typeface="Arial" panose="020B0604020202020204" pitchFamily="34" charset="0"/>
              <a:buChar char="•"/>
            </a:pPr>
            <a:r>
              <a:rPr lang="en-US" sz="2000" dirty="0">
                <a:solidFill>
                  <a:srgbClr val="0F1115"/>
                </a:solidFill>
                <a:latin typeface="Times New Roman" panose="02020603050405020304" pitchFamily="18" charset="0"/>
                <a:cs typeface="Times New Roman" panose="02020603050405020304" pitchFamily="18" charset="0"/>
              </a:rPr>
              <a:t>Education &amp; Employment</a:t>
            </a:r>
            <a:endParaRPr lang="en-CA" sz="2000" dirty="0">
              <a:solidFill>
                <a:srgbClr val="0F1115"/>
              </a:solidFill>
              <a:latin typeface="Times New Roman" panose="02020603050405020304" pitchFamily="18" charset="0"/>
              <a:cs typeface="Times New Roman" panose="02020603050405020304" pitchFamily="18" charset="0"/>
            </a:endParaRPr>
          </a:p>
          <a:p>
            <a:pPr marL="0" lvl="1">
              <a:spcBef>
                <a:spcPts val="2400"/>
              </a:spcBef>
              <a:spcAft>
                <a:spcPts val="300"/>
              </a:spcAft>
            </a:pPr>
            <a:endParaRPr lang="en-CA" sz="2000" dirty="0">
              <a:solidFill>
                <a:srgbClr val="0F111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337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53E7-2C6D-8DD6-413C-C5B8FE87D440}"/>
              </a:ext>
            </a:extLst>
          </p:cNvPr>
          <p:cNvSpPr>
            <a:spLocks noGrp="1"/>
          </p:cNvSpPr>
          <p:nvPr>
            <p:ph type="title"/>
          </p:nvPr>
        </p:nvSpPr>
        <p:spPr/>
        <p:txBody>
          <a:bodyPr/>
          <a:lstStyle/>
          <a:p>
            <a:r>
              <a:rPr lang="en-CA" b="1" dirty="0">
                <a:latin typeface="Times New Roman" panose="02020603050405020304" pitchFamily="18" charset="0"/>
                <a:cs typeface="Times New Roman" panose="02020603050405020304" pitchFamily="18" charset="0"/>
              </a:rPr>
              <a:t>Crime Trend (Temporal Patterns)</a:t>
            </a:r>
          </a:p>
        </p:txBody>
      </p:sp>
      <p:sp>
        <p:nvSpPr>
          <p:cNvPr id="3" name="Date Placeholder 2">
            <a:extLst>
              <a:ext uri="{FF2B5EF4-FFF2-40B4-BE49-F238E27FC236}">
                <a16:creationId xmlns:a16="http://schemas.microsoft.com/office/drawing/2014/main" id="{0F3F49C6-B877-9FD1-F79F-1E789B503668}"/>
              </a:ext>
            </a:extLst>
          </p:cNvPr>
          <p:cNvSpPr>
            <a:spLocks noGrp="1"/>
          </p:cNvSpPr>
          <p:nvPr>
            <p:ph type="dt" sz="half" idx="10"/>
          </p:nvPr>
        </p:nvSpPr>
        <p:spPr/>
        <p:txBody>
          <a:bodyPr/>
          <a:lstStyle/>
          <a:p>
            <a:fld id="{DED81FF8-5DBC-40F8-8C41-D7EEED299B68}" type="datetime3">
              <a:rPr lang="en-US" smtClean="0"/>
              <a:t>11 December 2025</a:t>
            </a:fld>
            <a:endParaRPr lang="en-US" dirty="0"/>
          </a:p>
        </p:txBody>
      </p:sp>
      <p:sp>
        <p:nvSpPr>
          <p:cNvPr id="4" name="Footer Placeholder 3">
            <a:extLst>
              <a:ext uri="{FF2B5EF4-FFF2-40B4-BE49-F238E27FC236}">
                <a16:creationId xmlns:a16="http://schemas.microsoft.com/office/drawing/2014/main" id="{4A18025F-28AE-5BB1-4327-BEE2ECFD9D25}"/>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884A8B44-D74F-5AB3-240F-12FE6C5601D1}"/>
              </a:ext>
            </a:extLst>
          </p:cNvPr>
          <p:cNvSpPr>
            <a:spLocks noGrp="1"/>
          </p:cNvSpPr>
          <p:nvPr>
            <p:ph type="sldNum" sz="quarter" idx="12"/>
          </p:nvPr>
        </p:nvSpPr>
        <p:spPr/>
        <p:txBody>
          <a:bodyPr/>
          <a:lstStyle/>
          <a:p>
            <a:fld id="{C1FF6DA9-008F-8B48-92A6-B652298478BF}" type="slidenum">
              <a:rPr lang="en-US" smtClean="0"/>
              <a:t>4</a:t>
            </a:fld>
            <a:endParaRPr lang="en-US" dirty="0"/>
          </a:p>
        </p:txBody>
      </p:sp>
      <p:pic>
        <p:nvPicPr>
          <p:cNvPr id="8" name="Picture 7">
            <a:extLst>
              <a:ext uri="{FF2B5EF4-FFF2-40B4-BE49-F238E27FC236}">
                <a16:creationId xmlns:a16="http://schemas.microsoft.com/office/drawing/2014/main" id="{CE32D0D0-6C6E-13CF-7D96-44BE3CF7A61B}"/>
              </a:ext>
            </a:extLst>
          </p:cNvPr>
          <p:cNvPicPr>
            <a:picLocks noChangeAspect="1"/>
          </p:cNvPicPr>
          <p:nvPr/>
        </p:nvPicPr>
        <p:blipFill>
          <a:blip r:embed="rId3"/>
          <a:stretch>
            <a:fillRect/>
          </a:stretch>
        </p:blipFill>
        <p:spPr>
          <a:xfrm>
            <a:off x="223409" y="1231271"/>
            <a:ext cx="9762559" cy="5490205"/>
          </a:xfrm>
          <a:prstGeom prst="rect">
            <a:avLst/>
          </a:prstGeom>
        </p:spPr>
      </p:pic>
      <p:sp>
        <p:nvSpPr>
          <p:cNvPr id="9" name="TextBox 8">
            <a:extLst>
              <a:ext uri="{FF2B5EF4-FFF2-40B4-BE49-F238E27FC236}">
                <a16:creationId xmlns:a16="http://schemas.microsoft.com/office/drawing/2014/main" id="{4A18C75D-BA3F-605D-1EC3-68A1BC7934F9}"/>
              </a:ext>
            </a:extLst>
          </p:cNvPr>
          <p:cNvSpPr txBox="1"/>
          <p:nvPr/>
        </p:nvSpPr>
        <p:spPr>
          <a:xfrm>
            <a:off x="10092905" y="1237214"/>
            <a:ext cx="1754595" cy="3108543"/>
          </a:xfrm>
          <a:prstGeom prst="rect">
            <a:avLst/>
          </a:prstGeom>
          <a:noFill/>
        </p:spPr>
        <p:txBody>
          <a:bodyPr wrap="square">
            <a:spAutoFit/>
          </a:bodyPr>
          <a:lstStyle/>
          <a:p>
            <a:pPr marL="285750" indent="-285750">
              <a:spcAft>
                <a:spcPts val="800"/>
              </a:spcAft>
              <a:buFont typeface="Arial" panose="020B0604020202020204" pitchFamily="34" charset="0"/>
              <a:buChar char="•"/>
            </a:pP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Crime is predictable. It has a rhythm—peaking on summer evenings and weekends. We can and must use this predictability: pre-deploy resources. </a:t>
            </a:r>
            <a:r>
              <a:rPr lang="en-CA" sz="1400" kern="100" dirty="0">
                <a:latin typeface="Times New Roman" panose="02020603050405020304" pitchFamily="18" charset="0"/>
                <a:ea typeface="Aptos" panose="020B0004020202020204" pitchFamily="34" charset="0"/>
                <a:cs typeface="Times New Roman" panose="02020603050405020304" pitchFamily="18" charset="0"/>
              </a:rPr>
              <a:t>This</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is the foundation of our ‘Summer Surge Plan’</a:t>
            </a:r>
          </a:p>
        </p:txBody>
      </p:sp>
    </p:spTree>
    <p:extLst>
      <p:ext uri="{BB962C8B-B14F-4D97-AF65-F5344CB8AC3E}">
        <p14:creationId xmlns:p14="http://schemas.microsoft.com/office/powerpoint/2010/main" val="2037768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latin typeface="Times New Roman" panose="02020603050405020304" pitchFamily="18" charset="0"/>
                <a:cs typeface="Times New Roman" panose="02020603050405020304" pitchFamily="18" charset="0"/>
              </a:rPr>
              <a:t>Crime Category Distribution</a:t>
            </a:r>
          </a:p>
        </p:txBody>
      </p:sp>
      <p:sp>
        <p:nvSpPr>
          <p:cNvPr id="3" name="Date Placeholder 2">
            <a:extLst>
              <a:ext uri="{FF2B5EF4-FFF2-40B4-BE49-F238E27FC236}">
                <a16:creationId xmlns:a16="http://schemas.microsoft.com/office/drawing/2014/main" id="{8CF1D1CE-04D4-F7FF-6044-8CA09E98C21E}"/>
              </a:ext>
            </a:extLst>
          </p:cNvPr>
          <p:cNvSpPr>
            <a:spLocks noGrp="1"/>
          </p:cNvSpPr>
          <p:nvPr>
            <p:ph type="dt" sz="half" idx="10"/>
          </p:nvPr>
        </p:nvSpPr>
        <p:spPr/>
        <p:txBody>
          <a:bodyPr/>
          <a:lstStyle/>
          <a:p>
            <a:fld id="{D3C1D912-E1E9-4830-8BCF-2D7AD4C9893D}" type="datetime3">
              <a:rPr lang="en-US" smtClean="0"/>
              <a:t>11 December 2025</a:t>
            </a:fld>
            <a:endParaRPr lang="en-US"/>
          </a:p>
        </p:txBody>
      </p:sp>
      <p:sp>
        <p:nvSpPr>
          <p:cNvPr id="6" name="Footer Placeholder 5">
            <a:extLst>
              <a:ext uri="{FF2B5EF4-FFF2-40B4-BE49-F238E27FC236}">
                <a16:creationId xmlns:a16="http://schemas.microsoft.com/office/drawing/2014/main" id="{D6A9DCC6-84C6-5BFD-EFD1-611BA0031CB6}"/>
              </a:ext>
            </a:extLst>
          </p:cNvPr>
          <p:cNvSpPr>
            <a:spLocks noGrp="1"/>
          </p:cNvSpPr>
          <p:nvPr>
            <p:ph type="ftr" sz="quarter" idx="11"/>
          </p:nvPr>
        </p:nvSpPr>
        <p:spPr/>
        <p:txBody>
          <a:bodyPr/>
          <a:lstStyle/>
          <a:p>
            <a:r>
              <a:rPr lang="en-US" dirty="0"/>
              <a:t>York Region Crime Analysis</a:t>
            </a:r>
          </a:p>
        </p:txBody>
      </p:sp>
      <p:sp>
        <p:nvSpPr>
          <p:cNvPr id="7" name="Slide Number Placeholder 6">
            <a:extLst>
              <a:ext uri="{FF2B5EF4-FFF2-40B4-BE49-F238E27FC236}">
                <a16:creationId xmlns:a16="http://schemas.microsoft.com/office/drawing/2014/main" id="{3EF37F04-11D2-B959-BE62-CF46FF456F7C}"/>
              </a:ext>
            </a:extLst>
          </p:cNvPr>
          <p:cNvSpPr>
            <a:spLocks noGrp="1"/>
          </p:cNvSpPr>
          <p:nvPr>
            <p:ph type="sldNum" sz="quarter" idx="12"/>
          </p:nvPr>
        </p:nvSpPr>
        <p:spPr/>
        <p:txBody>
          <a:bodyPr/>
          <a:lstStyle/>
          <a:p>
            <a:fld id="{C1FF6DA9-008F-8B48-92A6-B652298478BF}" type="slidenum">
              <a:rPr lang="en-US" smtClean="0"/>
              <a:t>5</a:t>
            </a:fld>
            <a:endParaRPr lang="en-US" dirty="0"/>
          </a:p>
        </p:txBody>
      </p:sp>
      <p:pic>
        <p:nvPicPr>
          <p:cNvPr id="9" name="Picture 8">
            <a:extLst>
              <a:ext uri="{FF2B5EF4-FFF2-40B4-BE49-F238E27FC236}">
                <a16:creationId xmlns:a16="http://schemas.microsoft.com/office/drawing/2014/main" id="{99C184BB-F912-CD08-207E-E7CDE49BEAD3}"/>
              </a:ext>
            </a:extLst>
          </p:cNvPr>
          <p:cNvPicPr>
            <a:picLocks noChangeAspect="1"/>
          </p:cNvPicPr>
          <p:nvPr/>
        </p:nvPicPr>
        <p:blipFill>
          <a:blip r:embed="rId3"/>
          <a:stretch>
            <a:fillRect/>
          </a:stretch>
        </p:blipFill>
        <p:spPr>
          <a:xfrm>
            <a:off x="1271753" y="1187669"/>
            <a:ext cx="7388772" cy="2971163"/>
          </a:xfrm>
          <a:prstGeom prst="rect">
            <a:avLst/>
          </a:prstGeom>
        </p:spPr>
      </p:pic>
      <p:pic>
        <p:nvPicPr>
          <p:cNvPr id="8" name="Picture 7">
            <a:extLst>
              <a:ext uri="{FF2B5EF4-FFF2-40B4-BE49-F238E27FC236}">
                <a16:creationId xmlns:a16="http://schemas.microsoft.com/office/drawing/2014/main" id="{655E73DE-8553-C325-5238-FA066A60F3E1}"/>
              </a:ext>
            </a:extLst>
          </p:cNvPr>
          <p:cNvPicPr>
            <a:picLocks noChangeAspect="1"/>
          </p:cNvPicPr>
          <p:nvPr/>
        </p:nvPicPr>
        <p:blipFill>
          <a:blip r:embed="rId4"/>
          <a:stretch>
            <a:fillRect/>
          </a:stretch>
        </p:blipFill>
        <p:spPr>
          <a:xfrm>
            <a:off x="1271752" y="3983420"/>
            <a:ext cx="7388772" cy="2738055"/>
          </a:xfrm>
          <a:prstGeom prst="rect">
            <a:avLst/>
          </a:prstGeom>
        </p:spPr>
      </p:pic>
      <p:sp>
        <p:nvSpPr>
          <p:cNvPr id="10" name="TextBox 9">
            <a:extLst>
              <a:ext uri="{FF2B5EF4-FFF2-40B4-BE49-F238E27FC236}">
                <a16:creationId xmlns:a16="http://schemas.microsoft.com/office/drawing/2014/main" id="{240CE938-08B5-1F39-E2CC-F74260A7D491}"/>
              </a:ext>
            </a:extLst>
          </p:cNvPr>
          <p:cNvSpPr txBox="1"/>
          <p:nvPr/>
        </p:nvSpPr>
        <p:spPr>
          <a:xfrm>
            <a:off x="8949134" y="2447383"/>
            <a:ext cx="2739658" cy="2513509"/>
          </a:xfrm>
          <a:prstGeom prst="rect">
            <a:avLst/>
          </a:prstGeom>
          <a:noFill/>
        </p:spPr>
        <p:txBody>
          <a:bodyPr wrap="square">
            <a:spAutoFit/>
          </a:bodyPr>
          <a:lstStyle/>
          <a:p>
            <a:pPr marL="285750" indent="-285750">
              <a:spcAft>
                <a:spcPts val="800"/>
              </a:spcAft>
              <a:buFont typeface="Arial" panose="020B0604020202020204" pitchFamily="34" charset="0"/>
              <a:buChar char="•"/>
              <a:tabLst>
                <a:tab pos="457200" algn="l"/>
              </a:tabLst>
            </a:pPr>
            <a:r>
              <a:rPr lang="en-CA" sz="1600" dirty="0">
                <a:latin typeface="Times New Roman" panose="02020603050405020304" pitchFamily="18" charset="0"/>
                <a:ea typeface="Aptos" panose="020B0004020202020204" pitchFamily="34" charset="0"/>
              </a:rPr>
              <a:t>Property and Violent crimes are not just the most common; they are growing at an alarming rate</a:t>
            </a:r>
          </a:p>
          <a:p>
            <a:pPr>
              <a:spcAft>
                <a:spcPts val="800"/>
              </a:spcAft>
              <a:tabLst>
                <a:tab pos="457200" algn="l"/>
              </a:tabLst>
            </a:pPr>
            <a:endParaRPr lang="en-CA" sz="1600" dirty="0">
              <a:latin typeface="Times New Roman" panose="02020603050405020304" pitchFamily="18" charset="0"/>
              <a:ea typeface="Aptos" panose="020B0004020202020204" pitchFamily="34" charset="0"/>
            </a:endParaRPr>
          </a:p>
          <a:p>
            <a:pPr marL="285750" indent="-285750">
              <a:spcAft>
                <a:spcPts val="800"/>
              </a:spcAft>
              <a:buFont typeface="Arial" panose="020B0604020202020204" pitchFamily="34" charset="0"/>
              <a:buChar char="•"/>
              <a:tabLst>
                <a:tab pos="457200" algn="l"/>
              </a:tabLst>
            </a:pPr>
            <a:r>
              <a:rPr lang="en-CA" sz="1600" dirty="0">
                <a:latin typeface="Times New Roman" panose="02020603050405020304" pitchFamily="18" charset="0"/>
                <a:ea typeface="Aptos" panose="020B0004020202020204" pitchFamily="34" charset="0"/>
              </a:rPr>
              <a:t>It requires category-specific tactics, especially in auto theft and gun violence</a:t>
            </a:r>
            <a:endParaRPr lang="en-CA"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44970-F7E0-141B-F524-BF6FE4504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1F08F-2D16-6E8B-529C-F7A8CDB25CD6}"/>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The Vicious Cycle of Crime and Staffing</a:t>
            </a:r>
            <a:endParaRPr b="1" dirty="0">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ECC17358-0BE1-1307-4F8C-84EC149EEAF1}"/>
              </a:ext>
            </a:extLst>
          </p:cNvPr>
          <p:cNvSpPr>
            <a:spLocks noGrp="1"/>
          </p:cNvSpPr>
          <p:nvPr>
            <p:ph type="dt" sz="half" idx="10"/>
          </p:nvPr>
        </p:nvSpPr>
        <p:spPr>
          <a:xfrm>
            <a:off x="830172" y="6356351"/>
            <a:ext cx="2147978" cy="365125"/>
          </a:xfrm>
        </p:spPr>
        <p:txBody>
          <a:bodyPr/>
          <a:lstStyle/>
          <a:p>
            <a:fld id="{55E17BC1-9843-4B61-BEB7-5A6CBBDE8197}" type="datetime3">
              <a:rPr lang="en-US" smtClean="0"/>
              <a:t>11 December 2025</a:t>
            </a:fld>
            <a:endParaRPr lang="en-US"/>
          </a:p>
        </p:txBody>
      </p:sp>
      <p:sp>
        <p:nvSpPr>
          <p:cNvPr id="14" name="Footer Placeholder 13">
            <a:extLst>
              <a:ext uri="{FF2B5EF4-FFF2-40B4-BE49-F238E27FC236}">
                <a16:creationId xmlns:a16="http://schemas.microsoft.com/office/drawing/2014/main" id="{2A5FFE5B-1CD4-500F-4912-F687891E6BA1}"/>
              </a:ext>
            </a:extLst>
          </p:cNvPr>
          <p:cNvSpPr>
            <a:spLocks noGrp="1"/>
          </p:cNvSpPr>
          <p:nvPr>
            <p:ph type="ftr" sz="quarter" idx="11"/>
          </p:nvPr>
        </p:nvSpPr>
        <p:spPr>
          <a:xfrm>
            <a:off x="4635036" y="6356351"/>
            <a:ext cx="2915113" cy="365125"/>
          </a:xfrm>
        </p:spPr>
        <p:txBody>
          <a:bodyPr/>
          <a:lstStyle/>
          <a:p>
            <a:r>
              <a:rPr lang="en-US" dirty="0"/>
              <a:t>York Region Crime Analysis</a:t>
            </a:r>
          </a:p>
        </p:txBody>
      </p:sp>
      <p:sp>
        <p:nvSpPr>
          <p:cNvPr id="18" name="Slide Number Placeholder 17">
            <a:extLst>
              <a:ext uri="{FF2B5EF4-FFF2-40B4-BE49-F238E27FC236}">
                <a16:creationId xmlns:a16="http://schemas.microsoft.com/office/drawing/2014/main" id="{978B59BA-9DDC-737D-CBB6-5C6C1F544D9F}"/>
              </a:ext>
            </a:extLst>
          </p:cNvPr>
          <p:cNvSpPr>
            <a:spLocks noGrp="1"/>
          </p:cNvSpPr>
          <p:nvPr>
            <p:ph type="sldNum" sz="quarter" idx="12"/>
          </p:nvPr>
        </p:nvSpPr>
        <p:spPr>
          <a:xfrm>
            <a:off x="8958172" y="6356351"/>
            <a:ext cx="2147978" cy="365125"/>
          </a:xfrm>
        </p:spPr>
        <p:txBody>
          <a:bodyPr/>
          <a:lstStyle/>
          <a:p>
            <a:fld id="{C1FF6DA9-008F-8B48-92A6-B652298478BF}" type="slidenum">
              <a:rPr lang="en-US" smtClean="0"/>
              <a:t>6</a:t>
            </a:fld>
            <a:endParaRPr lang="en-US"/>
          </a:p>
        </p:txBody>
      </p:sp>
      <p:sp>
        <p:nvSpPr>
          <p:cNvPr id="19" name="TextBox 18">
            <a:extLst>
              <a:ext uri="{FF2B5EF4-FFF2-40B4-BE49-F238E27FC236}">
                <a16:creationId xmlns:a16="http://schemas.microsoft.com/office/drawing/2014/main" id="{9CBA1964-226E-916F-C2CB-5E4D9F2F4C1D}"/>
              </a:ext>
            </a:extLst>
          </p:cNvPr>
          <p:cNvSpPr txBox="1"/>
          <p:nvPr/>
        </p:nvSpPr>
        <p:spPr>
          <a:xfrm>
            <a:off x="1085850" y="1355508"/>
            <a:ext cx="10336670" cy="523220"/>
          </a:xfrm>
          <a:prstGeom prst="rect">
            <a:avLst/>
          </a:prstGeom>
          <a:noFill/>
        </p:spPr>
        <p:txBody>
          <a:bodyPr wrap="square">
            <a:spAutoFit/>
          </a:bodyPr>
          <a:lstStyle/>
          <a:p>
            <a:pPr marL="28575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The Vicious Cycle: High Crime → 911 Calls ↑ → Overtime &amp; Burnout ↑ → Staffing Shortages ↑ → Response Capacity ↓</a:t>
            </a:r>
          </a:p>
          <a:p>
            <a:pPr marL="28575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High crime volumes deplete officer capacity, reducing our ability to respond and prevent future crime. This is especially true in District 4</a:t>
            </a:r>
          </a:p>
        </p:txBody>
      </p:sp>
      <p:pic>
        <p:nvPicPr>
          <p:cNvPr id="33" name="Picture 32">
            <a:extLst>
              <a:ext uri="{FF2B5EF4-FFF2-40B4-BE49-F238E27FC236}">
                <a16:creationId xmlns:a16="http://schemas.microsoft.com/office/drawing/2014/main" id="{E71BB462-2132-DC58-6DC8-1F0A78C89DBD}"/>
              </a:ext>
            </a:extLst>
          </p:cNvPr>
          <p:cNvPicPr>
            <a:picLocks noChangeAspect="1"/>
          </p:cNvPicPr>
          <p:nvPr/>
        </p:nvPicPr>
        <p:blipFill>
          <a:blip r:embed="rId3"/>
          <a:stretch>
            <a:fillRect/>
          </a:stretch>
        </p:blipFill>
        <p:spPr>
          <a:xfrm>
            <a:off x="1085851" y="4242820"/>
            <a:ext cx="2364087" cy="2486838"/>
          </a:xfrm>
          <a:prstGeom prst="rect">
            <a:avLst/>
          </a:prstGeom>
        </p:spPr>
      </p:pic>
      <p:pic>
        <p:nvPicPr>
          <p:cNvPr id="4" name="Picture 3">
            <a:extLst>
              <a:ext uri="{FF2B5EF4-FFF2-40B4-BE49-F238E27FC236}">
                <a16:creationId xmlns:a16="http://schemas.microsoft.com/office/drawing/2014/main" id="{57D551F4-C87B-DA3B-4409-AA8F922F7448}"/>
              </a:ext>
            </a:extLst>
          </p:cNvPr>
          <p:cNvPicPr>
            <a:picLocks noChangeAspect="1"/>
          </p:cNvPicPr>
          <p:nvPr/>
        </p:nvPicPr>
        <p:blipFill>
          <a:blip r:embed="rId4"/>
          <a:stretch>
            <a:fillRect/>
          </a:stretch>
        </p:blipFill>
        <p:spPr>
          <a:xfrm>
            <a:off x="8614225" y="4277423"/>
            <a:ext cx="2668234" cy="2442062"/>
          </a:xfrm>
          <a:prstGeom prst="rect">
            <a:avLst/>
          </a:prstGeom>
        </p:spPr>
      </p:pic>
      <p:pic>
        <p:nvPicPr>
          <p:cNvPr id="21" name="Picture 20">
            <a:extLst>
              <a:ext uri="{FF2B5EF4-FFF2-40B4-BE49-F238E27FC236}">
                <a16:creationId xmlns:a16="http://schemas.microsoft.com/office/drawing/2014/main" id="{BD4CB637-1DDD-C159-2562-D2F4517B2BF8}"/>
              </a:ext>
            </a:extLst>
          </p:cNvPr>
          <p:cNvPicPr>
            <a:picLocks noChangeAspect="1"/>
          </p:cNvPicPr>
          <p:nvPr/>
        </p:nvPicPr>
        <p:blipFill>
          <a:blip r:embed="rId5"/>
          <a:stretch>
            <a:fillRect/>
          </a:stretch>
        </p:blipFill>
        <p:spPr>
          <a:xfrm>
            <a:off x="3283400" y="1994290"/>
            <a:ext cx="2730241" cy="2590392"/>
          </a:xfrm>
          <a:prstGeom prst="rect">
            <a:avLst/>
          </a:prstGeom>
        </p:spPr>
      </p:pic>
      <p:pic>
        <p:nvPicPr>
          <p:cNvPr id="22" name="Picture 21">
            <a:extLst>
              <a:ext uri="{FF2B5EF4-FFF2-40B4-BE49-F238E27FC236}">
                <a16:creationId xmlns:a16="http://schemas.microsoft.com/office/drawing/2014/main" id="{0FB29575-0110-EABE-3418-BD9CA3E0E583}"/>
              </a:ext>
            </a:extLst>
          </p:cNvPr>
          <p:cNvPicPr>
            <a:picLocks noChangeAspect="1"/>
          </p:cNvPicPr>
          <p:nvPr/>
        </p:nvPicPr>
        <p:blipFill>
          <a:blip r:embed="rId6"/>
          <a:stretch>
            <a:fillRect/>
          </a:stretch>
        </p:blipFill>
        <p:spPr>
          <a:xfrm>
            <a:off x="5901255" y="4260313"/>
            <a:ext cx="2945845" cy="2458173"/>
          </a:xfrm>
          <a:prstGeom prst="rect">
            <a:avLst/>
          </a:prstGeom>
        </p:spPr>
      </p:pic>
      <p:pic>
        <p:nvPicPr>
          <p:cNvPr id="23" name="Picture 22">
            <a:extLst>
              <a:ext uri="{FF2B5EF4-FFF2-40B4-BE49-F238E27FC236}">
                <a16:creationId xmlns:a16="http://schemas.microsoft.com/office/drawing/2014/main" id="{4CC585B9-124C-9C17-6BD0-2B21902D0F53}"/>
              </a:ext>
            </a:extLst>
          </p:cNvPr>
          <p:cNvPicPr>
            <a:picLocks noChangeAspect="1"/>
          </p:cNvPicPr>
          <p:nvPr/>
        </p:nvPicPr>
        <p:blipFill>
          <a:blip r:embed="rId7"/>
          <a:stretch>
            <a:fillRect/>
          </a:stretch>
        </p:blipFill>
        <p:spPr>
          <a:xfrm>
            <a:off x="5830605" y="1994290"/>
            <a:ext cx="2911468" cy="2565629"/>
          </a:xfrm>
          <a:prstGeom prst="rect">
            <a:avLst/>
          </a:prstGeom>
        </p:spPr>
      </p:pic>
      <p:pic>
        <p:nvPicPr>
          <p:cNvPr id="24" name="Picture 23">
            <a:extLst>
              <a:ext uri="{FF2B5EF4-FFF2-40B4-BE49-F238E27FC236}">
                <a16:creationId xmlns:a16="http://schemas.microsoft.com/office/drawing/2014/main" id="{32BFA6E9-D455-1E08-A962-6AEDE0D030A9}"/>
              </a:ext>
            </a:extLst>
          </p:cNvPr>
          <p:cNvPicPr>
            <a:picLocks noChangeAspect="1"/>
          </p:cNvPicPr>
          <p:nvPr/>
        </p:nvPicPr>
        <p:blipFill>
          <a:blip r:embed="rId8"/>
          <a:stretch>
            <a:fillRect/>
          </a:stretch>
        </p:blipFill>
        <p:spPr>
          <a:xfrm>
            <a:off x="8554027" y="1991299"/>
            <a:ext cx="2730021" cy="2583857"/>
          </a:xfrm>
          <a:prstGeom prst="rect">
            <a:avLst/>
          </a:prstGeom>
        </p:spPr>
      </p:pic>
      <p:sp>
        <p:nvSpPr>
          <p:cNvPr id="25" name="TextBox 24">
            <a:extLst>
              <a:ext uri="{FF2B5EF4-FFF2-40B4-BE49-F238E27FC236}">
                <a16:creationId xmlns:a16="http://schemas.microsoft.com/office/drawing/2014/main" id="{55D23BB2-74F6-7279-92AC-A98D4246C803}"/>
              </a:ext>
            </a:extLst>
          </p:cNvPr>
          <p:cNvSpPr txBox="1"/>
          <p:nvPr/>
        </p:nvSpPr>
        <p:spPr>
          <a:xfrm>
            <a:off x="3948305" y="2968702"/>
            <a:ext cx="829085" cy="336439"/>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Crime</a:t>
            </a:r>
          </a:p>
        </p:txBody>
      </p:sp>
      <p:sp>
        <p:nvSpPr>
          <p:cNvPr id="26" name="TextBox 25">
            <a:extLst>
              <a:ext uri="{FF2B5EF4-FFF2-40B4-BE49-F238E27FC236}">
                <a16:creationId xmlns:a16="http://schemas.microsoft.com/office/drawing/2014/main" id="{483ADDE7-97C6-7945-D1DB-AE9DB2FA46A6}"/>
              </a:ext>
            </a:extLst>
          </p:cNvPr>
          <p:cNvSpPr txBox="1"/>
          <p:nvPr/>
        </p:nvSpPr>
        <p:spPr>
          <a:xfrm>
            <a:off x="7175733" y="2271111"/>
            <a:ext cx="935689" cy="342401"/>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911</a:t>
            </a:r>
            <a:r>
              <a:rPr lang="en-CA" sz="1600" b="1" dirty="0">
                <a:solidFill>
                  <a:srgbClr val="0F1115"/>
                </a:solidFill>
                <a:effectLst/>
                <a:latin typeface="Times New Roman" panose="02020603050405020304" pitchFamily="18" charset="0"/>
                <a:cs typeface="Times New Roman" panose="02020603050405020304" pitchFamily="18" charset="0"/>
              </a:rPr>
              <a:t> </a:t>
            </a:r>
            <a:r>
              <a:rPr lang="en-CA" sz="1400" b="1" dirty="0">
                <a:solidFill>
                  <a:srgbClr val="0F1115"/>
                </a:solidFill>
                <a:latin typeface="Times New Roman" panose="02020603050405020304" pitchFamily="18" charset="0"/>
                <a:cs typeface="Times New Roman" panose="02020603050405020304" pitchFamily="18" charset="0"/>
              </a:rPr>
              <a:t>Call</a:t>
            </a:r>
          </a:p>
        </p:txBody>
      </p:sp>
      <p:sp>
        <p:nvSpPr>
          <p:cNvPr id="27" name="TextBox 26">
            <a:extLst>
              <a:ext uri="{FF2B5EF4-FFF2-40B4-BE49-F238E27FC236}">
                <a16:creationId xmlns:a16="http://schemas.microsoft.com/office/drawing/2014/main" id="{E9D66ACD-4E1F-58A7-97F0-EB61C2C7452B}"/>
              </a:ext>
            </a:extLst>
          </p:cNvPr>
          <p:cNvSpPr txBox="1"/>
          <p:nvPr/>
        </p:nvSpPr>
        <p:spPr>
          <a:xfrm>
            <a:off x="8721916" y="2058942"/>
            <a:ext cx="2143193" cy="336439"/>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effectLst/>
                <a:latin typeface="Times New Roman" panose="02020603050405020304" pitchFamily="18" charset="0"/>
                <a:cs typeface="Times New Roman" panose="02020603050405020304" pitchFamily="18" charset="0"/>
              </a:rPr>
              <a:t>Staff Overtime/Shortage</a:t>
            </a:r>
            <a:endParaRPr lang="en-CA" sz="1100" b="0" i="0" dirty="0">
              <a:solidFill>
                <a:srgbClr val="0F1115"/>
              </a:solidFill>
              <a:effectLst/>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0E68E8CB-C581-8F1D-5360-229A1594867C}"/>
              </a:ext>
            </a:extLst>
          </p:cNvPr>
          <p:cNvSpPr txBox="1"/>
          <p:nvPr/>
        </p:nvSpPr>
        <p:spPr>
          <a:xfrm>
            <a:off x="6619125" y="4574512"/>
            <a:ext cx="1684160" cy="336439"/>
          </a:xfrm>
          <a:prstGeom prst="rect">
            <a:avLst/>
          </a:prstGeom>
          <a:noFill/>
        </p:spPr>
        <p:txBody>
          <a:bodyPr wrap="square">
            <a:spAutoFit/>
          </a:bodyPr>
          <a:lstStyle/>
          <a:p>
            <a:pPr>
              <a:lnSpc>
                <a:spcPts val="2100"/>
              </a:lnSpc>
              <a:spcBef>
                <a:spcPts val="1200"/>
              </a:spcBef>
              <a:spcAft>
                <a:spcPts val="600"/>
              </a:spcAft>
            </a:pPr>
            <a:r>
              <a:rPr lang="en-CA" sz="1400" b="1" dirty="0">
                <a:solidFill>
                  <a:srgbClr val="0F1115"/>
                </a:solidFill>
                <a:latin typeface="Times New Roman" panose="02020603050405020304" pitchFamily="18" charset="0"/>
                <a:cs typeface="Times New Roman" panose="02020603050405020304" pitchFamily="18" charset="0"/>
              </a:rPr>
              <a:t>Staffing Bottleneck</a:t>
            </a:r>
          </a:p>
        </p:txBody>
      </p:sp>
      <p:pic>
        <p:nvPicPr>
          <p:cNvPr id="29" name="Picture 28">
            <a:extLst>
              <a:ext uri="{FF2B5EF4-FFF2-40B4-BE49-F238E27FC236}">
                <a16:creationId xmlns:a16="http://schemas.microsoft.com/office/drawing/2014/main" id="{58B5573A-542A-BF05-2D7A-C01A0F16E424}"/>
              </a:ext>
            </a:extLst>
          </p:cNvPr>
          <p:cNvPicPr>
            <a:picLocks noChangeAspect="1"/>
          </p:cNvPicPr>
          <p:nvPr/>
        </p:nvPicPr>
        <p:blipFill>
          <a:blip r:embed="rId9"/>
          <a:stretch>
            <a:fillRect/>
          </a:stretch>
        </p:blipFill>
        <p:spPr>
          <a:xfrm>
            <a:off x="3291748" y="4279414"/>
            <a:ext cx="2793221" cy="2442062"/>
          </a:xfrm>
          <a:prstGeom prst="rect">
            <a:avLst/>
          </a:prstGeom>
        </p:spPr>
      </p:pic>
      <p:sp>
        <p:nvSpPr>
          <p:cNvPr id="30" name="TextBox 29">
            <a:extLst>
              <a:ext uri="{FF2B5EF4-FFF2-40B4-BE49-F238E27FC236}">
                <a16:creationId xmlns:a16="http://schemas.microsoft.com/office/drawing/2014/main" id="{9C5DD3DE-99C1-8C57-A09E-2252E31D32D0}"/>
              </a:ext>
            </a:extLst>
          </p:cNvPr>
          <p:cNvSpPr txBox="1"/>
          <p:nvPr/>
        </p:nvSpPr>
        <p:spPr>
          <a:xfrm>
            <a:off x="9862762" y="5166241"/>
            <a:ext cx="879360" cy="336439"/>
          </a:xfrm>
          <a:prstGeom prst="rect">
            <a:avLst/>
          </a:prstGeom>
          <a:noFill/>
        </p:spPr>
        <p:txBody>
          <a:bodyPr wrap="square">
            <a:spAutoFit/>
          </a:bodyPr>
          <a:lstStyle/>
          <a:p>
            <a:pPr>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Staffing</a:t>
            </a:r>
          </a:p>
        </p:txBody>
      </p:sp>
      <p:sp>
        <p:nvSpPr>
          <p:cNvPr id="31" name="TextBox 30">
            <a:extLst>
              <a:ext uri="{FF2B5EF4-FFF2-40B4-BE49-F238E27FC236}">
                <a16:creationId xmlns:a16="http://schemas.microsoft.com/office/drawing/2014/main" id="{656CF59D-B957-6E26-881E-E56E0A081338}"/>
              </a:ext>
            </a:extLst>
          </p:cNvPr>
          <p:cNvSpPr txBox="1"/>
          <p:nvPr/>
        </p:nvSpPr>
        <p:spPr>
          <a:xfrm>
            <a:off x="4469369" y="4291866"/>
            <a:ext cx="1319059" cy="336439"/>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Risk Factors</a:t>
            </a:r>
          </a:p>
        </p:txBody>
      </p:sp>
      <p:sp>
        <p:nvSpPr>
          <p:cNvPr id="32" name="TextBox 31">
            <a:extLst>
              <a:ext uri="{FF2B5EF4-FFF2-40B4-BE49-F238E27FC236}">
                <a16:creationId xmlns:a16="http://schemas.microsoft.com/office/drawing/2014/main" id="{9AC95132-9AEA-9DB1-68E8-A10D4643219F}"/>
              </a:ext>
            </a:extLst>
          </p:cNvPr>
          <p:cNvSpPr txBox="1"/>
          <p:nvPr/>
        </p:nvSpPr>
        <p:spPr>
          <a:xfrm>
            <a:off x="1365778" y="4406241"/>
            <a:ext cx="2075653" cy="336439"/>
          </a:xfrm>
          <a:prstGeom prst="rect">
            <a:avLst/>
          </a:prstGeom>
          <a:noFill/>
        </p:spPr>
        <p:txBody>
          <a:bodyPr wrap="square">
            <a:spAutoFit/>
          </a:bodyPr>
          <a:lstStyle/>
          <a:p>
            <a:pPr>
              <a:lnSpc>
                <a:spcPts val="2100"/>
              </a:lnSpc>
              <a:spcBef>
                <a:spcPts val="1200"/>
              </a:spcBef>
              <a:spcAft>
                <a:spcPts val="600"/>
              </a:spcAft>
            </a:pPr>
            <a:r>
              <a:rPr lang="en-CA" sz="1400" b="1" dirty="0">
                <a:solidFill>
                  <a:srgbClr val="0F1115"/>
                </a:solidFill>
                <a:latin typeface="Times New Roman" panose="02020603050405020304" pitchFamily="18" charset="0"/>
                <a:cs typeface="Times New Roman" panose="02020603050405020304" pitchFamily="18" charset="0"/>
              </a:rPr>
              <a:t>Operational Correlation</a:t>
            </a:r>
          </a:p>
        </p:txBody>
      </p:sp>
      <p:pic>
        <p:nvPicPr>
          <p:cNvPr id="35" name="Picture 34">
            <a:extLst>
              <a:ext uri="{FF2B5EF4-FFF2-40B4-BE49-F238E27FC236}">
                <a16:creationId xmlns:a16="http://schemas.microsoft.com/office/drawing/2014/main" id="{09FE9ACF-48AC-0756-CA07-7809F7C09122}"/>
              </a:ext>
            </a:extLst>
          </p:cNvPr>
          <p:cNvPicPr>
            <a:picLocks noChangeAspect="1"/>
          </p:cNvPicPr>
          <p:nvPr/>
        </p:nvPicPr>
        <p:blipFill>
          <a:blip r:embed="rId10"/>
          <a:stretch>
            <a:fillRect/>
          </a:stretch>
        </p:blipFill>
        <p:spPr>
          <a:xfrm>
            <a:off x="1085850" y="1994290"/>
            <a:ext cx="2389675" cy="2533680"/>
          </a:xfrm>
          <a:prstGeom prst="rect">
            <a:avLst/>
          </a:prstGeom>
        </p:spPr>
      </p:pic>
    </p:spTree>
    <p:extLst>
      <p:ext uri="{BB962C8B-B14F-4D97-AF65-F5344CB8AC3E}">
        <p14:creationId xmlns:p14="http://schemas.microsoft.com/office/powerpoint/2010/main" val="525809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CF4D-BD00-2CE7-E765-464371DE43CB}"/>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Yearly Crime Trends &amp; The 2024 Anomaly</a:t>
            </a:r>
            <a:endParaRPr lang="en-CA" b="1" dirty="0"/>
          </a:p>
        </p:txBody>
      </p:sp>
      <p:sp>
        <p:nvSpPr>
          <p:cNvPr id="3" name="Date Placeholder 2">
            <a:extLst>
              <a:ext uri="{FF2B5EF4-FFF2-40B4-BE49-F238E27FC236}">
                <a16:creationId xmlns:a16="http://schemas.microsoft.com/office/drawing/2014/main" id="{A815B4B6-39F8-FACF-2139-8DECD35C74BE}"/>
              </a:ext>
            </a:extLst>
          </p:cNvPr>
          <p:cNvSpPr>
            <a:spLocks noGrp="1"/>
          </p:cNvSpPr>
          <p:nvPr>
            <p:ph type="dt" sz="half" idx="10"/>
          </p:nvPr>
        </p:nvSpPr>
        <p:spPr/>
        <p:txBody>
          <a:bodyPr/>
          <a:lstStyle/>
          <a:p>
            <a:fld id="{5CE9355D-AB13-43FD-9276-670D113F9AC8}" type="datetime3">
              <a:rPr lang="en-US" smtClean="0"/>
              <a:t>11 December 2025</a:t>
            </a:fld>
            <a:endParaRPr lang="en-US"/>
          </a:p>
        </p:txBody>
      </p:sp>
      <p:sp>
        <p:nvSpPr>
          <p:cNvPr id="4" name="Footer Placeholder 3">
            <a:extLst>
              <a:ext uri="{FF2B5EF4-FFF2-40B4-BE49-F238E27FC236}">
                <a16:creationId xmlns:a16="http://schemas.microsoft.com/office/drawing/2014/main" id="{E4270CB4-3994-C6B5-7A33-8B8CC6DC5704}"/>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F88C8B73-3B1F-0E49-8F32-26D9AE22DFA0}"/>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7" name="Picture 6" descr="image.png"/>
          <p:cNvPicPr>
            <a:picLocks noChangeAspect="1"/>
          </p:cNvPicPr>
          <p:nvPr/>
        </p:nvPicPr>
        <p:blipFill>
          <a:blip r:embed="rId3"/>
          <a:stretch>
            <a:fillRect/>
          </a:stretch>
        </p:blipFill>
        <p:spPr>
          <a:xfrm>
            <a:off x="7106965" y="3798544"/>
            <a:ext cx="4789287" cy="2859778"/>
          </a:xfrm>
          <a:prstGeom prst="rect">
            <a:avLst/>
          </a:prstGeom>
        </p:spPr>
      </p:pic>
      <p:sp>
        <p:nvSpPr>
          <p:cNvPr id="8" name="TextBox 7"/>
          <p:cNvSpPr txBox="1"/>
          <p:nvPr/>
        </p:nvSpPr>
        <p:spPr>
          <a:xfrm>
            <a:off x="7272068" y="1345128"/>
            <a:ext cx="4624184" cy="1800493"/>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Primary Drivers</a:t>
            </a:r>
          </a:p>
          <a:p>
            <a:pPr marL="742950" lvl="1"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Violent crime - gun violence</a:t>
            </a:r>
          </a:p>
          <a:p>
            <a:pPr marL="742950" lvl="1"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Organized crime - auto theft</a:t>
            </a:r>
          </a:p>
          <a:p>
            <a:pPr marL="742950" lvl="1"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Illegal firearms</a:t>
            </a:r>
          </a:p>
          <a:p>
            <a:endParaRPr lang="en-CA"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These drivers create a ‘storm’. It needs pre-deployment of resources, particularly in District 4</a:t>
            </a:r>
          </a:p>
        </p:txBody>
      </p:sp>
      <p:pic>
        <p:nvPicPr>
          <p:cNvPr id="9" name="Picture 8">
            <a:extLst>
              <a:ext uri="{FF2B5EF4-FFF2-40B4-BE49-F238E27FC236}">
                <a16:creationId xmlns:a16="http://schemas.microsoft.com/office/drawing/2014/main" id="{191A42A5-0A2E-AD12-6BD5-EAADFF3A1CC6}"/>
              </a:ext>
            </a:extLst>
          </p:cNvPr>
          <p:cNvPicPr>
            <a:picLocks noChangeAspect="1"/>
          </p:cNvPicPr>
          <p:nvPr/>
        </p:nvPicPr>
        <p:blipFill>
          <a:blip r:embed="rId4"/>
          <a:stretch>
            <a:fillRect/>
          </a:stretch>
        </p:blipFill>
        <p:spPr>
          <a:xfrm>
            <a:off x="295749" y="1338224"/>
            <a:ext cx="6811218" cy="5321337"/>
          </a:xfrm>
          <a:prstGeom prst="rect">
            <a:avLst/>
          </a:prstGeom>
        </p:spPr>
      </p:pic>
    </p:spTree>
    <p:extLst>
      <p:ext uri="{BB962C8B-B14F-4D97-AF65-F5344CB8AC3E}">
        <p14:creationId xmlns:p14="http://schemas.microsoft.com/office/powerpoint/2010/main" val="3706230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A3DD8-1C36-EDC7-15A7-71F747BC9310}"/>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2024 Crime Surge: Key Drivers</a:t>
            </a:r>
          </a:p>
        </p:txBody>
      </p:sp>
      <p:sp>
        <p:nvSpPr>
          <p:cNvPr id="3" name="Date Placeholder 2">
            <a:extLst>
              <a:ext uri="{FF2B5EF4-FFF2-40B4-BE49-F238E27FC236}">
                <a16:creationId xmlns:a16="http://schemas.microsoft.com/office/drawing/2014/main" id="{E23E5BDD-B8D7-FF4A-C874-4EFFE8893751}"/>
              </a:ext>
            </a:extLst>
          </p:cNvPr>
          <p:cNvSpPr>
            <a:spLocks noGrp="1"/>
          </p:cNvSpPr>
          <p:nvPr>
            <p:ph type="dt" sz="half" idx="10"/>
          </p:nvPr>
        </p:nvSpPr>
        <p:spPr/>
        <p:txBody>
          <a:bodyPr/>
          <a:lstStyle/>
          <a:p>
            <a:fld id="{84D0D7C9-B2F9-47AB-BD24-D8ADF507BEFC}" type="datetime3">
              <a:rPr lang="en-US" smtClean="0"/>
              <a:t>11 December 2025</a:t>
            </a:fld>
            <a:endParaRPr lang="en-US"/>
          </a:p>
        </p:txBody>
      </p:sp>
      <p:sp>
        <p:nvSpPr>
          <p:cNvPr id="4" name="Footer Placeholder 3">
            <a:extLst>
              <a:ext uri="{FF2B5EF4-FFF2-40B4-BE49-F238E27FC236}">
                <a16:creationId xmlns:a16="http://schemas.microsoft.com/office/drawing/2014/main" id="{2D0B2005-0414-6575-1DEE-3CD85F2EA8C9}"/>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D25C1D73-4CA6-A29E-3ABF-E78BB588F791}"/>
              </a:ext>
            </a:extLst>
          </p:cNvPr>
          <p:cNvSpPr>
            <a:spLocks noGrp="1"/>
          </p:cNvSpPr>
          <p:nvPr>
            <p:ph type="sldNum" sz="quarter" idx="12"/>
          </p:nvPr>
        </p:nvSpPr>
        <p:spPr/>
        <p:txBody>
          <a:bodyPr/>
          <a:lstStyle/>
          <a:p>
            <a:fld id="{C1FF6DA9-008F-8B48-92A6-B652298478BF}" type="slidenum">
              <a:rPr lang="en-US" smtClean="0"/>
              <a:t>8</a:t>
            </a:fld>
            <a:endParaRPr lang="en-US" dirty="0"/>
          </a:p>
        </p:txBody>
      </p:sp>
      <p:pic>
        <p:nvPicPr>
          <p:cNvPr id="13" name="Picture 12">
            <a:extLst>
              <a:ext uri="{FF2B5EF4-FFF2-40B4-BE49-F238E27FC236}">
                <a16:creationId xmlns:a16="http://schemas.microsoft.com/office/drawing/2014/main" id="{A621269D-3812-162E-AF3B-8DB7987392BD}"/>
              </a:ext>
            </a:extLst>
          </p:cNvPr>
          <p:cNvPicPr>
            <a:picLocks noChangeAspect="1"/>
          </p:cNvPicPr>
          <p:nvPr/>
        </p:nvPicPr>
        <p:blipFill>
          <a:blip r:embed="rId3"/>
          <a:stretch>
            <a:fillRect/>
          </a:stretch>
        </p:blipFill>
        <p:spPr>
          <a:xfrm>
            <a:off x="264014" y="1292772"/>
            <a:ext cx="9112471" cy="5428704"/>
          </a:xfrm>
          <a:prstGeom prst="rect">
            <a:avLst/>
          </a:prstGeom>
        </p:spPr>
      </p:pic>
      <p:sp>
        <p:nvSpPr>
          <p:cNvPr id="15" name="TextBox 14">
            <a:extLst>
              <a:ext uri="{FF2B5EF4-FFF2-40B4-BE49-F238E27FC236}">
                <a16:creationId xmlns:a16="http://schemas.microsoft.com/office/drawing/2014/main" id="{80A00AFC-BCDA-D78A-06C0-6EA6DEDB4468}"/>
              </a:ext>
            </a:extLst>
          </p:cNvPr>
          <p:cNvSpPr txBox="1"/>
          <p:nvPr/>
        </p:nvSpPr>
        <p:spPr>
          <a:xfrm>
            <a:off x="9376485" y="1299363"/>
            <a:ext cx="2710739" cy="3108543"/>
          </a:xfrm>
          <a:prstGeom prst="rect">
            <a:avLst/>
          </a:prstGeom>
          <a:noFill/>
        </p:spPr>
        <p:txBody>
          <a:bodyPr wrap="square">
            <a:spAutoFit/>
          </a:bodyPr>
          <a:lstStyle/>
          <a:p>
            <a:pPr>
              <a:buNone/>
            </a:pP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Key Drivers</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Auto Theft </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Gun Violence</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Organized Crime  </a:t>
            </a:r>
          </a:p>
          <a:p>
            <a:pPr>
              <a:buNone/>
            </a:pPr>
            <a:endParaRPr lang="en-CA" sz="11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buNone/>
            </a:pPr>
            <a:r>
              <a:rPr lang="en-CA" sz="1400" b="1" kern="100" dirty="0">
                <a:latin typeface="Times New Roman" panose="02020603050405020304" pitchFamily="18" charset="0"/>
                <a:cs typeface="Times New Roman" panose="02020603050405020304" pitchFamily="18" charset="0"/>
              </a:rPr>
              <a:t>Geographic Hotspot</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District 4: EPICENTER</a:t>
            </a:r>
          </a:p>
          <a:p>
            <a:pPr>
              <a:buNone/>
            </a:pPr>
            <a:endParaRPr lang="en-CA" sz="1100"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CA" sz="1400" b="1" kern="100" dirty="0">
                <a:latin typeface="Times New Roman" panose="02020603050405020304" pitchFamily="18" charset="0"/>
                <a:cs typeface="Times New Roman" panose="02020603050405020304" pitchFamily="18" charset="0"/>
              </a:rPr>
              <a:t>Strategies</a:t>
            </a:r>
          </a:p>
          <a:p>
            <a:pPr marL="171450" indent="-171450">
              <a:buFont typeface="Arial" panose="020B0604020202020204" pitchFamily="34" charset="0"/>
              <a:buChar char="•"/>
            </a:pPr>
            <a:r>
              <a:rPr lang="en-CA" sz="1200" b="1" kern="100" dirty="0">
                <a:latin typeface="Times New Roman" panose="02020603050405020304" pitchFamily="18" charset="0"/>
                <a:cs typeface="Times New Roman" panose="02020603050405020304" pitchFamily="18" charset="0"/>
              </a:rPr>
              <a:t>Immediately</a:t>
            </a:r>
            <a:r>
              <a:rPr lang="en-CA" sz="1200" kern="100" dirty="0">
                <a:latin typeface="Times New Roman" panose="02020603050405020304" pitchFamily="18" charset="0"/>
                <a:cs typeface="Times New Roman" panose="02020603050405020304" pitchFamily="18" charset="0"/>
              </a:rPr>
              <a:t> Deploy 60% of new tactical unit capacity and 50% of organized crime investigative resources to District 4</a:t>
            </a:r>
          </a:p>
          <a:p>
            <a:pPr marL="171450" indent="-171450">
              <a:buFont typeface="Arial" panose="020B0604020202020204" pitchFamily="34" charset="0"/>
              <a:buChar char="•"/>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Enhance evening and overnight patrol</a:t>
            </a:r>
          </a:p>
          <a:p>
            <a:pPr marL="171450" indent="-171450">
              <a:buFont typeface="Arial" panose="020B0604020202020204" pitchFamily="34" charset="0"/>
              <a:buChar char="•"/>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Implement summer surge plan for 2026</a:t>
            </a:r>
          </a:p>
        </p:txBody>
      </p:sp>
    </p:spTree>
    <p:extLst>
      <p:ext uri="{BB962C8B-B14F-4D97-AF65-F5344CB8AC3E}">
        <p14:creationId xmlns:p14="http://schemas.microsoft.com/office/powerpoint/2010/main" val="274813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AF73C-ECFE-8E81-E908-F6DD7774FBC9}"/>
              </a:ext>
            </a:extLst>
          </p:cNvPr>
          <p:cNvSpPr>
            <a:spLocks noGrp="1"/>
          </p:cNvSpPr>
          <p:nvPr>
            <p:ph type="title"/>
          </p:nvPr>
        </p:nvSpPr>
        <p:spPr/>
        <p:txBody>
          <a:bodyPr>
            <a:normAutofit fontScale="90000"/>
          </a:bodyPr>
          <a:lstStyle/>
          <a:p>
            <a:r>
              <a:rPr lang="en-CA" b="1" dirty="0">
                <a:latin typeface="Times New Roman" panose="02020603050405020304" pitchFamily="18" charset="0"/>
                <a:cs typeface="Times New Roman" panose="02020603050405020304" pitchFamily="18" charset="0"/>
              </a:rPr>
              <a:t>Multi-Data Sources for Crime ML/AI Modeling</a:t>
            </a:r>
          </a:p>
        </p:txBody>
      </p:sp>
      <p:sp>
        <p:nvSpPr>
          <p:cNvPr id="3" name="Date Placeholder 2">
            <a:extLst>
              <a:ext uri="{FF2B5EF4-FFF2-40B4-BE49-F238E27FC236}">
                <a16:creationId xmlns:a16="http://schemas.microsoft.com/office/drawing/2014/main" id="{670EA120-6BC8-53A7-8313-9135F15224A6}"/>
              </a:ext>
            </a:extLst>
          </p:cNvPr>
          <p:cNvSpPr>
            <a:spLocks noGrp="1"/>
          </p:cNvSpPr>
          <p:nvPr>
            <p:ph type="dt" sz="half" idx="10"/>
          </p:nvPr>
        </p:nvSpPr>
        <p:spPr/>
        <p:txBody>
          <a:bodyPr/>
          <a:lstStyle/>
          <a:p>
            <a:fld id="{BADAA031-2DAC-4001-B51A-4F817F86F5D2}" type="datetime3">
              <a:rPr lang="en-US" smtClean="0"/>
              <a:t>11 December 2025</a:t>
            </a:fld>
            <a:endParaRPr lang="en-US"/>
          </a:p>
        </p:txBody>
      </p:sp>
      <p:sp>
        <p:nvSpPr>
          <p:cNvPr id="4" name="Footer Placeholder 3">
            <a:extLst>
              <a:ext uri="{FF2B5EF4-FFF2-40B4-BE49-F238E27FC236}">
                <a16:creationId xmlns:a16="http://schemas.microsoft.com/office/drawing/2014/main" id="{AFA080E7-C844-EDF3-1BB1-425B2C94EAC4}"/>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0B1EA2DA-C808-58C4-AF61-2D9271BCE0A2}"/>
              </a:ext>
            </a:extLst>
          </p:cNvPr>
          <p:cNvSpPr>
            <a:spLocks noGrp="1"/>
          </p:cNvSpPr>
          <p:nvPr>
            <p:ph type="sldNum" sz="quarter" idx="12"/>
          </p:nvPr>
        </p:nvSpPr>
        <p:spPr/>
        <p:txBody>
          <a:bodyPr/>
          <a:lstStyle/>
          <a:p>
            <a:fld id="{C1FF6DA9-008F-8B48-92A6-B652298478BF}" type="slidenum">
              <a:rPr lang="en-US" smtClean="0"/>
              <a:t>9</a:t>
            </a:fld>
            <a:endParaRPr lang="en-US"/>
          </a:p>
        </p:txBody>
      </p:sp>
      <p:graphicFrame>
        <p:nvGraphicFramePr>
          <p:cNvPr id="8" name="Table 7">
            <a:extLst>
              <a:ext uri="{FF2B5EF4-FFF2-40B4-BE49-F238E27FC236}">
                <a16:creationId xmlns:a16="http://schemas.microsoft.com/office/drawing/2014/main" id="{4FD73872-84B2-41D5-BC71-CA68C4C187AB}"/>
              </a:ext>
            </a:extLst>
          </p:cNvPr>
          <p:cNvGraphicFramePr>
            <a:graphicFrameLocks noGrp="1"/>
          </p:cNvGraphicFramePr>
          <p:nvPr>
            <p:extLst>
              <p:ext uri="{D42A27DB-BD31-4B8C-83A1-F6EECF244321}">
                <p14:modId xmlns:p14="http://schemas.microsoft.com/office/powerpoint/2010/main" val="2773730749"/>
              </p:ext>
            </p:extLst>
          </p:nvPr>
        </p:nvGraphicFramePr>
        <p:xfrm>
          <a:off x="525517" y="1333760"/>
          <a:ext cx="11056884" cy="2418430"/>
        </p:xfrm>
        <a:graphic>
          <a:graphicData uri="http://schemas.openxmlformats.org/drawingml/2006/table">
            <a:tbl>
              <a:tblPr firstRow="1" bandRow="1">
                <a:tableStyleId>{5C22544A-7EE6-4342-B048-85BDC9FD1C3A}</a:tableStyleId>
              </a:tblPr>
              <a:tblGrid>
                <a:gridCol w="2764221">
                  <a:extLst>
                    <a:ext uri="{9D8B030D-6E8A-4147-A177-3AD203B41FA5}">
                      <a16:colId xmlns:a16="http://schemas.microsoft.com/office/drawing/2014/main" val="20000"/>
                    </a:ext>
                  </a:extLst>
                </a:gridCol>
                <a:gridCol w="2764221">
                  <a:extLst>
                    <a:ext uri="{9D8B030D-6E8A-4147-A177-3AD203B41FA5}">
                      <a16:colId xmlns:a16="http://schemas.microsoft.com/office/drawing/2014/main" val="20001"/>
                    </a:ext>
                  </a:extLst>
                </a:gridCol>
                <a:gridCol w="2764221">
                  <a:extLst>
                    <a:ext uri="{9D8B030D-6E8A-4147-A177-3AD203B41FA5}">
                      <a16:colId xmlns:a16="http://schemas.microsoft.com/office/drawing/2014/main" val="20002"/>
                    </a:ext>
                  </a:extLst>
                </a:gridCol>
                <a:gridCol w="2764221">
                  <a:extLst>
                    <a:ext uri="{9D8B030D-6E8A-4147-A177-3AD203B41FA5}">
                      <a16:colId xmlns:a16="http://schemas.microsoft.com/office/drawing/2014/main" val="20003"/>
                    </a:ext>
                  </a:extLst>
                </a:gridCol>
              </a:tblGrid>
              <a:tr h="406750">
                <a:tc>
                  <a:txBody>
                    <a:bodyPr/>
                    <a:lstStyle/>
                    <a:p>
                      <a:pPr algn="ctr">
                        <a:defRPr sz="1000" b="1">
                          <a:solidFill>
                            <a:srgbClr val="FFFFFF"/>
                          </a:solidFill>
                        </a:defRPr>
                      </a:pPr>
                      <a:r>
                        <a:t>DATA SOURCE</a:t>
                      </a:r>
                    </a:p>
                  </a:txBody>
                  <a:tcPr>
                    <a:solidFill>
                      <a:srgbClr val="2C3E50"/>
                    </a:solidFill>
                  </a:tcPr>
                </a:tc>
                <a:tc>
                  <a:txBody>
                    <a:bodyPr/>
                    <a:lstStyle/>
                    <a:p>
                      <a:pPr algn="ctr">
                        <a:defRPr sz="1000" b="1">
                          <a:solidFill>
                            <a:srgbClr val="FFFFFF"/>
                          </a:solidFill>
                        </a:defRPr>
                      </a:pPr>
                      <a:r>
                        <a:t>TIME PERIOD</a:t>
                      </a:r>
                    </a:p>
                  </a:txBody>
                  <a:tcPr>
                    <a:solidFill>
                      <a:srgbClr val="2C3E50"/>
                    </a:solidFill>
                  </a:tcPr>
                </a:tc>
                <a:tc>
                  <a:txBody>
                    <a:bodyPr/>
                    <a:lstStyle/>
                    <a:p>
                      <a:pPr algn="ctr">
                        <a:defRPr sz="1000" b="1">
                          <a:solidFill>
                            <a:srgbClr val="FFFFFF"/>
                          </a:solidFill>
                        </a:defRPr>
                      </a:pPr>
                      <a:r>
                        <a:t>KEY VARIABLES</a:t>
                      </a:r>
                    </a:p>
                  </a:txBody>
                  <a:tcPr>
                    <a:solidFill>
                      <a:srgbClr val="2C3E50"/>
                    </a:solidFill>
                  </a:tcPr>
                </a:tc>
                <a:tc>
                  <a:txBody>
                    <a:bodyPr/>
                    <a:lstStyle/>
                    <a:p>
                      <a:pPr algn="ctr">
                        <a:defRPr sz="1000" b="1">
                          <a:solidFill>
                            <a:srgbClr val="FFFFFF"/>
                          </a:solidFill>
                        </a:defRPr>
                      </a:pPr>
                      <a:r>
                        <a:t>STRATEGIC PURPOSE</a:t>
                      </a:r>
                    </a:p>
                  </a:txBody>
                  <a:tcPr>
                    <a:solidFill>
                      <a:srgbClr val="2C3E50"/>
                    </a:solidFill>
                  </a:tcPr>
                </a:tc>
                <a:extLst>
                  <a:ext uri="{0D108BD9-81ED-4DB2-BD59-A6C34878D82A}">
                    <a16:rowId xmlns:a16="http://schemas.microsoft.com/office/drawing/2014/main" val="10000"/>
                  </a:ext>
                </a:extLst>
              </a:tr>
              <a:tr h="406750">
                <a:tc>
                  <a:txBody>
                    <a:bodyPr/>
                    <a:lstStyle/>
                    <a:p>
                      <a:pPr>
                        <a:defRPr sz="900"/>
                      </a:pPr>
                      <a:r>
                        <a:t>911 Calls Data</a:t>
                      </a:r>
                    </a:p>
                    <a:p>
                      <a:pPr>
                        <a:defRPr sz="900"/>
                      </a:pPr>
                      <a:r>
                        <a:t>YRP Open Data Portal</a:t>
                      </a:r>
                    </a:p>
                  </a:txBody>
                  <a:tcPr>
                    <a:solidFill>
                      <a:srgbClr val="FFFFFF"/>
                    </a:solidFill>
                  </a:tcPr>
                </a:tc>
                <a:tc>
                  <a:txBody>
                    <a:bodyPr/>
                    <a:lstStyle/>
                    <a:p>
                      <a:pPr>
                        <a:defRPr sz="900"/>
                      </a:pPr>
                      <a:r>
                        <a:t>2022-2024</a:t>
                      </a:r>
                    </a:p>
                  </a:txBody>
                  <a:tcPr>
                    <a:solidFill>
                      <a:srgbClr val="FFFFFF"/>
                    </a:solidFill>
                  </a:tcPr>
                </a:tc>
                <a:tc>
                  <a:txBody>
                    <a:bodyPr/>
                    <a:lstStyle/>
                    <a:p>
                      <a:pPr>
                        <a:defRPr sz="900"/>
                      </a:pPr>
                      <a:r>
                        <a:t>• Call Date &amp; Time</a:t>
                      </a:r>
                    </a:p>
                    <a:p>
                      <a:pPr>
                        <a:defRPr sz="900"/>
                      </a:pPr>
                      <a:r>
                        <a:t>• Incident Classification</a:t>
                      </a:r>
                    </a:p>
                    <a:p>
                      <a:pPr>
                        <a:defRPr sz="900"/>
                      </a:pPr>
                      <a:r>
                        <a:t>• Geographic Location</a:t>
                      </a:r>
                    </a:p>
                  </a:txBody>
                  <a:tcPr>
                    <a:solidFill>
                      <a:srgbClr val="FFFFFF"/>
                    </a:solidFill>
                  </a:tcPr>
                </a:tc>
                <a:tc>
                  <a:txBody>
                    <a:bodyPr/>
                    <a:lstStyle/>
                    <a:p>
                      <a:pPr>
                        <a:defRPr sz="900"/>
                      </a:pPr>
                      <a:r>
                        <a:t>Primary crime trend analysis</a:t>
                      </a:r>
                    </a:p>
                    <a:p>
                      <a:pPr>
                        <a:defRPr sz="900"/>
                      </a:pPr>
                      <a:r>
                        <a:t>Real-time response optimization</a:t>
                      </a:r>
                    </a:p>
                  </a:txBody>
                  <a:tcPr>
                    <a:solidFill>
                      <a:srgbClr val="FFFFFF"/>
                    </a:solidFill>
                  </a:tcPr>
                </a:tc>
                <a:extLst>
                  <a:ext uri="{0D108BD9-81ED-4DB2-BD59-A6C34878D82A}">
                    <a16:rowId xmlns:a16="http://schemas.microsoft.com/office/drawing/2014/main" val="10001"/>
                  </a:ext>
                </a:extLst>
              </a:tr>
              <a:tr h="406750">
                <a:tc>
                  <a:txBody>
                    <a:bodyPr/>
                    <a:lstStyle/>
                    <a:p>
                      <a:pPr>
                        <a:defRPr sz="900"/>
                      </a:pPr>
                      <a:r>
                        <a:t>Community Safety</a:t>
                      </a:r>
                    </a:p>
                    <a:p>
                      <a:pPr>
                        <a:defRPr sz="900"/>
                      </a:pPr>
                      <a:r>
                        <a:t>YRP Community Portal</a:t>
                      </a:r>
                    </a:p>
                  </a:txBody>
                  <a:tcPr>
                    <a:solidFill>
                      <a:srgbClr val="F8F9FA"/>
                    </a:solidFill>
                  </a:tcPr>
                </a:tc>
                <a:tc>
                  <a:txBody>
                    <a:bodyPr/>
                    <a:lstStyle/>
                    <a:p>
                      <a:pPr>
                        <a:defRPr sz="900"/>
                      </a:pPr>
                      <a:r>
                        <a:t>Year-to-Date</a:t>
                      </a:r>
                    </a:p>
                  </a:txBody>
                  <a:tcPr>
                    <a:solidFill>
                      <a:srgbClr val="F8F9FA"/>
                    </a:solidFill>
                  </a:tcPr>
                </a:tc>
                <a:tc>
                  <a:txBody>
                    <a:bodyPr/>
                    <a:lstStyle/>
                    <a:p>
                      <a:pPr>
                        <a:defRPr sz="900"/>
                      </a:pPr>
                      <a:r>
                        <a:t>• Shooting Incidents</a:t>
                      </a:r>
                    </a:p>
                    <a:p>
                      <a:pPr>
                        <a:defRPr sz="900"/>
                      </a:pPr>
                      <a:r>
                        <a:t>• Hate Crime Reports</a:t>
                      </a:r>
                    </a:p>
                    <a:p>
                      <a:pPr>
                        <a:defRPr sz="900"/>
                      </a:pPr>
                      <a:r>
                        <a:t>• Community Engagement</a:t>
                      </a:r>
                    </a:p>
                  </a:txBody>
                  <a:tcPr>
                    <a:solidFill>
                      <a:srgbClr val="F8F9FA"/>
                    </a:solidFill>
                  </a:tcPr>
                </a:tc>
                <a:tc>
                  <a:txBody>
                    <a:bodyPr/>
                    <a:lstStyle/>
                    <a:p>
                      <a:pPr>
                        <a:defRPr sz="900"/>
                      </a:pPr>
                      <a:r>
                        <a:rPr dirty="0"/>
                        <a:t>Violent crime pattern analysis</a:t>
                      </a:r>
                    </a:p>
                    <a:p>
                      <a:pPr>
                        <a:defRPr sz="900"/>
                      </a:pPr>
                      <a:r>
                        <a:rPr dirty="0"/>
                        <a:t>Community trust indicators</a:t>
                      </a:r>
                    </a:p>
                  </a:txBody>
                  <a:tcPr>
                    <a:solidFill>
                      <a:srgbClr val="F8F9FA"/>
                    </a:solidFill>
                  </a:tcPr>
                </a:tc>
                <a:extLst>
                  <a:ext uri="{0D108BD9-81ED-4DB2-BD59-A6C34878D82A}">
                    <a16:rowId xmlns:a16="http://schemas.microsoft.com/office/drawing/2014/main" val="10002"/>
                  </a:ext>
                </a:extLst>
              </a:tr>
              <a:tr h="406750">
                <a:tc>
                  <a:txBody>
                    <a:bodyPr/>
                    <a:lstStyle/>
                    <a:p>
                      <a:pPr>
                        <a:defRPr sz="900"/>
                      </a:pPr>
                      <a:r>
                        <a:rPr dirty="0"/>
                        <a:t>Road Safety</a:t>
                      </a:r>
                    </a:p>
                    <a:p>
                      <a:pPr>
                        <a:defRPr sz="900"/>
                      </a:pPr>
                      <a:r>
                        <a:rPr dirty="0"/>
                        <a:t>Municipal Open Data</a:t>
                      </a:r>
                    </a:p>
                  </a:txBody>
                  <a:tcPr>
                    <a:solidFill>
                      <a:srgbClr val="FFFFFF"/>
                    </a:solidFill>
                  </a:tcPr>
                </a:tc>
                <a:tc>
                  <a:txBody>
                    <a:bodyPr/>
                    <a:lstStyle/>
                    <a:p>
                      <a:pPr>
                        <a:defRPr sz="900"/>
                      </a:pPr>
                      <a:r>
                        <a:t>2020-2024</a:t>
                      </a:r>
                    </a:p>
                  </a:txBody>
                  <a:tcPr>
                    <a:solidFill>
                      <a:srgbClr val="FFFFFF"/>
                    </a:solidFill>
                  </a:tcPr>
                </a:tc>
                <a:tc>
                  <a:txBody>
                    <a:bodyPr/>
                    <a:lstStyle/>
                    <a:p>
                      <a:pPr>
                        <a:defRPr sz="900"/>
                      </a:pPr>
                      <a:r>
                        <a:t>• Collision Locations</a:t>
                      </a:r>
                    </a:p>
                    <a:p>
                      <a:pPr>
                        <a:defRPr sz="900"/>
                      </a:pPr>
                      <a:r>
                        <a:t>• Impaired Driving</a:t>
                      </a:r>
                    </a:p>
                    <a:p>
                      <a:pPr>
                        <a:defRPr sz="900"/>
                      </a:pPr>
                      <a:r>
                        <a:t>• Traffic Violations</a:t>
                      </a:r>
                    </a:p>
                  </a:txBody>
                  <a:tcPr>
                    <a:solidFill>
                      <a:srgbClr val="FFFFFF"/>
                    </a:solidFill>
                  </a:tcPr>
                </a:tc>
                <a:tc>
                  <a:txBody>
                    <a:bodyPr/>
                    <a:lstStyle/>
                    <a:p>
                      <a:pPr>
                        <a:defRPr sz="900"/>
                      </a:pPr>
                      <a:r>
                        <a:t>Public safety correlation</a:t>
                      </a:r>
                    </a:p>
                    <a:p>
                      <a:pPr>
                        <a:defRPr sz="900"/>
                      </a:pPr>
                      <a:r>
                        <a:t>Traffic enforcement optimization</a:t>
                      </a:r>
                    </a:p>
                  </a:txBody>
                  <a:tcPr>
                    <a:solidFill>
                      <a:srgbClr val="FFFFFF"/>
                    </a:solidFill>
                  </a:tcPr>
                </a:tc>
                <a:extLst>
                  <a:ext uri="{0D108BD9-81ED-4DB2-BD59-A6C34878D82A}">
                    <a16:rowId xmlns:a16="http://schemas.microsoft.com/office/drawing/2014/main" val="10003"/>
                  </a:ext>
                </a:extLst>
              </a:tr>
              <a:tr h="406750">
                <a:tc>
                  <a:txBody>
                    <a:bodyPr/>
                    <a:lstStyle/>
                    <a:p>
                      <a:pPr>
                        <a:defRPr sz="900"/>
                      </a:pPr>
                      <a:r>
                        <a:rPr dirty="0"/>
                        <a:t>Weather Data</a:t>
                      </a:r>
                    </a:p>
                    <a:p>
                      <a:pPr>
                        <a:defRPr sz="900"/>
                      </a:pPr>
                      <a:r>
                        <a:rPr dirty="0"/>
                        <a:t>Environment Canada</a:t>
                      </a:r>
                    </a:p>
                  </a:txBody>
                  <a:tcPr>
                    <a:solidFill>
                      <a:srgbClr val="F8F9FA"/>
                    </a:solidFill>
                  </a:tcPr>
                </a:tc>
                <a:tc>
                  <a:txBody>
                    <a:bodyPr/>
                    <a:lstStyle/>
                    <a:p>
                      <a:pPr>
                        <a:defRPr sz="900"/>
                      </a:pPr>
                      <a:r>
                        <a:t>2022-2025</a:t>
                      </a:r>
                    </a:p>
                  </a:txBody>
                  <a:tcPr>
                    <a:solidFill>
                      <a:srgbClr val="F8F9FA"/>
                    </a:solidFill>
                  </a:tcPr>
                </a:tc>
                <a:tc>
                  <a:txBody>
                    <a:bodyPr/>
                    <a:lstStyle/>
                    <a:p>
                      <a:pPr>
                        <a:defRPr sz="900"/>
                      </a:pPr>
                      <a:r>
                        <a:t>• Temperature Extremes</a:t>
                      </a:r>
                    </a:p>
                    <a:p>
                      <a:pPr>
                        <a:defRPr sz="900"/>
                      </a:pPr>
                      <a:r>
                        <a:t>• Precipitation Levels</a:t>
                      </a:r>
                    </a:p>
                    <a:p>
                      <a:pPr>
                        <a:defRPr sz="900"/>
                      </a:pPr>
                      <a:r>
                        <a:t>• Seasonal Patterns</a:t>
                      </a:r>
                    </a:p>
                  </a:txBody>
                  <a:tcPr>
                    <a:solidFill>
                      <a:srgbClr val="F8F9FA"/>
                    </a:solidFill>
                  </a:tcPr>
                </a:tc>
                <a:tc>
                  <a:txBody>
                    <a:bodyPr/>
                    <a:lstStyle/>
                    <a:p>
                      <a:pPr>
                        <a:defRPr sz="900"/>
                      </a:pPr>
                      <a:r>
                        <a:rPr dirty="0"/>
                        <a:t>Environmental factor modeling</a:t>
                      </a:r>
                    </a:p>
                    <a:p>
                      <a:pPr>
                        <a:defRPr sz="900"/>
                      </a:pPr>
                      <a:r>
                        <a:rPr dirty="0"/>
                        <a:t>Seasonal crime forecasting</a:t>
                      </a:r>
                    </a:p>
                  </a:txBody>
                  <a:tcPr>
                    <a:solidFill>
                      <a:srgbClr val="F8F9FA"/>
                    </a:solidFill>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C061C3CA-600B-FF4C-0A46-494BB7B4A523}"/>
              </a:ext>
            </a:extLst>
          </p:cNvPr>
          <p:cNvGraphicFramePr>
            <a:graphicFrameLocks noGrp="1"/>
          </p:cNvGraphicFramePr>
          <p:nvPr>
            <p:extLst>
              <p:ext uri="{D42A27DB-BD31-4B8C-83A1-F6EECF244321}">
                <p14:modId xmlns:p14="http://schemas.microsoft.com/office/powerpoint/2010/main" val="228493876"/>
              </p:ext>
            </p:extLst>
          </p:nvPr>
        </p:nvGraphicFramePr>
        <p:xfrm>
          <a:off x="4193627" y="4326383"/>
          <a:ext cx="3673539" cy="2048256"/>
        </p:xfrm>
        <a:graphic>
          <a:graphicData uri="http://schemas.openxmlformats.org/drawingml/2006/table">
            <a:tbl>
              <a:tblPr firstRow="1" bandRow="1">
                <a:tableStyleId>{5C22544A-7EE6-4342-B048-85BDC9FD1C3A}</a:tableStyleId>
              </a:tblPr>
              <a:tblGrid>
                <a:gridCol w="1224513">
                  <a:extLst>
                    <a:ext uri="{9D8B030D-6E8A-4147-A177-3AD203B41FA5}">
                      <a16:colId xmlns:a16="http://schemas.microsoft.com/office/drawing/2014/main" val="20000"/>
                    </a:ext>
                  </a:extLst>
                </a:gridCol>
                <a:gridCol w="1224513">
                  <a:extLst>
                    <a:ext uri="{9D8B030D-6E8A-4147-A177-3AD203B41FA5}">
                      <a16:colId xmlns:a16="http://schemas.microsoft.com/office/drawing/2014/main" val="20001"/>
                    </a:ext>
                  </a:extLst>
                </a:gridCol>
                <a:gridCol w="1224513">
                  <a:extLst>
                    <a:ext uri="{9D8B030D-6E8A-4147-A177-3AD203B41FA5}">
                      <a16:colId xmlns:a16="http://schemas.microsoft.com/office/drawing/2014/main" val="20002"/>
                    </a:ext>
                  </a:extLst>
                </a:gridCol>
              </a:tblGrid>
              <a:tr h="402336">
                <a:tc>
                  <a:txBody>
                    <a:bodyPr/>
                    <a:lstStyle/>
                    <a:p>
                      <a:pPr algn="ctr">
                        <a:defRPr sz="800" b="1">
                          <a:solidFill>
                            <a:srgbClr val="FFFFFF"/>
                          </a:solidFill>
                          <a:latin typeface="Calibri"/>
                        </a:defRPr>
                      </a:pPr>
                      <a:r>
                        <a:t>DATA CATEGORY</a:t>
                      </a:r>
                    </a:p>
                  </a:txBody>
                  <a:tcPr>
                    <a:solidFill>
                      <a:srgbClr val="2C3E50"/>
                    </a:solidFill>
                  </a:tcPr>
                </a:tc>
                <a:tc>
                  <a:txBody>
                    <a:bodyPr/>
                    <a:lstStyle/>
                    <a:p>
                      <a:pPr algn="ctr">
                        <a:defRPr sz="800" b="1">
                          <a:solidFill>
                            <a:srgbClr val="FFFFFF"/>
                          </a:solidFill>
                          <a:latin typeface="Calibri"/>
                        </a:defRPr>
                      </a:pPr>
                      <a:r>
                        <a:rPr dirty="0"/>
                        <a:t>IMPORTANCE</a:t>
                      </a:r>
                    </a:p>
                  </a:txBody>
                  <a:tcPr>
                    <a:solidFill>
                      <a:srgbClr val="2C3E50"/>
                    </a:solidFill>
                  </a:tcPr>
                </a:tc>
                <a:tc>
                  <a:txBody>
                    <a:bodyPr/>
                    <a:lstStyle/>
                    <a:p>
                      <a:pPr algn="ctr">
                        <a:defRPr sz="800" b="1">
                          <a:solidFill>
                            <a:srgbClr val="FFFFFF"/>
                          </a:solidFill>
                          <a:latin typeface="Calibri"/>
                        </a:defRPr>
                      </a:pPr>
                      <a:r>
                        <a:t>KEY INSIGHTS</a:t>
                      </a:r>
                    </a:p>
                  </a:txBody>
                  <a:tcPr>
                    <a:solidFill>
                      <a:srgbClr val="2C3E50"/>
                    </a:solidFill>
                  </a:tcPr>
                </a:tc>
                <a:extLst>
                  <a:ext uri="{0D108BD9-81ED-4DB2-BD59-A6C34878D82A}">
                    <a16:rowId xmlns:a16="http://schemas.microsoft.com/office/drawing/2014/main" val="10000"/>
                  </a:ext>
                </a:extLst>
              </a:tr>
              <a:tr h="402336">
                <a:tc>
                  <a:txBody>
                    <a:bodyPr/>
                    <a:lstStyle/>
                    <a:p>
                      <a:pPr algn="l">
                        <a:defRPr sz="700">
                          <a:solidFill>
                            <a:srgbClr val="333333"/>
                          </a:solidFill>
                          <a:latin typeface="Calibri"/>
                        </a:defRPr>
                      </a:pPr>
                      <a:r>
                        <a:t>Historical Patterns</a:t>
                      </a:r>
                    </a:p>
                  </a:txBody>
                  <a:tcPr>
                    <a:solidFill>
                      <a:srgbClr val="FFFFFF"/>
                    </a:solidFill>
                  </a:tcPr>
                </a:tc>
                <a:tc>
                  <a:txBody>
                    <a:bodyPr/>
                    <a:lstStyle/>
                    <a:p>
                      <a:pPr algn="l">
                        <a:defRPr sz="700">
                          <a:solidFill>
                            <a:srgbClr val="333333"/>
                          </a:solidFill>
                          <a:latin typeface="Calibri"/>
                        </a:defRPr>
                      </a:pPr>
                      <a:r>
                        <a:t>68.3%</a:t>
                      </a:r>
                    </a:p>
                  </a:txBody>
                  <a:tcPr>
                    <a:solidFill>
                      <a:srgbClr val="FFFFFF"/>
                    </a:solidFill>
                  </a:tcPr>
                </a:tc>
                <a:tc>
                  <a:txBody>
                    <a:bodyPr/>
                    <a:lstStyle/>
                    <a:p>
                      <a:pPr algn="l">
                        <a:defRPr sz="700">
                          <a:solidFill>
                            <a:srgbClr val="333333"/>
                          </a:solidFill>
                          <a:latin typeface="Calibri"/>
                        </a:defRPr>
                      </a:pPr>
                      <a:r>
                        <a:t>• Weekend crime peaks</a:t>
                      </a:r>
                    </a:p>
                    <a:p>
                      <a:pPr algn="l">
                        <a:defRPr sz="700">
                          <a:solidFill>
                            <a:srgbClr val="333333"/>
                          </a:solidFill>
                          <a:latin typeface="Calibri"/>
                        </a:defRPr>
                      </a:pPr>
                      <a:r>
                        <a:t>• Summer surge patterns</a:t>
                      </a:r>
                    </a:p>
                    <a:p>
                      <a:pPr algn="l">
                        <a:defRPr sz="700">
                          <a:solidFill>
                            <a:srgbClr val="333333"/>
                          </a:solidFill>
                          <a:latin typeface="Calibri"/>
                        </a:defRPr>
                      </a:pPr>
                      <a:r>
                        <a:t>• Monthly cycles</a:t>
                      </a:r>
                    </a:p>
                  </a:txBody>
                  <a:tcPr>
                    <a:solidFill>
                      <a:srgbClr val="FFFFFF"/>
                    </a:solidFill>
                  </a:tcPr>
                </a:tc>
                <a:extLst>
                  <a:ext uri="{0D108BD9-81ED-4DB2-BD59-A6C34878D82A}">
                    <a16:rowId xmlns:a16="http://schemas.microsoft.com/office/drawing/2014/main" val="10001"/>
                  </a:ext>
                </a:extLst>
              </a:tr>
              <a:tr h="402336">
                <a:tc>
                  <a:txBody>
                    <a:bodyPr/>
                    <a:lstStyle/>
                    <a:p>
                      <a:pPr algn="l">
                        <a:defRPr sz="700">
                          <a:solidFill>
                            <a:srgbClr val="333333"/>
                          </a:solidFill>
                          <a:latin typeface="Calibri"/>
                        </a:defRPr>
                      </a:pPr>
                      <a:r>
                        <a:t>Community Safety</a:t>
                      </a:r>
                    </a:p>
                  </a:txBody>
                  <a:tcPr>
                    <a:solidFill>
                      <a:srgbClr val="F8F9FA"/>
                    </a:solidFill>
                  </a:tcPr>
                </a:tc>
                <a:tc>
                  <a:txBody>
                    <a:bodyPr/>
                    <a:lstStyle/>
                    <a:p>
                      <a:pPr algn="l">
                        <a:defRPr sz="700">
                          <a:solidFill>
                            <a:srgbClr val="333333"/>
                          </a:solidFill>
                          <a:latin typeface="Calibri"/>
                        </a:defRPr>
                      </a:pPr>
                      <a:r>
                        <a:t>12.1%</a:t>
                      </a:r>
                    </a:p>
                  </a:txBody>
                  <a:tcPr>
                    <a:solidFill>
                      <a:srgbClr val="F8F9FA"/>
                    </a:solidFill>
                  </a:tcPr>
                </a:tc>
                <a:tc>
                  <a:txBody>
                    <a:bodyPr/>
                    <a:lstStyle/>
                    <a:p>
                      <a:pPr algn="l">
                        <a:defRPr sz="700">
                          <a:solidFill>
                            <a:srgbClr val="333333"/>
                          </a:solidFill>
                          <a:latin typeface="Calibri"/>
                        </a:defRPr>
                      </a:pPr>
                      <a:r>
                        <a:t>• Shooting clusters</a:t>
                      </a:r>
                    </a:p>
                    <a:p>
                      <a:pPr algn="l">
                        <a:defRPr sz="700">
                          <a:solidFill>
                            <a:srgbClr val="333333"/>
                          </a:solidFill>
                          <a:latin typeface="Calibri"/>
                        </a:defRPr>
                      </a:pPr>
                      <a:r>
                        <a:t>• Hate crime correlation</a:t>
                      </a:r>
                    </a:p>
                    <a:p>
                      <a:pPr algn="l">
                        <a:defRPr sz="700">
                          <a:solidFill>
                            <a:srgbClr val="333333"/>
                          </a:solidFill>
                          <a:latin typeface="Calibri"/>
                        </a:defRPr>
                      </a:pPr>
                      <a:r>
                        <a:t>• Community sentiment</a:t>
                      </a:r>
                    </a:p>
                  </a:txBody>
                  <a:tcPr>
                    <a:solidFill>
                      <a:srgbClr val="F8F9FA"/>
                    </a:solidFill>
                  </a:tcPr>
                </a:tc>
                <a:extLst>
                  <a:ext uri="{0D108BD9-81ED-4DB2-BD59-A6C34878D82A}">
                    <a16:rowId xmlns:a16="http://schemas.microsoft.com/office/drawing/2014/main" val="10002"/>
                  </a:ext>
                </a:extLst>
              </a:tr>
              <a:tr h="402336">
                <a:tc>
                  <a:txBody>
                    <a:bodyPr/>
                    <a:lstStyle/>
                    <a:p>
                      <a:pPr algn="l">
                        <a:defRPr sz="700">
                          <a:solidFill>
                            <a:srgbClr val="333333"/>
                          </a:solidFill>
                          <a:latin typeface="Calibri"/>
                        </a:defRPr>
                      </a:pPr>
                      <a:r>
                        <a:t>Road Safety</a:t>
                      </a:r>
                    </a:p>
                  </a:txBody>
                  <a:tcPr>
                    <a:solidFill>
                      <a:srgbClr val="FFFFFF"/>
                    </a:solidFill>
                  </a:tcPr>
                </a:tc>
                <a:tc>
                  <a:txBody>
                    <a:bodyPr/>
                    <a:lstStyle/>
                    <a:p>
                      <a:pPr algn="l">
                        <a:defRPr sz="700">
                          <a:solidFill>
                            <a:srgbClr val="333333"/>
                          </a:solidFill>
                          <a:latin typeface="Calibri"/>
                        </a:defRPr>
                      </a:pPr>
                      <a:r>
                        <a:rPr dirty="0"/>
                        <a:t>8.2%</a:t>
                      </a:r>
                    </a:p>
                  </a:txBody>
                  <a:tcPr>
                    <a:solidFill>
                      <a:srgbClr val="FFFFFF"/>
                    </a:solidFill>
                  </a:tcPr>
                </a:tc>
                <a:tc>
                  <a:txBody>
                    <a:bodyPr/>
                    <a:lstStyle/>
                    <a:p>
                      <a:pPr algn="l">
                        <a:defRPr sz="700">
                          <a:solidFill>
                            <a:srgbClr val="333333"/>
                          </a:solidFill>
                          <a:latin typeface="Calibri"/>
                        </a:defRPr>
                      </a:pPr>
                      <a:r>
                        <a:t>• Accident-crime hotspots</a:t>
                      </a:r>
                    </a:p>
                    <a:p>
                      <a:pPr algn="l">
                        <a:defRPr sz="700">
                          <a:solidFill>
                            <a:srgbClr val="333333"/>
                          </a:solidFill>
                          <a:latin typeface="Calibri"/>
                        </a:defRPr>
                      </a:pPr>
                      <a:r>
                        <a:t>• DUI-violence correlation</a:t>
                      </a:r>
                    </a:p>
                    <a:p>
                      <a:pPr algn="l">
                        <a:defRPr sz="700">
                          <a:solidFill>
                            <a:srgbClr val="333333"/>
                          </a:solidFill>
                          <a:latin typeface="Calibri"/>
                        </a:defRPr>
                      </a:pPr>
                      <a:r>
                        <a:t>• Traffic risks</a:t>
                      </a:r>
                    </a:p>
                  </a:txBody>
                  <a:tcPr>
                    <a:solidFill>
                      <a:srgbClr val="FFFFFF"/>
                    </a:solidFill>
                  </a:tcPr>
                </a:tc>
                <a:extLst>
                  <a:ext uri="{0D108BD9-81ED-4DB2-BD59-A6C34878D82A}">
                    <a16:rowId xmlns:a16="http://schemas.microsoft.com/office/drawing/2014/main" val="10003"/>
                  </a:ext>
                </a:extLst>
              </a:tr>
              <a:tr h="402336">
                <a:tc>
                  <a:txBody>
                    <a:bodyPr/>
                    <a:lstStyle/>
                    <a:p>
                      <a:pPr algn="l">
                        <a:defRPr sz="700">
                          <a:solidFill>
                            <a:srgbClr val="333333"/>
                          </a:solidFill>
                          <a:latin typeface="Calibri"/>
                        </a:defRPr>
                      </a:pPr>
                      <a:r>
                        <a:t>Weather Factors</a:t>
                      </a:r>
                    </a:p>
                  </a:txBody>
                  <a:tcPr>
                    <a:solidFill>
                      <a:srgbClr val="F8F9FA"/>
                    </a:solidFill>
                  </a:tcPr>
                </a:tc>
                <a:tc>
                  <a:txBody>
                    <a:bodyPr/>
                    <a:lstStyle/>
                    <a:p>
                      <a:pPr algn="l">
                        <a:defRPr sz="700">
                          <a:solidFill>
                            <a:srgbClr val="333333"/>
                          </a:solidFill>
                          <a:latin typeface="Calibri"/>
                        </a:defRPr>
                      </a:pPr>
                      <a:r>
                        <a:t>6.5%</a:t>
                      </a:r>
                    </a:p>
                  </a:txBody>
                  <a:tcPr>
                    <a:solidFill>
                      <a:srgbClr val="F8F9FA"/>
                    </a:solidFill>
                  </a:tcPr>
                </a:tc>
                <a:tc>
                  <a:txBody>
                    <a:bodyPr/>
                    <a:lstStyle/>
                    <a:p>
                      <a:pPr algn="l">
                        <a:defRPr sz="700">
                          <a:solidFill>
                            <a:srgbClr val="333333"/>
                          </a:solidFill>
                          <a:latin typeface="Calibri"/>
                        </a:defRPr>
                      </a:pPr>
                      <a:r>
                        <a:rPr dirty="0"/>
                        <a:t>• Temperature correlation</a:t>
                      </a:r>
                    </a:p>
                    <a:p>
                      <a:pPr algn="l">
                        <a:defRPr sz="700">
                          <a:solidFill>
                            <a:srgbClr val="333333"/>
                          </a:solidFill>
                          <a:latin typeface="Calibri"/>
                        </a:defRPr>
                      </a:pPr>
                      <a:r>
                        <a:rPr dirty="0"/>
                        <a:t>• Precipitation impact</a:t>
                      </a:r>
                    </a:p>
                    <a:p>
                      <a:pPr algn="l">
                        <a:defRPr sz="700">
                          <a:solidFill>
                            <a:srgbClr val="333333"/>
                          </a:solidFill>
                          <a:latin typeface="Calibri"/>
                        </a:defRPr>
                      </a:pPr>
                      <a:r>
                        <a:rPr dirty="0"/>
                        <a:t>• Seasonal effects</a:t>
                      </a:r>
                    </a:p>
                  </a:txBody>
                  <a:tcPr>
                    <a:solidFill>
                      <a:srgbClr val="F8F9FA"/>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A036DA84-9E4D-1333-00C9-79E90A36938E}"/>
              </a:ext>
            </a:extLst>
          </p:cNvPr>
          <p:cNvGraphicFramePr>
            <a:graphicFrameLocks noGrp="1"/>
          </p:cNvGraphicFramePr>
          <p:nvPr>
            <p:extLst>
              <p:ext uri="{D42A27DB-BD31-4B8C-83A1-F6EECF244321}">
                <p14:modId xmlns:p14="http://schemas.microsoft.com/office/powerpoint/2010/main" val="3429379826"/>
              </p:ext>
            </p:extLst>
          </p:nvPr>
        </p:nvGraphicFramePr>
        <p:xfrm>
          <a:off x="7929881" y="4318605"/>
          <a:ext cx="3673540" cy="2048255"/>
        </p:xfrm>
        <a:graphic>
          <a:graphicData uri="http://schemas.openxmlformats.org/drawingml/2006/table">
            <a:tbl>
              <a:tblPr firstRow="1" bandRow="1">
                <a:tableStyleId>{5C22544A-7EE6-4342-B048-85BDC9FD1C3A}</a:tableStyleId>
              </a:tblPr>
              <a:tblGrid>
                <a:gridCol w="918385">
                  <a:extLst>
                    <a:ext uri="{9D8B030D-6E8A-4147-A177-3AD203B41FA5}">
                      <a16:colId xmlns:a16="http://schemas.microsoft.com/office/drawing/2014/main" val="20000"/>
                    </a:ext>
                  </a:extLst>
                </a:gridCol>
                <a:gridCol w="918385">
                  <a:extLst>
                    <a:ext uri="{9D8B030D-6E8A-4147-A177-3AD203B41FA5}">
                      <a16:colId xmlns:a16="http://schemas.microsoft.com/office/drawing/2014/main" val="20001"/>
                    </a:ext>
                  </a:extLst>
                </a:gridCol>
                <a:gridCol w="918385">
                  <a:extLst>
                    <a:ext uri="{9D8B030D-6E8A-4147-A177-3AD203B41FA5}">
                      <a16:colId xmlns:a16="http://schemas.microsoft.com/office/drawing/2014/main" val="20002"/>
                    </a:ext>
                  </a:extLst>
                </a:gridCol>
                <a:gridCol w="918385">
                  <a:extLst>
                    <a:ext uri="{9D8B030D-6E8A-4147-A177-3AD203B41FA5}">
                      <a16:colId xmlns:a16="http://schemas.microsoft.com/office/drawing/2014/main" val="20003"/>
                    </a:ext>
                  </a:extLst>
                </a:gridCol>
              </a:tblGrid>
              <a:tr h="409651">
                <a:tc>
                  <a:txBody>
                    <a:bodyPr/>
                    <a:lstStyle/>
                    <a:p>
                      <a:pPr algn="ctr">
                        <a:defRPr sz="800" b="1">
                          <a:solidFill>
                            <a:srgbClr val="FFFFFF"/>
                          </a:solidFill>
                          <a:latin typeface="Calibri"/>
                        </a:defRPr>
                      </a:pPr>
                      <a:r>
                        <a:rPr dirty="0"/>
                        <a:t>METRIC</a:t>
                      </a:r>
                    </a:p>
                  </a:txBody>
                  <a:tcPr>
                    <a:solidFill>
                      <a:srgbClr val="2C3E50"/>
                    </a:solidFill>
                  </a:tcPr>
                </a:tc>
                <a:tc>
                  <a:txBody>
                    <a:bodyPr/>
                    <a:lstStyle/>
                    <a:p>
                      <a:pPr algn="ctr">
                        <a:defRPr sz="800" b="1">
                          <a:solidFill>
                            <a:srgbClr val="FFFFFF"/>
                          </a:solidFill>
                          <a:latin typeface="Calibri"/>
                        </a:defRPr>
                      </a:pPr>
                      <a:r>
                        <a:t>TRADITIONAL</a:t>
                      </a:r>
                    </a:p>
                  </a:txBody>
                  <a:tcPr>
                    <a:solidFill>
                      <a:srgbClr val="2C3E50"/>
                    </a:solidFill>
                  </a:tcPr>
                </a:tc>
                <a:tc>
                  <a:txBody>
                    <a:bodyPr/>
                    <a:lstStyle/>
                    <a:p>
                      <a:pPr algn="ctr">
                        <a:defRPr sz="800" b="1">
                          <a:solidFill>
                            <a:srgbClr val="FFFFFF"/>
                          </a:solidFill>
                          <a:latin typeface="Calibri"/>
                        </a:defRPr>
                      </a:pPr>
                      <a:r>
                        <a:t>INTEGRATED</a:t>
                      </a:r>
                    </a:p>
                  </a:txBody>
                  <a:tcPr>
                    <a:solidFill>
                      <a:srgbClr val="2C3E50"/>
                    </a:solidFill>
                  </a:tcPr>
                </a:tc>
                <a:tc>
                  <a:txBody>
                    <a:bodyPr/>
                    <a:lstStyle/>
                    <a:p>
                      <a:pPr algn="ctr">
                        <a:defRPr sz="800" b="1">
                          <a:solidFill>
                            <a:srgbClr val="FFFFFF"/>
                          </a:solidFill>
                          <a:latin typeface="Calibri"/>
                        </a:defRPr>
                      </a:pPr>
                      <a:r>
                        <a:t>GAIN</a:t>
                      </a:r>
                    </a:p>
                  </a:txBody>
                  <a:tcPr>
                    <a:solidFill>
                      <a:srgbClr val="2C3E50"/>
                    </a:solidFill>
                  </a:tcPr>
                </a:tc>
                <a:extLst>
                  <a:ext uri="{0D108BD9-81ED-4DB2-BD59-A6C34878D82A}">
                    <a16:rowId xmlns:a16="http://schemas.microsoft.com/office/drawing/2014/main" val="10000"/>
                  </a:ext>
                </a:extLst>
              </a:tr>
              <a:tr h="409651">
                <a:tc>
                  <a:txBody>
                    <a:bodyPr/>
                    <a:lstStyle/>
                    <a:p>
                      <a:pPr algn="l">
                        <a:defRPr sz="700">
                          <a:solidFill>
                            <a:srgbClr val="333333"/>
                          </a:solidFill>
                          <a:latin typeface="Calibri"/>
                        </a:defRPr>
                      </a:pPr>
                      <a:r>
                        <a:t>Predictive Accuracy</a:t>
                      </a:r>
                    </a:p>
                  </a:txBody>
                  <a:tcPr>
                    <a:solidFill>
                      <a:srgbClr val="FFFFFF"/>
                    </a:solidFill>
                  </a:tcPr>
                </a:tc>
                <a:tc>
                  <a:txBody>
                    <a:bodyPr/>
                    <a:lstStyle/>
                    <a:p>
                      <a:pPr algn="l">
                        <a:defRPr sz="700">
                          <a:solidFill>
                            <a:srgbClr val="333333"/>
                          </a:solidFill>
                          <a:latin typeface="Calibri"/>
                        </a:defRPr>
                      </a:pPr>
                      <a:r>
                        <a:t>Single-source</a:t>
                      </a:r>
                    </a:p>
                  </a:txBody>
                  <a:tcPr>
                    <a:solidFill>
                      <a:srgbClr val="FFFFFF"/>
                    </a:solidFill>
                  </a:tcPr>
                </a:tc>
                <a:tc>
                  <a:txBody>
                    <a:bodyPr/>
                    <a:lstStyle/>
                    <a:p>
                      <a:pPr algn="l">
                        <a:defRPr sz="700">
                          <a:solidFill>
                            <a:srgbClr val="333333"/>
                          </a:solidFill>
                          <a:latin typeface="Calibri"/>
                        </a:defRPr>
                      </a:pPr>
                      <a:r>
                        <a:t>Multi-source</a:t>
                      </a:r>
                    </a:p>
                  </a:txBody>
                  <a:tcPr>
                    <a:solidFill>
                      <a:srgbClr val="FFFFFF"/>
                    </a:solidFill>
                  </a:tcPr>
                </a:tc>
                <a:tc>
                  <a:txBody>
                    <a:bodyPr/>
                    <a:lstStyle/>
                    <a:p>
                      <a:pPr algn="l">
                        <a:defRPr sz="700">
                          <a:solidFill>
                            <a:srgbClr val="333333"/>
                          </a:solidFill>
                          <a:latin typeface="Calibri"/>
                        </a:defRPr>
                      </a:pPr>
                      <a:r>
                        <a:rPr dirty="0"/>
                        <a:t>↑ 25%</a:t>
                      </a:r>
                    </a:p>
                  </a:txBody>
                  <a:tcPr>
                    <a:solidFill>
                      <a:srgbClr val="FFFFFF"/>
                    </a:solidFill>
                  </a:tcPr>
                </a:tc>
                <a:extLst>
                  <a:ext uri="{0D108BD9-81ED-4DB2-BD59-A6C34878D82A}">
                    <a16:rowId xmlns:a16="http://schemas.microsoft.com/office/drawing/2014/main" val="10001"/>
                  </a:ext>
                </a:extLst>
              </a:tr>
              <a:tr h="409651">
                <a:tc>
                  <a:txBody>
                    <a:bodyPr/>
                    <a:lstStyle/>
                    <a:p>
                      <a:pPr algn="l">
                        <a:defRPr sz="700">
                          <a:solidFill>
                            <a:srgbClr val="333333"/>
                          </a:solidFill>
                          <a:latin typeface="Calibri"/>
                        </a:defRPr>
                      </a:pPr>
                      <a:r>
                        <a:rPr dirty="0"/>
                        <a:t>Resource Efficiency</a:t>
                      </a:r>
                    </a:p>
                  </a:txBody>
                  <a:tcPr>
                    <a:solidFill>
                      <a:srgbClr val="F8F9FA"/>
                    </a:solidFill>
                  </a:tcPr>
                </a:tc>
                <a:tc>
                  <a:txBody>
                    <a:bodyPr/>
                    <a:lstStyle/>
                    <a:p>
                      <a:pPr algn="l">
                        <a:defRPr sz="700">
                          <a:solidFill>
                            <a:srgbClr val="333333"/>
                          </a:solidFill>
                          <a:latin typeface="Calibri"/>
                        </a:defRPr>
                      </a:pPr>
                      <a:r>
                        <a:t>Reactive</a:t>
                      </a:r>
                    </a:p>
                  </a:txBody>
                  <a:tcPr>
                    <a:solidFill>
                      <a:srgbClr val="F8F9FA"/>
                    </a:solidFill>
                  </a:tcPr>
                </a:tc>
                <a:tc>
                  <a:txBody>
                    <a:bodyPr/>
                    <a:lstStyle/>
                    <a:p>
                      <a:pPr algn="l">
                        <a:defRPr sz="700">
                          <a:solidFill>
                            <a:srgbClr val="333333"/>
                          </a:solidFill>
                          <a:latin typeface="Calibri"/>
                        </a:defRPr>
                      </a:pPr>
                      <a:r>
                        <a:t>Proactive</a:t>
                      </a:r>
                    </a:p>
                  </a:txBody>
                  <a:tcPr>
                    <a:solidFill>
                      <a:srgbClr val="F8F9FA"/>
                    </a:solidFill>
                  </a:tcPr>
                </a:tc>
                <a:tc>
                  <a:txBody>
                    <a:bodyPr/>
                    <a:lstStyle/>
                    <a:p>
                      <a:pPr algn="l">
                        <a:defRPr sz="700">
                          <a:solidFill>
                            <a:srgbClr val="333333"/>
                          </a:solidFill>
                          <a:latin typeface="Calibri"/>
                        </a:defRPr>
                      </a:pPr>
                      <a:r>
                        <a:t>↑ 40%</a:t>
                      </a:r>
                    </a:p>
                  </a:txBody>
                  <a:tcPr>
                    <a:solidFill>
                      <a:srgbClr val="F8F9FA"/>
                    </a:solidFill>
                  </a:tcPr>
                </a:tc>
                <a:extLst>
                  <a:ext uri="{0D108BD9-81ED-4DB2-BD59-A6C34878D82A}">
                    <a16:rowId xmlns:a16="http://schemas.microsoft.com/office/drawing/2014/main" val="10002"/>
                  </a:ext>
                </a:extLst>
              </a:tr>
              <a:tr h="409651">
                <a:tc>
                  <a:txBody>
                    <a:bodyPr/>
                    <a:lstStyle/>
                    <a:p>
                      <a:pPr algn="l">
                        <a:defRPr sz="700">
                          <a:solidFill>
                            <a:srgbClr val="333333"/>
                          </a:solidFill>
                          <a:latin typeface="Calibri"/>
                        </a:defRPr>
                      </a:pPr>
                      <a:r>
                        <a:t>Risk Identification</a:t>
                      </a:r>
                    </a:p>
                  </a:txBody>
                  <a:tcPr>
                    <a:solidFill>
                      <a:srgbClr val="FFFFFF"/>
                    </a:solidFill>
                  </a:tcPr>
                </a:tc>
                <a:tc>
                  <a:txBody>
                    <a:bodyPr/>
                    <a:lstStyle/>
                    <a:p>
                      <a:pPr algn="l">
                        <a:defRPr sz="700">
                          <a:solidFill>
                            <a:srgbClr val="333333"/>
                          </a:solidFill>
                          <a:latin typeface="Calibri"/>
                        </a:defRPr>
                      </a:pPr>
                      <a:r>
                        <a:t>Basic mapping</a:t>
                      </a:r>
                    </a:p>
                  </a:txBody>
                  <a:tcPr>
                    <a:solidFill>
                      <a:srgbClr val="FFFFFF"/>
                    </a:solidFill>
                  </a:tcPr>
                </a:tc>
                <a:tc>
                  <a:txBody>
                    <a:bodyPr/>
                    <a:lstStyle/>
                    <a:p>
                      <a:pPr algn="l">
                        <a:defRPr sz="700">
                          <a:solidFill>
                            <a:srgbClr val="333333"/>
                          </a:solidFill>
                          <a:latin typeface="Calibri"/>
                        </a:defRPr>
                      </a:pPr>
                      <a:r>
                        <a:rPr dirty="0"/>
                        <a:t>100-pt scoring</a:t>
                      </a:r>
                    </a:p>
                  </a:txBody>
                  <a:tcPr>
                    <a:solidFill>
                      <a:srgbClr val="FFFFFF"/>
                    </a:solidFill>
                  </a:tcPr>
                </a:tc>
                <a:tc>
                  <a:txBody>
                    <a:bodyPr/>
                    <a:lstStyle/>
                    <a:p>
                      <a:pPr algn="l">
                        <a:defRPr sz="700">
                          <a:solidFill>
                            <a:srgbClr val="333333"/>
                          </a:solidFill>
                          <a:latin typeface="Calibri"/>
                        </a:defRPr>
                      </a:pPr>
                      <a:r>
                        <a:t>Early warning</a:t>
                      </a:r>
                    </a:p>
                  </a:txBody>
                  <a:tcPr>
                    <a:solidFill>
                      <a:srgbClr val="FFFFFF"/>
                    </a:solidFill>
                  </a:tcPr>
                </a:tc>
                <a:extLst>
                  <a:ext uri="{0D108BD9-81ED-4DB2-BD59-A6C34878D82A}">
                    <a16:rowId xmlns:a16="http://schemas.microsoft.com/office/drawing/2014/main" val="10003"/>
                  </a:ext>
                </a:extLst>
              </a:tr>
              <a:tr h="409651">
                <a:tc>
                  <a:txBody>
                    <a:bodyPr/>
                    <a:lstStyle/>
                    <a:p>
                      <a:pPr algn="l">
                        <a:defRPr sz="700">
                          <a:solidFill>
                            <a:srgbClr val="333333"/>
                          </a:solidFill>
                          <a:latin typeface="Calibri"/>
                        </a:defRPr>
                      </a:pPr>
                      <a:r>
                        <a:t>Strategic Planning</a:t>
                      </a:r>
                    </a:p>
                  </a:txBody>
                  <a:tcPr>
                    <a:solidFill>
                      <a:srgbClr val="F8F9FA"/>
                    </a:solidFill>
                  </a:tcPr>
                </a:tc>
                <a:tc>
                  <a:txBody>
                    <a:bodyPr/>
                    <a:lstStyle/>
                    <a:p>
                      <a:pPr algn="l">
                        <a:defRPr sz="700">
                          <a:solidFill>
                            <a:srgbClr val="333333"/>
                          </a:solidFill>
                          <a:latin typeface="Calibri"/>
                        </a:defRPr>
                      </a:pPr>
                      <a:r>
                        <a:t>Short-term</a:t>
                      </a:r>
                    </a:p>
                  </a:txBody>
                  <a:tcPr>
                    <a:solidFill>
                      <a:srgbClr val="F8F9FA"/>
                    </a:solidFill>
                  </a:tcPr>
                </a:tc>
                <a:tc>
                  <a:txBody>
                    <a:bodyPr/>
                    <a:lstStyle/>
                    <a:p>
                      <a:pPr algn="l">
                        <a:defRPr sz="700">
                          <a:solidFill>
                            <a:srgbClr val="333333"/>
                          </a:solidFill>
                          <a:latin typeface="Calibri"/>
                        </a:defRPr>
                      </a:pPr>
                      <a:r>
                        <a:t>Long-term focus</a:t>
                      </a:r>
                    </a:p>
                  </a:txBody>
                  <a:tcPr>
                    <a:solidFill>
                      <a:srgbClr val="F8F9FA"/>
                    </a:solidFill>
                  </a:tcPr>
                </a:tc>
                <a:tc>
                  <a:txBody>
                    <a:bodyPr/>
                    <a:lstStyle/>
                    <a:p>
                      <a:pPr algn="l">
                        <a:defRPr sz="700">
                          <a:solidFill>
                            <a:srgbClr val="333333"/>
                          </a:solidFill>
                          <a:latin typeface="Calibri"/>
                        </a:defRPr>
                      </a:pPr>
                      <a:r>
                        <a:rPr dirty="0"/>
                        <a:t>Dual strategy</a:t>
                      </a:r>
                    </a:p>
                  </a:txBody>
                  <a:tcPr>
                    <a:solidFill>
                      <a:srgbClr val="F8F9FA"/>
                    </a:solidFill>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539DBD15-D952-B23D-FD02-04357F2E2FA4}"/>
              </a:ext>
            </a:extLst>
          </p:cNvPr>
          <p:cNvGraphicFramePr>
            <a:graphicFrameLocks noGrp="1"/>
          </p:cNvGraphicFramePr>
          <p:nvPr>
            <p:extLst>
              <p:ext uri="{D42A27DB-BD31-4B8C-83A1-F6EECF244321}">
                <p14:modId xmlns:p14="http://schemas.microsoft.com/office/powerpoint/2010/main" val="3073859251"/>
              </p:ext>
            </p:extLst>
          </p:nvPr>
        </p:nvGraphicFramePr>
        <p:xfrm>
          <a:off x="472965" y="4334161"/>
          <a:ext cx="3673539" cy="2048255"/>
        </p:xfrm>
        <a:graphic>
          <a:graphicData uri="http://schemas.openxmlformats.org/drawingml/2006/table">
            <a:tbl>
              <a:tblPr firstRow="1" bandRow="1">
                <a:tableStyleId>{5C22544A-7EE6-4342-B048-85BDC9FD1C3A}</a:tableStyleId>
              </a:tblPr>
              <a:tblGrid>
                <a:gridCol w="1224513">
                  <a:extLst>
                    <a:ext uri="{9D8B030D-6E8A-4147-A177-3AD203B41FA5}">
                      <a16:colId xmlns:a16="http://schemas.microsoft.com/office/drawing/2014/main" val="20000"/>
                    </a:ext>
                  </a:extLst>
                </a:gridCol>
                <a:gridCol w="1224513">
                  <a:extLst>
                    <a:ext uri="{9D8B030D-6E8A-4147-A177-3AD203B41FA5}">
                      <a16:colId xmlns:a16="http://schemas.microsoft.com/office/drawing/2014/main" val="20001"/>
                    </a:ext>
                  </a:extLst>
                </a:gridCol>
                <a:gridCol w="1224513">
                  <a:extLst>
                    <a:ext uri="{9D8B030D-6E8A-4147-A177-3AD203B41FA5}">
                      <a16:colId xmlns:a16="http://schemas.microsoft.com/office/drawing/2014/main" val="20002"/>
                    </a:ext>
                  </a:extLst>
                </a:gridCol>
              </a:tblGrid>
              <a:tr h="409651">
                <a:tc>
                  <a:txBody>
                    <a:bodyPr/>
                    <a:lstStyle/>
                    <a:p>
                      <a:pPr algn="ctr">
                        <a:defRPr sz="800" b="1">
                          <a:solidFill>
                            <a:srgbClr val="FFFFFF"/>
                          </a:solidFill>
                          <a:latin typeface="Calibri"/>
                        </a:defRPr>
                      </a:pPr>
                      <a:r>
                        <a:t>DATA SOURCE</a:t>
                      </a:r>
                    </a:p>
                  </a:txBody>
                  <a:tcPr>
                    <a:solidFill>
                      <a:srgbClr val="2C3E50"/>
                    </a:solidFill>
                  </a:tcPr>
                </a:tc>
                <a:tc>
                  <a:txBody>
                    <a:bodyPr/>
                    <a:lstStyle/>
                    <a:p>
                      <a:pPr algn="ctr">
                        <a:defRPr sz="800" b="1">
                          <a:solidFill>
                            <a:srgbClr val="FFFFFF"/>
                          </a:solidFill>
                          <a:latin typeface="Calibri"/>
                        </a:defRPr>
                      </a:pPr>
                      <a:r>
                        <a:t>QUALITY</a:t>
                      </a:r>
                    </a:p>
                  </a:txBody>
                  <a:tcPr>
                    <a:solidFill>
                      <a:srgbClr val="2C3E50"/>
                    </a:solidFill>
                  </a:tcPr>
                </a:tc>
                <a:tc>
                  <a:txBody>
                    <a:bodyPr/>
                    <a:lstStyle/>
                    <a:p>
                      <a:pPr algn="ctr">
                        <a:defRPr sz="800" b="1">
                          <a:solidFill>
                            <a:srgbClr val="FFFFFF"/>
                          </a:solidFill>
                          <a:latin typeface="Calibri"/>
                        </a:defRPr>
                      </a:pPr>
                      <a:r>
                        <a:rPr dirty="0"/>
                        <a:t>STATUS</a:t>
                      </a:r>
                    </a:p>
                  </a:txBody>
                  <a:tcPr>
                    <a:solidFill>
                      <a:srgbClr val="2C3E50"/>
                    </a:solidFill>
                  </a:tcPr>
                </a:tc>
                <a:extLst>
                  <a:ext uri="{0D108BD9-81ED-4DB2-BD59-A6C34878D82A}">
                    <a16:rowId xmlns:a16="http://schemas.microsoft.com/office/drawing/2014/main" val="10000"/>
                  </a:ext>
                </a:extLst>
              </a:tr>
              <a:tr h="409651">
                <a:tc>
                  <a:txBody>
                    <a:bodyPr/>
                    <a:lstStyle/>
                    <a:p>
                      <a:pPr algn="l">
                        <a:defRPr sz="700">
                          <a:solidFill>
                            <a:srgbClr val="333333"/>
                          </a:solidFill>
                          <a:latin typeface="Calibri"/>
                        </a:defRPr>
                      </a:pPr>
                      <a:r>
                        <a:t>911 Calls Data</a:t>
                      </a:r>
                    </a:p>
                  </a:txBody>
                  <a:tcPr>
                    <a:solidFill>
                      <a:srgbClr val="FFFFFF"/>
                    </a:solidFill>
                  </a:tcPr>
                </a:tc>
                <a:tc>
                  <a:txBody>
                    <a:bodyPr/>
                    <a:lstStyle/>
                    <a:p>
                      <a:pPr algn="l">
                        <a:defRPr sz="700">
                          <a:solidFill>
                            <a:srgbClr val="333333"/>
                          </a:solidFill>
                          <a:latin typeface="Calibri"/>
                        </a:defRPr>
                      </a:pPr>
                      <a:r>
                        <a:rPr dirty="0"/>
                        <a:t>95%</a:t>
                      </a:r>
                    </a:p>
                  </a:txBody>
                  <a:tcPr>
                    <a:solidFill>
                      <a:srgbClr val="FFFFFF"/>
                    </a:solidFill>
                  </a:tcPr>
                </a:tc>
                <a:tc>
                  <a:txBody>
                    <a:bodyPr/>
                    <a:lstStyle/>
                    <a:p>
                      <a:pPr algn="l">
                        <a:defRPr sz="700">
                          <a:solidFill>
                            <a:srgbClr val="333333"/>
                          </a:solidFill>
                          <a:latin typeface="Calibri"/>
                        </a:defRPr>
                      </a:pPr>
                      <a:r>
                        <a:rPr dirty="0"/>
                        <a:t>Core integrated</a:t>
                      </a:r>
                    </a:p>
                  </a:txBody>
                  <a:tcPr>
                    <a:solidFill>
                      <a:srgbClr val="FFFFFF"/>
                    </a:solidFill>
                  </a:tcPr>
                </a:tc>
                <a:extLst>
                  <a:ext uri="{0D108BD9-81ED-4DB2-BD59-A6C34878D82A}">
                    <a16:rowId xmlns:a16="http://schemas.microsoft.com/office/drawing/2014/main" val="10001"/>
                  </a:ext>
                </a:extLst>
              </a:tr>
              <a:tr h="409651">
                <a:tc>
                  <a:txBody>
                    <a:bodyPr/>
                    <a:lstStyle/>
                    <a:p>
                      <a:pPr algn="l">
                        <a:defRPr sz="700">
                          <a:solidFill>
                            <a:srgbClr val="333333"/>
                          </a:solidFill>
                          <a:latin typeface="Calibri"/>
                        </a:defRPr>
                      </a:pPr>
                      <a:r>
                        <a:t>Weather Data</a:t>
                      </a:r>
                    </a:p>
                  </a:txBody>
                  <a:tcPr>
                    <a:solidFill>
                      <a:srgbClr val="F8F9FA"/>
                    </a:solidFill>
                  </a:tcPr>
                </a:tc>
                <a:tc>
                  <a:txBody>
                    <a:bodyPr/>
                    <a:lstStyle/>
                    <a:p>
                      <a:pPr algn="l">
                        <a:defRPr sz="700">
                          <a:solidFill>
                            <a:srgbClr val="333333"/>
                          </a:solidFill>
                          <a:latin typeface="Calibri"/>
                        </a:defRPr>
                      </a:pPr>
                      <a:r>
                        <a:rPr dirty="0"/>
                        <a:t>100%</a:t>
                      </a:r>
                    </a:p>
                  </a:txBody>
                  <a:tcPr>
                    <a:solidFill>
                      <a:srgbClr val="F8F9FA"/>
                    </a:solidFill>
                  </a:tcPr>
                </a:tc>
                <a:tc>
                  <a:txBody>
                    <a:bodyPr/>
                    <a:lstStyle/>
                    <a:p>
                      <a:pPr algn="l">
                        <a:defRPr sz="700">
                          <a:solidFill>
                            <a:srgbClr val="333333"/>
                          </a:solidFill>
                          <a:latin typeface="Calibri"/>
                        </a:defRPr>
                      </a:pPr>
                      <a:r>
                        <a:rPr dirty="0"/>
                        <a:t>API complete</a:t>
                      </a:r>
                    </a:p>
                  </a:txBody>
                  <a:tcPr>
                    <a:solidFill>
                      <a:srgbClr val="F8F9FA"/>
                    </a:solidFill>
                  </a:tcPr>
                </a:tc>
                <a:extLst>
                  <a:ext uri="{0D108BD9-81ED-4DB2-BD59-A6C34878D82A}">
                    <a16:rowId xmlns:a16="http://schemas.microsoft.com/office/drawing/2014/main" val="10002"/>
                  </a:ext>
                </a:extLst>
              </a:tr>
              <a:tr h="409651">
                <a:tc>
                  <a:txBody>
                    <a:bodyPr/>
                    <a:lstStyle/>
                    <a:p>
                      <a:pPr algn="l">
                        <a:defRPr sz="700">
                          <a:solidFill>
                            <a:srgbClr val="333333"/>
                          </a:solidFill>
                          <a:latin typeface="Calibri"/>
                        </a:defRPr>
                      </a:pPr>
                      <a:r>
                        <a:t>Road Safety</a:t>
                      </a:r>
                    </a:p>
                  </a:txBody>
                  <a:tcPr>
                    <a:solidFill>
                      <a:srgbClr val="FFFFFF"/>
                    </a:solidFill>
                  </a:tcPr>
                </a:tc>
                <a:tc>
                  <a:txBody>
                    <a:bodyPr/>
                    <a:lstStyle/>
                    <a:p>
                      <a:pPr algn="l">
                        <a:defRPr sz="700">
                          <a:solidFill>
                            <a:srgbClr val="333333"/>
                          </a:solidFill>
                          <a:latin typeface="Calibri"/>
                        </a:defRPr>
                      </a:pPr>
                      <a:r>
                        <a:rPr dirty="0"/>
                        <a:t>85%</a:t>
                      </a:r>
                    </a:p>
                  </a:txBody>
                  <a:tcPr>
                    <a:solidFill>
                      <a:srgbClr val="FFFFFF"/>
                    </a:solidFill>
                  </a:tcPr>
                </a:tc>
                <a:tc>
                  <a:txBody>
                    <a:bodyPr/>
                    <a:lstStyle/>
                    <a:p>
                      <a:pPr algn="l">
                        <a:defRPr sz="700">
                          <a:solidFill>
                            <a:srgbClr val="333333"/>
                          </a:solidFill>
                          <a:latin typeface="Calibri"/>
                        </a:defRPr>
                      </a:pPr>
                      <a:r>
                        <a:rPr dirty="0"/>
                        <a:t>Spatial mapping</a:t>
                      </a:r>
                    </a:p>
                  </a:txBody>
                  <a:tcPr>
                    <a:solidFill>
                      <a:srgbClr val="FFFFFF"/>
                    </a:solidFill>
                  </a:tcPr>
                </a:tc>
                <a:extLst>
                  <a:ext uri="{0D108BD9-81ED-4DB2-BD59-A6C34878D82A}">
                    <a16:rowId xmlns:a16="http://schemas.microsoft.com/office/drawing/2014/main" val="10003"/>
                  </a:ext>
                </a:extLst>
              </a:tr>
              <a:tr h="409651">
                <a:tc>
                  <a:txBody>
                    <a:bodyPr/>
                    <a:lstStyle/>
                    <a:p>
                      <a:pPr algn="l">
                        <a:defRPr sz="700">
                          <a:solidFill>
                            <a:srgbClr val="333333"/>
                          </a:solidFill>
                          <a:latin typeface="Calibri"/>
                        </a:defRPr>
                      </a:pPr>
                      <a:r>
                        <a:t>Community Safety</a:t>
                      </a:r>
                    </a:p>
                  </a:txBody>
                  <a:tcPr>
                    <a:solidFill>
                      <a:srgbClr val="F8F9FA"/>
                    </a:solidFill>
                  </a:tcPr>
                </a:tc>
                <a:tc>
                  <a:txBody>
                    <a:bodyPr/>
                    <a:lstStyle/>
                    <a:p>
                      <a:pPr algn="l">
                        <a:defRPr sz="700">
                          <a:solidFill>
                            <a:srgbClr val="333333"/>
                          </a:solidFill>
                          <a:latin typeface="Calibri"/>
                        </a:defRPr>
                      </a:pPr>
                      <a:r>
                        <a:rPr dirty="0"/>
                        <a:t> 90%</a:t>
                      </a:r>
                    </a:p>
                  </a:txBody>
                  <a:tcPr>
                    <a:solidFill>
                      <a:srgbClr val="F8F9FA"/>
                    </a:solidFill>
                  </a:tcPr>
                </a:tc>
                <a:tc>
                  <a:txBody>
                    <a:bodyPr/>
                    <a:lstStyle/>
                    <a:p>
                      <a:pPr algn="l">
                        <a:defRPr sz="700">
                          <a:solidFill>
                            <a:srgbClr val="333333"/>
                          </a:solidFill>
                          <a:latin typeface="Calibri"/>
                        </a:defRPr>
                      </a:pPr>
                      <a:r>
                        <a:rPr dirty="0"/>
                        <a:t>Categorical mapping</a:t>
                      </a:r>
                    </a:p>
                  </a:txBody>
                  <a:tcPr>
                    <a:solidFill>
                      <a:srgbClr val="F8F9FA"/>
                    </a:solidFill>
                  </a:tcPr>
                </a:tc>
                <a:extLst>
                  <a:ext uri="{0D108BD9-81ED-4DB2-BD59-A6C34878D82A}">
                    <a16:rowId xmlns:a16="http://schemas.microsoft.com/office/drawing/2014/main" val="10004"/>
                  </a:ext>
                </a:extLst>
              </a:tr>
            </a:tbl>
          </a:graphicData>
        </a:graphic>
      </p:graphicFrame>
      <p:sp>
        <p:nvSpPr>
          <p:cNvPr id="13" name="TextBox 12">
            <a:extLst>
              <a:ext uri="{FF2B5EF4-FFF2-40B4-BE49-F238E27FC236}">
                <a16:creationId xmlns:a16="http://schemas.microsoft.com/office/drawing/2014/main" id="{049D0783-5B66-83CC-7623-99DEFA254134}"/>
              </a:ext>
            </a:extLst>
          </p:cNvPr>
          <p:cNvSpPr txBox="1"/>
          <p:nvPr/>
        </p:nvSpPr>
        <p:spPr>
          <a:xfrm>
            <a:off x="8944598" y="3952321"/>
            <a:ext cx="1821203" cy="276999"/>
          </a:xfrm>
          <a:prstGeom prst="rect">
            <a:avLst/>
          </a:prstGeom>
          <a:noFill/>
        </p:spPr>
        <p:txBody>
          <a:bodyPr wrap="none">
            <a:spAutoFit/>
          </a:bodyPr>
          <a:lstStyle/>
          <a:p>
            <a:pPr algn="ctr">
              <a:defRPr sz="1200" b="1">
                <a:solidFill>
                  <a:srgbClr val="2C3E50"/>
                </a:solidFill>
              </a:defRPr>
            </a:pPr>
            <a:r>
              <a:rPr dirty="0"/>
              <a:t>Predictive Power Analysis</a:t>
            </a:r>
          </a:p>
        </p:txBody>
      </p:sp>
      <p:sp>
        <p:nvSpPr>
          <p:cNvPr id="14" name="TextBox 13">
            <a:extLst>
              <a:ext uri="{FF2B5EF4-FFF2-40B4-BE49-F238E27FC236}">
                <a16:creationId xmlns:a16="http://schemas.microsoft.com/office/drawing/2014/main" id="{F2FA8225-3A82-D642-A287-66EB87E51A96}"/>
              </a:ext>
            </a:extLst>
          </p:cNvPr>
          <p:cNvSpPr txBox="1"/>
          <p:nvPr/>
        </p:nvSpPr>
        <p:spPr>
          <a:xfrm>
            <a:off x="5244038" y="3979546"/>
            <a:ext cx="1530675" cy="276999"/>
          </a:xfrm>
          <a:prstGeom prst="rect">
            <a:avLst/>
          </a:prstGeom>
          <a:noFill/>
        </p:spPr>
        <p:txBody>
          <a:bodyPr wrap="none">
            <a:spAutoFit/>
          </a:bodyPr>
          <a:lstStyle/>
          <a:p>
            <a:pPr algn="ctr">
              <a:defRPr sz="1200" b="1">
                <a:solidFill>
                  <a:srgbClr val="2C3E50"/>
                </a:solidFill>
              </a:defRPr>
            </a:pPr>
            <a:r>
              <a:rPr dirty="0"/>
              <a:t>Analytical Advantage</a:t>
            </a:r>
          </a:p>
        </p:txBody>
      </p:sp>
      <p:sp>
        <p:nvSpPr>
          <p:cNvPr id="15" name="TextBox 14">
            <a:extLst>
              <a:ext uri="{FF2B5EF4-FFF2-40B4-BE49-F238E27FC236}">
                <a16:creationId xmlns:a16="http://schemas.microsoft.com/office/drawing/2014/main" id="{C514CC22-BE8B-A455-96F3-E76122916F4C}"/>
              </a:ext>
            </a:extLst>
          </p:cNvPr>
          <p:cNvSpPr txBox="1"/>
          <p:nvPr/>
        </p:nvSpPr>
        <p:spPr>
          <a:xfrm>
            <a:off x="1344273" y="3925731"/>
            <a:ext cx="1872885" cy="276999"/>
          </a:xfrm>
          <a:prstGeom prst="rect">
            <a:avLst/>
          </a:prstGeom>
          <a:noFill/>
        </p:spPr>
        <p:txBody>
          <a:bodyPr wrap="none">
            <a:spAutoFit/>
          </a:bodyPr>
          <a:lstStyle/>
          <a:p>
            <a:pPr algn="ctr">
              <a:defRPr sz="1200" b="1">
                <a:solidFill>
                  <a:srgbClr val="2C3E50"/>
                </a:solidFill>
              </a:defRPr>
            </a:pPr>
            <a:r>
              <a:rPr lang="en-CA" dirty="0"/>
              <a:t>Data Quality &amp; Integration</a:t>
            </a:r>
          </a:p>
        </p:txBody>
      </p:sp>
    </p:spTree>
    <p:extLst>
      <p:ext uri="{BB962C8B-B14F-4D97-AF65-F5344CB8AC3E}">
        <p14:creationId xmlns:p14="http://schemas.microsoft.com/office/powerpoint/2010/main" val="1432891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337B-9EAB-F93B-ED55-8A3F618892BF}"/>
              </a:ext>
            </a:extLst>
          </p:cNvPr>
          <p:cNvSpPr>
            <a:spLocks noGrp="1"/>
          </p:cNvSpPr>
          <p:nvPr>
            <p:ph type="title"/>
          </p:nvPr>
        </p:nvSpPr>
        <p:spPr/>
        <p:txBody>
          <a:bodyPr>
            <a:noAutofit/>
          </a:bodyPr>
          <a:lstStyle/>
          <a:p>
            <a:r>
              <a:rPr lang="en-US" b="1" dirty="0">
                <a:latin typeface="Times New Roman" panose="02020603050405020304" pitchFamily="18" charset="0"/>
                <a:cs typeface="Times New Roman" panose="02020603050405020304" pitchFamily="18" charset="0"/>
              </a:rPr>
              <a:t>Education and Employment</a:t>
            </a:r>
            <a:endParaRPr lang="en-CA" dirty="0"/>
          </a:p>
        </p:txBody>
      </p:sp>
      <p:sp>
        <p:nvSpPr>
          <p:cNvPr id="3" name="Date Placeholder 2">
            <a:extLst>
              <a:ext uri="{FF2B5EF4-FFF2-40B4-BE49-F238E27FC236}">
                <a16:creationId xmlns:a16="http://schemas.microsoft.com/office/drawing/2014/main" id="{A3F9AFE3-4D93-5B25-0824-894AD4C4D232}"/>
              </a:ext>
            </a:extLst>
          </p:cNvPr>
          <p:cNvSpPr>
            <a:spLocks noGrp="1"/>
          </p:cNvSpPr>
          <p:nvPr>
            <p:ph type="dt" sz="half" idx="10"/>
          </p:nvPr>
        </p:nvSpPr>
        <p:spPr/>
        <p:txBody>
          <a:bodyPr/>
          <a:lstStyle/>
          <a:p>
            <a:fld id="{2D5398E9-C3AD-4570-BAED-2CA35D289D07}" type="datetime3">
              <a:rPr lang="en-US" smtClean="0"/>
              <a:t>11 December 2025</a:t>
            </a:fld>
            <a:endParaRPr lang="en-US"/>
          </a:p>
        </p:txBody>
      </p:sp>
      <p:sp>
        <p:nvSpPr>
          <p:cNvPr id="4" name="Footer Placeholder 3">
            <a:extLst>
              <a:ext uri="{FF2B5EF4-FFF2-40B4-BE49-F238E27FC236}">
                <a16:creationId xmlns:a16="http://schemas.microsoft.com/office/drawing/2014/main" id="{F8A049B1-ABB7-7162-F260-08342BA129DE}"/>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FA7B7773-28E7-D728-D734-994E27241DFD}"/>
              </a:ext>
            </a:extLst>
          </p:cNvPr>
          <p:cNvSpPr>
            <a:spLocks noGrp="1"/>
          </p:cNvSpPr>
          <p:nvPr>
            <p:ph type="sldNum" sz="quarter" idx="12"/>
          </p:nvPr>
        </p:nvSpPr>
        <p:spPr/>
        <p:txBody>
          <a:bodyPr/>
          <a:lstStyle/>
          <a:p>
            <a:fld id="{C1FF6DA9-008F-8B48-92A6-B652298478BF}" type="slidenum">
              <a:rPr lang="en-US" smtClean="0"/>
              <a:t>10</a:t>
            </a:fld>
            <a:endParaRPr lang="en-US"/>
          </a:p>
        </p:txBody>
      </p:sp>
      <p:pic>
        <p:nvPicPr>
          <p:cNvPr id="6" name="Picture 5">
            <a:extLst>
              <a:ext uri="{FF2B5EF4-FFF2-40B4-BE49-F238E27FC236}">
                <a16:creationId xmlns:a16="http://schemas.microsoft.com/office/drawing/2014/main" id="{2AA0227C-71DF-E932-6BD1-85AE8E13D66A}"/>
              </a:ext>
            </a:extLst>
          </p:cNvPr>
          <p:cNvPicPr>
            <a:picLocks noChangeAspect="1"/>
          </p:cNvPicPr>
          <p:nvPr/>
        </p:nvPicPr>
        <p:blipFill>
          <a:blip r:embed="rId2"/>
          <a:stretch>
            <a:fillRect/>
          </a:stretch>
        </p:blipFill>
        <p:spPr>
          <a:xfrm>
            <a:off x="1644868" y="1862832"/>
            <a:ext cx="8902263" cy="4571156"/>
          </a:xfrm>
          <a:prstGeom prst="rect">
            <a:avLst/>
          </a:prstGeom>
        </p:spPr>
      </p:pic>
      <p:sp>
        <p:nvSpPr>
          <p:cNvPr id="8" name="TextBox 7">
            <a:extLst>
              <a:ext uri="{FF2B5EF4-FFF2-40B4-BE49-F238E27FC236}">
                <a16:creationId xmlns:a16="http://schemas.microsoft.com/office/drawing/2014/main" id="{B34A2765-B800-544A-5D82-7608971C1387}"/>
              </a:ext>
            </a:extLst>
          </p:cNvPr>
          <p:cNvSpPr txBox="1"/>
          <p:nvPr/>
        </p:nvSpPr>
        <p:spPr>
          <a:xfrm>
            <a:off x="4899805" y="1292713"/>
            <a:ext cx="226874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hlinkClick r:id="rId3"/>
              </a:rPr>
              <a:t>App Dashboard</a:t>
            </a:r>
            <a:endParaRPr lang="en-CA" sz="2400" dirty="0"/>
          </a:p>
        </p:txBody>
      </p:sp>
    </p:spTree>
    <p:extLst>
      <p:ext uri="{BB962C8B-B14F-4D97-AF65-F5344CB8AC3E}">
        <p14:creationId xmlns:p14="http://schemas.microsoft.com/office/powerpoint/2010/main" val="1218335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57352-4930-8A01-3DE2-E6C1C6B52E0A}"/>
              </a:ext>
            </a:extLst>
          </p:cNvPr>
          <p:cNvSpPr>
            <a:spLocks noGrp="1"/>
          </p:cNvSpPr>
          <p:nvPr>
            <p:ph type="title"/>
          </p:nvPr>
        </p:nvSpPr>
        <p:spPr/>
        <p:txBody>
          <a:bodyPr/>
          <a:lstStyle/>
          <a:p>
            <a:r>
              <a:rPr lang="en-CA" b="1" dirty="0">
                <a:latin typeface="Times New Roman" panose="02020603050405020304" pitchFamily="18" charset="0"/>
                <a:cs typeface="Times New Roman" panose="02020603050405020304" pitchFamily="18" charset="0"/>
              </a:rPr>
              <a:t>Model Predictive Factors for Crime</a:t>
            </a:r>
            <a:endParaRPr lang="en-CA" dirty="0"/>
          </a:p>
        </p:txBody>
      </p:sp>
      <p:sp>
        <p:nvSpPr>
          <p:cNvPr id="3" name="Date Placeholder 2">
            <a:extLst>
              <a:ext uri="{FF2B5EF4-FFF2-40B4-BE49-F238E27FC236}">
                <a16:creationId xmlns:a16="http://schemas.microsoft.com/office/drawing/2014/main" id="{4C80750B-2AE2-CA3D-015B-30DE9CFC6301}"/>
              </a:ext>
            </a:extLst>
          </p:cNvPr>
          <p:cNvSpPr>
            <a:spLocks noGrp="1"/>
          </p:cNvSpPr>
          <p:nvPr>
            <p:ph type="dt" sz="half" idx="10"/>
          </p:nvPr>
        </p:nvSpPr>
        <p:spPr/>
        <p:txBody>
          <a:bodyPr/>
          <a:lstStyle/>
          <a:p>
            <a:fld id="{768F8741-625D-4D57-97A7-8B809E1F791F}" type="datetime3">
              <a:rPr lang="en-US" smtClean="0"/>
              <a:t>11 December 2025</a:t>
            </a:fld>
            <a:endParaRPr lang="en-US"/>
          </a:p>
        </p:txBody>
      </p:sp>
      <p:sp>
        <p:nvSpPr>
          <p:cNvPr id="4" name="Footer Placeholder 3">
            <a:extLst>
              <a:ext uri="{FF2B5EF4-FFF2-40B4-BE49-F238E27FC236}">
                <a16:creationId xmlns:a16="http://schemas.microsoft.com/office/drawing/2014/main" id="{7D8A281C-34EC-3B9D-CAB6-E0F3ACB2DEC6}"/>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9B408C1B-668A-F226-D5A9-2F891E90CD3E}"/>
              </a:ext>
            </a:extLst>
          </p:cNvPr>
          <p:cNvSpPr>
            <a:spLocks noGrp="1"/>
          </p:cNvSpPr>
          <p:nvPr>
            <p:ph type="sldNum" sz="quarter" idx="12"/>
          </p:nvPr>
        </p:nvSpPr>
        <p:spPr/>
        <p:txBody>
          <a:bodyPr/>
          <a:lstStyle/>
          <a:p>
            <a:fld id="{C1FF6DA9-008F-8B48-92A6-B652298478BF}" type="slidenum">
              <a:rPr lang="en-US" smtClean="0"/>
              <a:t>11</a:t>
            </a:fld>
            <a:endParaRPr lang="en-US" dirty="0"/>
          </a:p>
        </p:txBody>
      </p:sp>
      <p:pic>
        <p:nvPicPr>
          <p:cNvPr id="6" name="Picture 5">
            <a:extLst>
              <a:ext uri="{FF2B5EF4-FFF2-40B4-BE49-F238E27FC236}">
                <a16:creationId xmlns:a16="http://schemas.microsoft.com/office/drawing/2014/main" id="{0446C077-57DE-5531-3D12-E0C9B66BA055}"/>
              </a:ext>
            </a:extLst>
          </p:cNvPr>
          <p:cNvPicPr>
            <a:picLocks noChangeAspect="1"/>
          </p:cNvPicPr>
          <p:nvPr/>
        </p:nvPicPr>
        <p:blipFill>
          <a:blip r:embed="rId3"/>
          <a:stretch>
            <a:fillRect/>
          </a:stretch>
        </p:blipFill>
        <p:spPr>
          <a:xfrm>
            <a:off x="519487" y="1241864"/>
            <a:ext cx="6333136" cy="5427224"/>
          </a:xfrm>
          <a:prstGeom prst="rect">
            <a:avLst/>
          </a:prstGeom>
        </p:spPr>
      </p:pic>
      <p:sp>
        <p:nvSpPr>
          <p:cNvPr id="7" name="TextBox 6">
            <a:extLst>
              <a:ext uri="{FF2B5EF4-FFF2-40B4-BE49-F238E27FC236}">
                <a16:creationId xmlns:a16="http://schemas.microsoft.com/office/drawing/2014/main" id="{F6DCACDB-0553-C306-EB89-99361408897B}"/>
              </a:ext>
            </a:extLst>
          </p:cNvPr>
          <p:cNvSpPr txBox="1"/>
          <p:nvPr/>
        </p:nvSpPr>
        <p:spPr>
          <a:xfrm>
            <a:off x="7168551" y="1263786"/>
            <a:ext cx="4856672" cy="2246769"/>
          </a:xfrm>
          <a:prstGeom prst="rect">
            <a:avLst/>
          </a:prstGeom>
          <a:noFill/>
        </p:spPr>
        <p:txBody>
          <a:bodyPr wrap="square">
            <a:spAutoFit/>
          </a:bodyPr>
          <a:lstStyle/>
          <a:p>
            <a:pPr marL="285750" indent="-285750">
              <a:buFont typeface="Arial" panose="020B0604020202020204" pitchFamily="34" charset="0"/>
              <a:buChar char="•"/>
            </a:pPr>
            <a:r>
              <a:rPr lang="en-CA" sz="1600" kern="100" dirty="0">
                <a:effectLst/>
                <a:latin typeface="Times New Roman" panose="02020603050405020304" pitchFamily="18" charset="0"/>
                <a:ea typeface="Aptos" panose="020B0004020202020204" pitchFamily="34" charset="0"/>
                <a:cs typeface="Times New Roman" panose="02020603050405020304" pitchFamily="18" charset="0"/>
              </a:rPr>
              <a:t>Top Predictive Factors</a:t>
            </a:r>
          </a:p>
          <a:p>
            <a:pPr marL="800100" lvl="1" indent="-342900">
              <a:buFont typeface="Arial" panose="020B0604020202020204" pitchFamily="34" charset="0"/>
              <a:buChar char="•"/>
              <a:tabLst>
                <a:tab pos="457200" algn="l"/>
              </a:tabLst>
            </a:pPr>
            <a:r>
              <a:rPr lang="en-CA" sz="1200" kern="100" dirty="0">
                <a:latin typeface="Times New Roman" panose="02020603050405020304" pitchFamily="18" charset="0"/>
                <a:cs typeface="Times New Roman" panose="02020603050405020304" pitchFamily="18" charset="0"/>
              </a:rPr>
              <a:t>Patterns from the Same Month in Previous Year</a:t>
            </a:r>
            <a:endParaRPr lang="en-CA"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800100" lvl="1" indent="-342900">
              <a:buFont typeface="Arial" panose="020B0604020202020204" pitchFamily="34" charset="0"/>
              <a:buChar char="•"/>
              <a:tabLst>
                <a:tab pos="457200" algn="l"/>
              </a:tabLst>
            </a:pPr>
            <a:r>
              <a:rPr lang="en-CA" sz="1200" kern="100" dirty="0">
                <a:latin typeface="Times New Roman" panose="02020603050405020304" pitchFamily="18" charset="0"/>
                <a:ea typeface="Aptos" panose="020B0004020202020204" pitchFamily="34" charset="0"/>
                <a:cs typeface="Times New Roman" panose="02020603050405020304" pitchFamily="18" charset="0"/>
              </a:rPr>
              <a:t>Date of the week			</a:t>
            </a:r>
            <a:endParaRPr lang="en-CA"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800100" lvl="1" indent="-342900">
              <a:buFont typeface="Arial" panose="020B0604020202020204" pitchFamily="34" charset="0"/>
              <a:buChar char="•"/>
              <a:tabLst>
                <a:tab pos="457200" algn="l"/>
              </a:tabLst>
            </a:pPr>
            <a:r>
              <a:rPr lang="en-CA" sz="1200" kern="100" dirty="0">
                <a:latin typeface="Times New Roman" panose="02020603050405020304" pitchFamily="18" charset="0"/>
                <a:ea typeface="Aptos" panose="020B0004020202020204" pitchFamily="34" charset="0"/>
                <a:cs typeface="Times New Roman" panose="02020603050405020304" pitchFamily="18" charset="0"/>
              </a:rPr>
              <a:t>Average temperature</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of the weather	</a:t>
            </a:r>
          </a:p>
          <a:p>
            <a:pPr lvl="1">
              <a:tabLst>
                <a:tab pos="457200" algn="l"/>
              </a:tabLst>
            </a:pPr>
            <a:endParaRPr lang="en-CA" sz="1200" kern="100" dirty="0">
              <a:latin typeface="Times New Roman" panose="02020603050405020304" pitchFamily="18"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CA" sz="1600" kern="100" dirty="0">
                <a:latin typeface="Times New Roman" panose="02020603050405020304" pitchFamily="18" charset="0"/>
                <a:cs typeface="Times New Roman" panose="02020603050405020304" pitchFamily="18" charset="0"/>
              </a:rPr>
              <a:t>Top 6 factors provide 80% of the predictive power</a:t>
            </a:r>
          </a:p>
          <a:p>
            <a:pPr marL="285750" indent="-285750">
              <a:buFont typeface="Arial" panose="020B0604020202020204" pitchFamily="34" charset="0"/>
              <a:buChar char="•"/>
            </a:pPr>
            <a:endParaRPr lang="en-CA" sz="1600" kern="1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600" kern="100" dirty="0">
                <a:latin typeface="Times New Roman" panose="02020603050405020304" pitchFamily="18" charset="0"/>
                <a:cs typeface="Times New Roman" panose="02020603050405020304" pitchFamily="18" charset="0"/>
              </a:rPr>
              <a:t>Model predictability and accuracy can be increased by inclusion of multiple external correlated datasets</a:t>
            </a:r>
          </a:p>
          <a:p>
            <a:pPr lvl="1">
              <a:tabLst>
                <a:tab pos="457200" algn="l"/>
              </a:tabLst>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CA" sz="1600" b="1" kern="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280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D0DBD-8332-7A46-EB20-D4E665E44BD6}"/>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Crime Time-Series Modeling</a:t>
            </a:r>
          </a:p>
        </p:txBody>
      </p:sp>
      <p:sp>
        <p:nvSpPr>
          <p:cNvPr id="3" name="Date Placeholder 2">
            <a:extLst>
              <a:ext uri="{FF2B5EF4-FFF2-40B4-BE49-F238E27FC236}">
                <a16:creationId xmlns:a16="http://schemas.microsoft.com/office/drawing/2014/main" id="{CEDA5FC6-B16C-9785-10E8-AA37B7CDEC23}"/>
              </a:ext>
            </a:extLst>
          </p:cNvPr>
          <p:cNvSpPr>
            <a:spLocks noGrp="1"/>
          </p:cNvSpPr>
          <p:nvPr>
            <p:ph type="dt" sz="half" idx="10"/>
          </p:nvPr>
        </p:nvSpPr>
        <p:spPr/>
        <p:txBody>
          <a:bodyPr/>
          <a:lstStyle/>
          <a:p>
            <a:fld id="{8E960648-FBBF-4537-AC6B-4294FA3E6C42}" type="datetime3">
              <a:rPr lang="en-US" smtClean="0"/>
              <a:t>11 December 2025</a:t>
            </a:fld>
            <a:endParaRPr lang="en-US"/>
          </a:p>
        </p:txBody>
      </p:sp>
      <p:sp>
        <p:nvSpPr>
          <p:cNvPr id="4" name="Footer Placeholder 3">
            <a:extLst>
              <a:ext uri="{FF2B5EF4-FFF2-40B4-BE49-F238E27FC236}">
                <a16:creationId xmlns:a16="http://schemas.microsoft.com/office/drawing/2014/main" id="{6EF81FDB-1365-CC3C-BF2C-A0E3C324144C}"/>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3FCF2702-6085-CE4B-43E5-60C3AB4046EF}"/>
              </a:ext>
            </a:extLst>
          </p:cNvPr>
          <p:cNvSpPr>
            <a:spLocks noGrp="1"/>
          </p:cNvSpPr>
          <p:nvPr>
            <p:ph type="sldNum" sz="quarter" idx="12"/>
          </p:nvPr>
        </p:nvSpPr>
        <p:spPr/>
        <p:txBody>
          <a:bodyPr/>
          <a:lstStyle/>
          <a:p>
            <a:fld id="{C1FF6DA9-008F-8B48-92A6-B652298478BF}" type="slidenum">
              <a:rPr lang="en-US" smtClean="0"/>
              <a:t>12</a:t>
            </a:fld>
            <a:endParaRPr lang="en-US" dirty="0"/>
          </a:p>
        </p:txBody>
      </p:sp>
      <p:pic>
        <p:nvPicPr>
          <p:cNvPr id="7" name="Picture 6">
            <a:extLst>
              <a:ext uri="{FF2B5EF4-FFF2-40B4-BE49-F238E27FC236}">
                <a16:creationId xmlns:a16="http://schemas.microsoft.com/office/drawing/2014/main" id="{1B590870-7DB4-F866-5D85-31117675F0CC}"/>
              </a:ext>
            </a:extLst>
          </p:cNvPr>
          <p:cNvPicPr>
            <a:picLocks noChangeAspect="1"/>
          </p:cNvPicPr>
          <p:nvPr/>
        </p:nvPicPr>
        <p:blipFill>
          <a:blip r:embed="rId3"/>
          <a:stretch>
            <a:fillRect/>
          </a:stretch>
        </p:blipFill>
        <p:spPr>
          <a:xfrm>
            <a:off x="145100" y="1246906"/>
            <a:ext cx="6919675" cy="5336456"/>
          </a:xfrm>
          <a:prstGeom prst="rect">
            <a:avLst/>
          </a:prstGeom>
        </p:spPr>
      </p:pic>
      <p:pic>
        <p:nvPicPr>
          <p:cNvPr id="9" name="Picture 8">
            <a:extLst>
              <a:ext uri="{FF2B5EF4-FFF2-40B4-BE49-F238E27FC236}">
                <a16:creationId xmlns:a16="http://schemas.microsoft.com/office/drawing/2014/main" id="{B47D4362-88DB-F9C5-FB70-CC39F201FB03}"/>
              </a:ext>
            </a:extLst>
          </p:cNvPr>
          <p:cNvPicPr>
            <a:picLocks noChangeAspect="1"/>
          </p:cNvPicPr>
          <p:nvPr/>
        </p:nvPicPr>
        <p:blipFill>
          <a:blip r:embed="rId4"/>
          <a:stretch>
            <a:fillRect/>
          </a:stretch>
        </p:blipFill>
        <p:spPr>
          <a:xfrm>
            <a:off x="7064775" y="3429000"/>
            <a:ext cx="4944023" cy="3154362"/>
          </a:xfrm>
          <a:prstGeom prst="rect">
            <a:avLst/>
          </a:prstGeom>
        </p:spPr>
      </p:pic>
      <p:sp>
        <p:nvSpPr>
          <p:cNvPr id="11" name="TextBox 10">
            <a:extLst>
              <a:ext uri="{FF2B5EF4-FFF2-40B4-BE49-F238E27FC236}">
                <a16:creationId xmlns:a16="http://schemas.microsoft.com/office/drawing/2014/main" id="{78536DFA-EF83-D3DF-C513-C0039B1EBA22}"/>
              </a:ext>
            </a:extLst>
          </p:cNvPr>
          <p:cNvSpPr txBox="1"/>
          <p:nvPr/>
        </p:nvSpPr>
        <p:spPr>
          <a:xfrm>
            <a:off x="7079810" y="1221451"/>
            <a:ext cx="4944023" cy="2108269"/>
          </a:xfrm>
          <a:prstGeom prst="rect">
            <a:avLst/>
          </a:prstGeom>
          <a:noFill/>
        </p:spPr>
        <p:txBody>
          <a:bodyPr wrap="square">
            <a:spAutoFit/>
          </a:bodyPr>
          <a:lstStyle/>
          <a:p>
            <a:pPr marL="171450" indent="-171450">
              <a:buFont typeface="Arial" panose="020B0604020202020204" pitchFamily="34" charset="0"/>
              <a:buChar char="•"/>
            </a:pP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Data:</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Training: 2020 to 2023; Test: Jan to Oct 2025; Outlier: 2024</a:t>
            </a:r>
          </a:p>
          <a:p>
            <a:pPr marL="171450" indent="-171450">
              <a:spcBef>
                <a:spcPts val="600"/>
              </a:spcBef>
              <a:buFont typeface="Arial" panose="020B0604020202020204" pitchFamily="34" charset="0"/>
              <a:buChar char="•"/>
            </a:pP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Model &amp; Performance:</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Random Forest, Gradient Boosting, Ensemble MAE=15.0, RMSE=18.9, R²=0.32</a:t>
            </a:r>
          </a:p>
          <a:p>
            <a:pPr marL="171450" indent="-171450">
              <a:spcBef>
                <a:spcPts val="600"/>
              </a:spcBef>
              <a:buFont typeface="Arial" panose="020B0604020202020204" pitchFamily="34" charset="0"/>
              <a:buChar char="•"/>
            </a:pPr>
            <a:r>
              <a:rPr lang="en-CA" sz="1400" b="1" kern="100" dirty="0">
                <a:latin typeface="Times New Roman" panose="02020603050405020304" pitchFamily="18" charset="0"/>
                <a:cs typeface="Times New Roman" panose="02020603050405020304" pitchFamily="18" charset="0"/>
              </a:rPr>
              <a:t>The 'Low’ R²</a:t>
            </a:r>
            <a:r>
              <a:rPr lang="en-CA" sz="1400" kern="100" dirty="0">
                <a:latin typeface="Times New Roman" panose="02020603050405020304" pitchFamily="18" charset="0"/>
                <a:cs typeface="Times New Roman" panose="02020603050405020304" pitchFamily="18" charset="0"/>
              </a:rPr>
              <a:t>: </a:t>
            </a:r>
            <a:r>
              <a:rPr lang="en-CA" sz="1200" kern="100" dirty="0">
                <a:latin typeface="Times New Roman" panose="02020603050405020304" pitchFamily="18" charset="0"/>
                <a:cs typeface="Times New Roman" panose="02020603050405020304" pitchFamily="18" charset="0"/>
              </a:rPr>
              <a:t>Our model captures predictable seasonal patterns. The 'missed' spikes are from organized crime</a:t>
            </a:r>
            <a:endParaRPr lang="en-CA"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171450" indent="-171450">
              <a:spcBef>
                <a:spcPts val="600"/>
              </a:spcBef>
              <a:buFont typeface="Arial" panose="020B0604020202020204" pitchFamily="34" charset="0"/>
              <a:buChar char="•"/>
            </a:pPr>
            <a:r>
              <a:rPr lang="en-CA" sz="1400" b="1" kern="100" dirty="0">
                <a:latin typeface="Times New Roman" panose="02020603050405020304" pitchFamily="18" charset="0"/>
                <a:ea typeface="Aptos" panose="020B0004020202020204" pitchFamily="34" charset="0"/>
                <a:cs typeface="Times New Roman" panose="02020603050405020304" pitchFamily="18" charset="0"/>
              </a:rPr>
              <a:t>Strategic Plan</a:t>
            </a: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CA" sz="1200" kern="100" dirty="0">
                <a:latin typeface="Times New Roman" panose="02020603050405020304" pitchFamily="18" charset="0"/>
                <a:cs typeface="Times New Roman" panose="02020603050405020304" pitchFamily="18" charset="0"/>
              </a:rPr>
              <a:t>While our model reliably predicts the seasonal ebb and flow of crime, it confirms that major crime surges are driven by unpredictable factors like organized crime spikes. This is why our strategic plan combines this baseline forecast with interventions in District 4</a:t>
            </a:r>
          </a:p>
        </p:txBody>
      </p:sp>
      <p:sp>
        <p:nvSpPr>
          <p:cNvPr id="8" name="TextBox 7">
            <a:extLst>
              <a:ext uri="{FF2B5EF4-FFF2-40B4-BE49-F238E27FC236}">
                <a16:creationId xmlns:a16="http://schemas.microsoft.com/office/drawing/2014/main" id="{99C5E626-FB1E-60B4-7488-9EDE1B34AABB}"/>
              </a:ext>
            </a:extLst>
          </p:cNvPr>
          <p:cNvSpPr txBox="1"/>
          <p:nvPr/>
        </p:nvSpPr>
        <p:spPr>
          <a:xfrm>
            <a:off x="819150" y="6553496"/>
            <a:ext cx="10858499" cy="307777"/>
          </a:xfrm>
          <a:prstGeom prst="rect">
            <a:avLst/>
          </a:prstGeom>
          <a:noFill/>
        </p:spPr>
        <p:txBody>
          <a:bodyPr wrap="square">
            <a:spAutoFit/>
          </a:bodyPr>
          <a:lstStyle/>
          <a:p>
            <a:pPr algn="ctr"/>
            <a:r>
              <a:rPr lang="en-CA" sz="1400" b="0" i="1" dirty="0">
                <a:solidFill>
                  <a:schemeClr val="tx1">
                    <a:lumMod val="50000"/>
                    <a:lumOff val="50000"/>
                  </a:schemeClr>
                </a:solidFill>
                <a:effectLst/>
                <a:latin typeface="quote-cjk-patch"/>
              </a:rPr>
              <a:t>Note: Analysis constructed in November 2025 context to demonstrate forecasting methodology for future years.</a:t>
            </a:r>
            <a:endParaRPr lang="en-CA" sz="1400" dirty="0">
              <a:solidFill>
                <a:schemeClr val="tx1">
                  <a:lumMod val="50000"/>
                  <a:lumOff val="50000"/>
                </a:schemeClr>
              </a:solidFill>
            </a:endParaRPr>
          </a:p>
        </p:txBody>
      </p:sp>
    </p:spTree>
    <p:extLst>
      <p:ext uri="{BB962C8B-B14F-4D97-AF65-F5344CB8AC3E}">
        <p14:creationId xmlns:p14="http://schemas.microsoft.com/office/powerpoint/2010/main" val="461758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AB22F-26C8-F180-8C48-35CB4363F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45C84-F4F0-D1C7-9A62-E04B19E7999B}"/>
              </a:ext>
            </a:extLst>
          </p:cNvPr>
          <p:cNvSpPr>
            <a:spLocks noGrp="1"/>
          </p:cNvSpPr>
          <p:nvPr>
            <p:ph type="title"/>
          </p:nvPr>
        </p:nvSpPr>
        <p:spPr/>
        <p:txBody>
          <a:bodyPr>
            <a:normAutofit fontScale="90000"/>
          </a:bodyPr>
          <a:lstStyle/>
          <a:p>
            <a:r>
              <a:rPr lang="en-CA" sz="4000" b="1" dirty="0">
                <a:latin typeface="Times New Roman" panose="02020603050405020304" pitchFamily="18" charset="0"/>
                <a:cs typeface="Times New Roman" panose="02020603050405020304" pitchFamily="18" charset="0"/>
              </a:rPr>
              <a:t>Forecast: A Return to Growth in 2026 Demands Action</a:t>
            </a:r>
            <a:endParaRPr lang="en-CA" b="1" dirty="0"/>
          </a:p>
        </p:txBody>
      </p:sp>
      <p:sp>
        <p:nvSpPr>
          <p:cNvPr id="3" name="Date Placeholder 2">
            <a:extLst>
              <a:ext uri="{FF2B5EF4-FFF2-40B4-BE49-F238E27FC236}">
                <a16:creationId xmlns:a16="http://schemas.microsoft.com/office/drawing/2014/main" id="{AD643D5C-6A1C-C46C-F232-F48AA3FAFDF5}"/>
              </a:ext>
            </a:extLst>
          </p:cNvPr>
          <p:cNvSpPr>
            <a:spLocks noGrp="1"/>
          </p:cNvSpPr>
          <p:nvPr>
            <p:ph type="dt" sz="half" idx="10"/>
          </p:nvPr>
        </p:nvSpPr>
        <p:spPr/>
        <p:txBody>
          <a:bodyPr/>
          <a:lstStyle/>
          <a:p>
            <a:fld id="{D4966531-7564-483F-9CF8-0A61619043EB}" type="datetime3">
              <a:rPr lang="en-US" smtClean="0"/>
              <a:t>11 December 2025</a:t>
            </a:fld>
            <a:endParaRPr lang="en-US" dirty="0"/>
          </a:p>
        </p:txBody>
      </p:sp>
      <p:sp>
        <p:nvSpPr>
          <p:cNvPr id="4" name="Footer Placeholder 3">
            <a:extLst>
              <a:ext uri="{FF2B5EF4-FFF2-40B4-BE49-F238E27FC236}">
                <a16:creationId xmlns:a16="http://schemas.microsoft.com/office/drawing/2014/main" id="{8B951239-E409-0FCC-8C86-C1E39FACBBA4}"/>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B27B487A-B890-EE10-0A20-E0F7898DBE15}"/>
              </a:ext>
            </a:extLst>
          </p:cNvPr>
          <p:cNvSpPr>
            <a:spLocks noGrp="1"/>
          </p:cNvSpPr>
          <p:nvPr>
            <p:ph type="sldNum" sz="quarter" idx="12"/>
          </p:nvPr>
        </p:nvSpPr>
        <p:spPr/>
        <p:txBody>
          <a:bodyPr/>
          <a:lstStyle/>
          <a:p>
            <a:fld id="{C1FF6DA9-008F-8B48-92A6-B652298478BF}" type="slidenum">
              <a:rPr lang="en-US" smtClean="0"/>
              <a:t>13</a:t>
            </a:fld>
            <a:endParaRPr lang="en-US" dirty="0"/>
          </a:p>
        </p:txBody>
      </p:sp>
      <p:sp>
        <p:nvSpPr>
          <p:cNvPr id="9" name="TextBox 8">
            <a:extLst>
              <a:ext uri="{FF2B5EF4-FFF2-40B4-BE49-F238E27FC236}">
                <a16:creationId xmlns:a16="http://schemas.microsoft.com/office/drawing/2014/main" id="{63E63E16-3E8F-9300-CCBD-D58E272CD6A4}"/>
              </a:ext>
            </a:extLst>
          </p:cNvPr>
          <p:cNvSpPr txBox="1"/>
          <p:nvPr/>
        </p:nvSpPr>
        <p:spPr>
          <a:xfrm>
            <a:off x="8413750" y="1242595"/>
            <a:ext cx="3578225" cy="3857466"/>
          </a:xfrm>
          <a:prstGeom prst="rect">
            <a:avLst/>
          </a:prstGeom>
          <a:noFill/>
        </p:spPr>
        <p:txBody>
          <a:bodyPr wrap="square">
            <a:spAutoFit/>
          </a:bodyPr>
          <a:lstStyle/>
          <a:p>
            <a:r>
              <a:rPr lang="en-CA" sz="1600" b="1" dirty="0">
                <a:latin typeface="Times New Roman" panose="02020603050405020304" pitchFamily="18" charset="0"/>
                <a:cs typeface="Times New Roman" panose="02020603050405020304" pitchFamily="18" charset="0"/>
              </a:rPr>
              <a:t>Forecast</a:t>
            </a:r>
            <a:endParaRPr lang="en-CA" sz="1600" dirty="0">
              <a:latin typeface="Times New Roman" panose="02020603050405020304" pitchFamily="18" charset="0"/>
              <a:cs typeface="Times New Roman" panose="02020603050405020304" pitchFamily="18" charset="0"/>
            </a:endParaRPr>
          </a:p>
          <a:p>
            <a:pPr lvl="0">
              <a:spcAft>
                <a:spcPts val="600"/>
              </a:spcAft>
            </a:pPr>
            <a:r>
              <a:rPr lang="en-CA" sz="1200" dirty="0">
                <a:latin typeface="Times New Roman" panose="02020603050405020304" pitchFamily="18" charset="0"/>
                <a:cs typeface="Times New Roman" panose="02020603050405020304" pitchFamily="18" charset="0"/>
              </a:rPr>
              <a:t>While crime levels are projected to remain well below the 2024 peak, our forecasts indicate a return to a growing trend in 2026. This needs proactive measures</a:t>
            </a:r>
            <a:endParaRPr lang="en-CA" sz="1200" b="1" dirty="0">
              <a:latin typeface="Times New Roman" panose="02020603050405020304" pitchFamily="18" charset="0"/>
              <a:cs typeface="Times New Roman" panose="02020603050405020304" pitchFamily="18" charset="0"/>
            </a:endParaRPr>
          </a:p>
          <a:p>
            <a:r>
              <a:rPr lang="en-CA" sz="1600" b="1" dirty="0">
                <a:latin typeface="Times New Roman" panose="02020603050405020304" pitchFamily="18" charset="0"/>
                <a:cs typeface="Times New Roman" panose="02020603050405020304" pitchFamily="18" charset="0"/>
              </a:rPr>
              <a:t>Planning</a:t>
            </a:r>
            <a:endParaRPr lang="en-CA" sz="1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Base 2026 planning on 3394 crimes/month</a:t>
            </a: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Maintain ±502 crimes flexibility in budgets</a:t>
            </a:r>
          </a:p>
          <a:p>
            <a:pPr marL="171450" indent="-171450">
              <a:spcAft>
                <a:spcPts val="600"/>
              </a:spcAft>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Monitor category-specific trends for targeted interventions</a:t>
            </a:r>
            <a:endParaRPr lang="en-CA" sz="1200" b="1" dirty="0">
              <a:latin typeface="Times New Roman" panose="02020603050405020304" pitchFamily="18" charset="0"/>
              <a:cs typeface="Times New Roman" panose="02020603050405020304" pitchFamily="18" charset="0"/>
            </a:endParaRPr>
          </a:p>
          <a:p>
            <a:pPr>
              <a:defRPr sz="1000"/>
            </a:pPr>
            <a:r>
              <a:rPr lang="en-CA" sz="1600" b="1" dirty="0">
                <a:latin typeface="Times New Roman" panose="02020603050405020304" pitchFamily="18" charset="0"/>
                <a:cs typeface="Times New Roman" panose="02020603050405020304" pitchFamily="18" charset="0"/>
              </a:rPr>
              <a:t>Action</a:t>
            </a:r>
          </a:p>
          <a:p>
            <a:pPr marL="171450" indent="-171450">
              <a:spcAft>
                <a:spcPts val="400"/>
              </a:spcAft>
              <a:buFont typeface="Arial" panose="020B0604020202020204" pitchFamily="34" charset="0"/>
              <a:buChar char="•"/>
              <a:defRPr sz="1000"/>
            </a:pPr>
            <a:r>
              <a:rPr lang="en-CA" sz="1200" dirty="0">
                <a:latin typeface="Times New Roman" panose="02020603050405020304" pitchFamily="18" charset="0"/>
                <a:cs typeface="Times New Roman" panose="02020603050405020304" pitchFamily="18" charset="0"/>
              </a:rPr>
              <a:t>Implement strategic shift bidding: Prioritize full staffing on Mondays-Thursdays, using overtime for Friday peak</a:t>
            </a:r>
          </a:p>
          <a:p>
            <a:pPr marL="171450" indent="-171450">
              <a:spcAft>
                <a:spcPts val="400"/>
              </a:spcAft>
              <a:buFont typeface="Arial" panose="020B0604020202020204" pitchFamily="34" charset="0"/>
              <a:buChar char="•"/>
              <a:defRPr sz="1000"/>
            </a:pPr>
            <a:r>
              <a:rPr lang="en-CA" sz="1200" b="1" dirty="0">
                <a:latin typeface="Times New Roman" panose="02020603050405020304" pitchFamily="18" charset="0"/>
                <a:cs typeface="Times New Roman" panose="02020603050405020304" pitchFamily="18" charset="0"/>
              </a:rPr>
              <a:t>Why focus on weekdays? </a:t>
            </a:r>
            <a:r>
              <a:rPr lang="en-CA" sz="1200" dirty="0">
                <a:latin typeface="Times New Roman" panose="02020603050405020304" pitchFamily="18" charset="0"/>
                <a:cs typeface="Times New Roman" panose="02020603050405020304" pitchFamily="18" charset="0"/>
              </a:rPr>
              <a:t>While absolute crime is lower from Monday-Thursday, our available officers are even lower</a:t>
            </a:r>
            <a:endParaRPr lang="en-CA" sz="1200" b="1" dirty="0">
              <a:latin typeface="Times New Roman" panose="02020603050405020304" pitchFamily="18" charset="0"/>
              <a:cs typeface="Times New Roman" panose="02020603050405020304" pitchFamily="18" charset="0"/>
            </a:endParaRPr>
          </a:p>
          <a:p>
            <a:pPr marL="171450" indent="-171450">
              <a:spcAft>
                <a:spcPts val="400"/>
              </a:spcAft>
              <a:buFont typeface="Arial" panose="020B0604020202020204" pitchFamily="34" charset="0"/>
              <a:buChar char="•"/>
              <a:defRPr sz="1000"/>
            </a:pPr>
            <a:r>
              <a:rPr lang="en-CA" sz="1200" dirty="0">
                <a:latin typeface="Times New Roman" panose="02020603050405020304" pitchFamily="18" charset="0"/>
                <a:cs typeface="Times New Roman" panose="02020603050405020304" pitchFamily="18" charset="0"/>
              </a:rPr>
              <a:t>Activate the ‘Summer Surge Plan’. Pre-deploy tactical units to District 4</a:t>
            </a:r>
          </a:p>
        </p:txBody>
      </p:sp>
      <p:pic>
        <p:nvPicPr>
          <p:cNvPr id="7" name="Picture 6">
            <a:extLst>
              <a:ext uri="{FF2B5EF4-FFF2-40B4-BE49-F238E27FC236}">
                <a16:creationId xmlns:a16="http://schemas.microsoft.com/office/drawing/2014/main" id="{6A4AD63E-D7FF-378A-67E9-7B362454FEE8}"/>
              </a:ext>
            </a:extLst>
          </p:cNvPr>
          <p:cNvPicPr>
            <a:picLocks noChangeAspect="1"/>
          </p:cNvPicPr>
          <p:nvPr/>
        </p:nvPicPr>
        <p:blipFill>
          <a:blip r:embed="rId3"/>
          <a:stretch>
            <a:fillRect/>
          </a:stretch>
        </p:blipFill>
        <p:spPr>
          <a:xfrm>
            <a:off x="142874" y="1242596"/>
            <a:ext cx="8128001" cy="5478880"/>
          </a:xfrm>
          <a:prstGeom prst="rect">
            <a:avLst/>
          </a:prstGeom>
        </p:spPr>
      </p:pic>
    </p:spTree>
    <p:extLst>
      <p:ext uri="{BB962C8B-B14F-4D97-AF65-F5344CB8AC3E}">
        <p14:creationId xmlns:p14="http://schemas.microsoft.com/office/powerpoint/2010/main" val="134337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C0E-9F63-16E2-6DB8-E04D11BEF1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FFF931-3657-7800-AEC7-F1E0DBDC6A90}"/>
              </a:ext>
            </a:extLst>
          </p:cNvPr>
          <p:cNvPicPr>
            <a:picLocks noChangeAspect="1"/>
          </p:cNvPicPr>
          <p:nvPr/>
        </p:nvPicPr>
        <p:blipFill>
          <a:blip r:embed="rId3"/>
          <a:stretch>
            <a:fillRect/>
          </a:stretch>
        </p:blipFill>
        <p:spPr>
          <a:xfrm>
            <a:off x="6992252" y="3062377"/>
            <a:ext cx="4761597" cy="3293432"/>
          </a:xfrm>
          <a:prstGeom prst="rect">
            <a:avLst/>
          </a:prstGeom>
        </p:spPr>
      </p:pic>
      <p:sp>
        <p:nvSpPr>
          <p:cNvPr id="3" name="TextBox 2">
            <a:extLst>
              <a:ext uri="{FF2B5EF4-FFF2-40B4-BE49-F238E27FC236}">
                <a16:creationId xmlns:a16="http://schemas.microsoft.com/office/drawing/2014/main" id="{C3AA4E08-1175-3C82-71A8-E78647219AFD}"/>
              </a:ext>
            </a:extLst>
          </p:cNvPr>
          <p:cNvSpPr txBox="1"/>
          <p:nvPr/>
        </p:nvSpPr>
        <p:spPr>
          <a:xfrm>
            <a:off x="303868" y="274321"/>
            <a:ext cx="11584261" cy="769441"/>
          </a:xfrm>
          <a:prstGeom prst="rect">
            <a:avLst/>
          </a:prstGeom>
          <a:noFill/>
        </p:spPr>
        <p:txBody>
          <a:bodyPr wrap="none">
            <a:spAutoFit/>
          </a:bodyPr>
          <a:lstStyle/>
          <a:p>
            <a:pPr algn="ctr">
              <a:defRPr sz="2400" b="1"/>
            </a:pPr>
            <a:r>
              <a:rPr lang="en-CA" sz="4400" b="1" dirty="0">
                <a:latin typeface="Times New Roman" panose="02020603050405020304" pitchFamily="18" charset="0"/>
                <a:cs typeface="Times New Roman" panose="02020603050405020304" pitchFamily="18" charset="0"/>
              </a:rPr>
              <a:t>Forecasted Increase And Urgent Action Needed</a:t>
            </a:r>
            <a:endParaRPr sz="44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A815D1C-2A1C-ACE3-9334-676584E4741A}"/>
              </a:ext>
            </a:extLst>
          </p:cNvPr>
          <p:cNvSpPr>
            <a:spLocks noGrp="1"/>
          </p:cNvSpPr>
          <p:nvPr>
            <p:ph type="dt" sz="half" idx="10"/>
          </p:nvPr>
        </p:nvSpPr>
        <p:spPr/>
        <p:txBody>
          <a:bodyPr/>
          <a:lstStyle/>
          <a:p>
            <a:fld id="{FBD51D48-B389-41A4-86CE-3CCE3855C65A}" type="datetime3">
              <a:rPr lang="en-US" smtClean="0"/>
              <a:t>11 December 2025</a:t>
            </a:fld>
            <a:endParaRPr lang="en-US"/>
          </a:p>
        </p:txBody>
      </p:sp>
      <p:sp>
        <p:nvSpPr>
          <p:cNvPr id="8" name="Footer Placeholder 7">
            <a:extLst>
              <a:ext uri="{FF2B5EF4-FFF2-40B4-BE49-F238E27FC236}">
                <a16:creationId xmlns:a16="http://schemas.microsoft.com/office/drawing/2014/main" id="{DC26CC66-79E3-899D-9EB9-DA351BB319B9}"/>
              </a:ext>
            </a:extLst>
          </p:cNvPr>
          <p:cNvSpPr>
            <a:spLocks noGrp="1"/>
          </p:cNvSpPr>
          <p:nvPr>
            <p:ph type="ftr" sz="quarter" idx="11"/>
          </p:nvPr>
        </p:nvSpPr>
        <p:spPr/>
        <p:txBody>
          <a:bodyPr/>
          <a:lstStyle/>
          <a:p>
            <a:r>
              <a:rPr lang="en-US" dirty="0"/>
              <a:t>York Region Crime Analysis</a:t>
            </a:r>
          </a:p>
        </p:txBody>
      </p:sp>
      <p:sp>
        <p:nvSpPr>
          <p:cNvPr id="9" name="Slide Number Placeholder 8">
            <a:extLst>
              <a:ext uri="{FF2B5EF4-FFF2-40B4-BE49-F238E27FC236}">
                <a16:creationId xmlns:a16="http://schemas.microsoft.com/office/drawing/2014/main" id="{908A35A8-1D12-34FB-5ACC-39201FDE971F}"/>
              </a:ext>
            </a:extLst>
          </p:cNvPr>
          <p:cNvSpPr>
            <a:spLocks noGrp="1"/>
          </p:cNvSpPr>
          <p:nvPr>
            <p:ph type="sldNum" sz="quarter" idx="12"/>
          </p:nvPr>
        </p:nvSpPr>
        <p:spPr/>
        <p:txBody>
          <a:bodyPr/>
          <a:lstStyle/>
          <a:p>
            <a:fld id="{C1FF6DA9-008F-8B48-92A6-B652298478BF}" type="slidenum">
              <a:rPr lang="en-US" smtClean="0"/>
              <a:t>14</a:t>
            </a:fld>
            <a:endParaRPr lang="en-US"/>
          </a:p>
        </p:txBody>
      </p:sp>
      <p:sp>
        <p:nvSpPr>
          <p:cNvPr id="19" name="TextBox 18">
            <a:extLst>
              <a:ext uri="{FF2B5EF4-FFF2-40B4-BE49-F238E27FC236}">
                <a16:creationId xmlns:a16="http://schemas.microsoft.com/office/drawing/2014/main" id="{D3ABCE6A-F620-AAFE-4218-942DB784D46B}"/>
              </a:ext>
            </a:extLst>
          </p:cNvPr>
          <p:cNvSpPr txBox="1"/>
          <p:nvPr/>
        </p:nvSpPr>
        <p:spPr>
          <a:xfrm>
            <a:off x="7151915" y="1353367"/>
            <a:ext cx="4601934" cy="1600438"/>
          </a:xfrm>
          <a:prstGeom prst="rect">
            <a:avLst/>
          </a:prstGeom>
          <a:noFill/>
        </p:spPr>
        <p:txBody>
          <a:bodyPr wrap="square">
            <a:spAutoFit/>
          </a:bodyPr>
          <a:lstStyle/>
          <a:p>
            <a:pPr marL="285750" lvl="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Priority: Proactively reallocate resources to counter the forecasted increase in 2026</a:t>
            </a:r>
          </a:p>
          <a:p>
            <a:pPr marL="285750" lvl="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The 2024 surge was a unique and extreme event. Our forecast shows a return to the underlying pre-2024 growth trend. It indicates that the systematic pressures that existed before the 2024 spike are still present. If unaddressed it will lead to increased crime again</a:t>
            </a:r>
          </a:p>
        </p:txBody>
      </p:sp>
      <p:pic>
        <p:nvPicPr>
          <p:cNvPr id="21" name="Picture 20">
            <a:extLst>
              <a:ext uri="{FF2B5EF4-FFF2-40B4-BE49-F238E27FC236}">
                <a16:creationId xmlns:a16="http://schemas.microsoft.com/office/drawing/2014/main" id="{97FE402E-467F-973E-4380-B034BEB9564E}"/>
              </a:ext>
            </a:extLst>
          </p:cNvPr>
          <p:cNvPicPr>
            <a:picLocks noChangeAspect="1"/>
          </p:cNvPicPr>
          <p:nvPr/>
        </p:nvPicPr>
        <p:blipFill>
          <a:blip r:embed="rId4"/>
          <a:stretch>
            <a:fillRect/>
          </a:stretch>
        </p:blipFill>
        <p:spPr>
          <a:xfrm>
            <a:off x="609600" y="1338942"/>
            <a:ext cx="6248399" cy="2611771"/>
          </a:xfrm>
          <a:prstGeom prst="rect">
            <a:avLst/>
          </a:prstGeom>
        </p:spPr>
      </p:pic>
      <p:pic>
        <p:nvPicPr>
          <p:cNvPr id="25" name="Picture 24">
            <a:extLst>
              <a:ext uri="{FF2B5EF4-FFF2-40B4-BE49-F238E27FC236}">
                <a16:creationId xmlns:a16="http://schemas.microsoft.com/office/drawing/2014/main" id="{63520093-C6E9-6BB6-F777-7C773A99C969}"/>
              </a:ext>
            </a:extLst>
          </p:cNvPr>
          <p:cNvPicPr>
            <a:picLocks noChangeAspect="1"/>
          </p:cNvPicPr>
          <p:nvPr/>
        </p:nvPicPr>
        <p:blipFill>
          <a:blip r:embed="rId5"/>
          <a:stretch>
            <a:fillRect/>
          </a:stretch>
        </p:blipFill>
        <p:spPr>
          <a:xfrm>
            <a:off x="609600" y="3896187"/>
            <a:ext cx="6248399" cy="2460163"/>
          </a:xfrm>
          <a:prstGeom prst="rect">
            <a:avLst/>
          </a:prstGeom>
        </p:spPr>
      </p:pic>
    </p:spTree>
    <p:extLst>
      <p:ext uri="{BB962C8B-B14F-4D97-AF65-F5344CB8AC3E}">
        <p14:creationId xmlns:p14="http://schemas.microsoft.com/office/powerpoint/2010/main" val="3803900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4154D-C21A-BF33-3D92-874A11CB8FC5}"/>
              </a:ext>
            </a:extLst>
          </p:cNvPr>
          <p:cNvSpPr>
            <a:spLocks noGrp="1"/>
          </p:cNvSpPr>
          <p:nvPr>
            <p:ph type="title"/>
          </p:nvPr>
        </p:nvSpPr>
        <p:spPr/>
        <p:txBody>
          <a:bodyPr>
            <a:normAutofit fontScale="90000"/>
          </a:bodyPr>
          <a:lstStyle/>
          <a:p>
            <a:r>
              <a:rPr lang="en-CA" b="1" dirty="0">
                <a:latin typeface="Times New Roman" panose="02020603050405020304" pitchFamily="18" charset="0"/>
                <a:cs typeface="Times New Roman" panose="02020603050405020304" pitchFamily="18" charset="0"/>
              </a:rPr>
              <a:t>District 4 (Vaughan) Operational Dashboard</a:t>
            </a:r>
            <a:br>
              <a:rPr lang="en-CA" b="1" dirty="0">
                <a:latin typeface="Times New Roman" panose="02020603050405020304" pitchFamily="18" charset="0"/>
                <a:cs typeface="Times New Roman" panose="02020603050405020304" pitchFamily="18" charset="0"/>
              </a:rPr>
            </a:br>
            <a:r>
              <a:rPr lang="en-CA" b="1" dirty="0">
                <a:latin typeface="Times New Roman" panose="02020603050405020304" pitchFamily="18" charset="0"/>
                <a:cs typeface="Times New Roman" panose="02020603050405020304" pitchFamily="18" charset="0"/>
              </a:rPr>
              <a:t> &amp; The Staffing Crisis</a:t>
            </a:r>
          </a:p>
        </p:txBody>
      </p:sp>
      <p:sp>
        <p:nvSpPr>
          <p:cNvPr id="3" name="Date Placeholder 2">
            <a:extLst>
              <a:ext uri="{FF2B5EF4-FFF2-40B4-BE49-F238E27FC236}">
                <a16:creationId xmlns:a16="http://schemas.microsoft.com/office/drawing/2014/main" id="{B75B0995-0705-635A-1F1E-24B29A01C795}"/>
              </a:ext>
            </a:extLst>
          </p:cNvPr>
          <p:cNvSpPr>
            <a:spLocks noGrp="1"/>
          </p:cNvSpPr>
          <p:nvPr>
            <p:ph type="dt" sz="half" idx="10"/>
          </p:nvPr>
        </p:nvSpPr>
        <p:spPr/>
        <p:txBody>
          <a:bodyPr/>
          <a:lstStyle/>
          <a:p>
            <a:fld id="{D19EF3BC-678B-4841-9903-ABBED536D3E3}" type="datetime3">
              <a:rPr lang="en-US" smtClean="0"/>
              <a:t>11 December 2025</a:t>
            </a:fld>
            <a:endParaRPr lang="en-US"/>
          </a:p>
        </p:txBody>
      </p:sp>
      <p:sp>
        <p:nvSpPr>
          <p:cNvPr id="4" name="Footer Placeholder 3">
            <a:extLst>
              <a:ext uri="{FF2B5EF4-FFF2-40B4-BE49-F238E27FC236}">
                <a16:creationId xmlns:a16="http://schemas.microsoft.com/office/drawing/2014/main" id="{2B2672D3-F93E-97D0-6D05-CC6BD7133D46}"/>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7817628C-FBE3-249C-4F34-080F9FC9941A}"/>
              </a:ext>
            </a:extLst>
          </p:cNvPr>
          <p:cNvSpPr>
            <a:spLocks noGrp="1"/>
          </p:cNvSpPr>
          <p:nvPr>
            <p:ph type="sldNum" sz="quarter" idx="12"/>
          </p:nvPr>
        </p:nvSpPr>
        <p:spPr/>
        <p:txBody>
          <a:bodyPr/>
          <a:lstStyle/>
          <a:p>
            <a:fld id="{C1FF6DA9-008F-8B48-92A6-B652298478BF}" type="slidenum">
              <a:rPr lang="en-US" smtClean="0"/>
              <a:t>15</a:t>
            </a:fld>
            <a:endParaRPr lang="en-US"/>
          </a:p>
        </p:txBody>
      </p:sp>
      <p:pic>
        <p:nvPicPr>
          <p:cNvPr id="14" name="Picture 13">
            <a:extLst>
              <a:ext uri="{FF2B5EF4-FFF2-40B4-BE49-F238E27FC236}">
                <a16:creationId xmlns:a16="http://schemas.microsoft.com/office/drawing/2014/main" id="{BCBFCFC9-EB28-6673-BA67-13EBBDA1E929}"/>
              </a:ext>
            </a:extLst>
          </p:cNvPr>
          <p:cNvPicPr>
            <a:picLocks noChangeAspect="1"/>
          </p:cNvPicPr>
          <p:nvPr/>
        </p:nvPicPr>
        <p:blipFill>
          <a:blip r:embed="rId2"/>
          <a:stretch>
            <a:fillRect/>
          </a:stretch>
        </p:blipFill>
        <p:spPr>
          <a:xfrm>
            <a:off x="8013614" y="3925244"/>
            <a:ext cx="3542842" cy="2474351"/>
          </a:xfrm>
          <a:prstGeom prst="rect">
            <a:avLst/>
          </a:prstGeom>
        </p:spPr>
      </p:pic>
      <p:pic>
        <p:nvPicPr>
          <p:cNvPr id="15" name="Picture 14">
            <a:extLst>
              <a:ext uri="{FF2B5EF4-FFF2-40B4-BE49-F238E27FC236}">
                <a16:creationId xmlns:a16="http://schemas.microsoft.com/office/drawing/2014/main" id="{90CD004A-0BE4-1DDD-C947-E94C5EA8A951}"/>
              </a:ext>
            </a:extLst>
          </p:cNvPr>
          <p:cNvPicPr>
            <a:picLocks noChangeAspect="1"/>
          </p:cNvPicPr>
          <p:nvPr/>
        </p:nvPicPr>
        <p:blipFill>
          <a:blip r:embed="rId3"/>
          <a:stretch>
            <a:fillRect/>
          </a:stretch>
        </p:blipFill>
        <p:spPr>
          <a:xfrm>
            <a:off x="887826" y="3922738"/>
            <a:ext cx="3542842" cy="2482647"/>
          </a:xfrm>
          <a:prstGeom prst="rect">
            <a:avLst/>
          </a:prstGeom>
        </p:spPr>
      </p:pic>
      <p:pic>
        <p:nvPicPr>
          <p:cNvPr id="16" name="Picture 15">
            <a:extLst>
              <a:ext uri="{FF2B5EF4-FFF2-40B4-BE49-F238E27FC236}">
                <a16:creationId xmlns:a16="http://schemas.microsoft.com/office/drawing/2014/main" id="{EED2543C-7C8C-3A5D-AD66-4A8EABF5CB87}"/>
              </a:ext>
            </a:extLst>
          </p:cNvPr>
          <p:cNvPicPr>
            <a:picLocks noChangeAspect="1"/>
          </p:cNvPicPr>
          <p:nvPr/>
        </p:nvPicPr>
        <p:blipFill>
          <a:blip r:embed="rId4"/>
          <a:stretch>
            <a:fillRect/>
          </a:stretch>
        </p:blipFill>
        <p:spPr>
          <a:xfrm>
            <a:off x="5927580" y="1536685"/>
            <a:ext cx="2873211" cy="2408072"/>
          </a:xfrm>
          <a:prstGeom prst="rect">
            <a:avLst/>
          </a:prstGeom>
        </p:spPr>
      </p:pic>
      <p:pic>
        <p:nvPicPr>
          <p:cNvPr id="17" name="Picture 16">
            <a:extLst>
              <a:ext uri="{FF2B5EF4-FFF2-40B4-BE49-F238E27FC236}">
                <a16:creationId xmlns:a16="http://schemas.microsoft.com/office/drawing/2014/main" id="{D18F5FDA-E574-3B01-B340-CAE246BA4358}"/>
              </a:ext>
            </a:extLst>
          </p:cNvPr>
          <p:cNvPicPr>
            <a:picLocks noChangeAspect="1"/>
          </p:cNvPicPr>
          <p:nvPr/>
        </p:nvPicPr>
        <p:blipFill>
          <a:blip r:embed="rId5"/>
          <a:stretch>
            <a:fillRect/>
          </a:stretch>
        </p:blipFill>
        <p:spPr>
          <a:xfrm>
            <a:off x="4420946" y="3953053"/>
            <a:ext cx="3592668" cy="2446542"/>
          </a:xfrm>
          <a:prstGeom prst="rect">
            <a:avLst/>
          </a:prstGeom>
        </p:spPr>
      </p:pic>
      <p:pic>
        <p:nvPicPr>
          <p:cNvPr id="7" name="Picture 6">
            <a:extLst>
              <a:ext uri="{FF2B5EF4-FFF2-40B4-BE49-F238E27FC236}">
                <a16:creationId xmlns:a16="http://schemas.microsoft.com/office/drawing/2014/main" id="{E7A6C7E3-8475-D171-19E8-FA76588E13F8}"/>
              </a:ext>
            </a:extLst>
          </p:cNvPr>
          <p:cNvPicPr>
            <a:picLocks noChangeAspect="1"/>
          </p:cNvPicPr>
          <p:nvPr/>
        </p:nvPicPr>
        <p:blipFill>
          <a:blip r:embed="rId6"/>
          <a:stretch>
            <a:fillRect/>
          </a:stretch>
        </p:blipFill>
        <p:spPr>
          <a:xfrm>
            <a:off x="3654419" y="1536685"/>
            <a:ext cx="2273161" cy="2446542"/>
          </a:xfrm>
          <a:prstGeom prst="rect">
            <a:avLst/>
          </a:prstGeom>
        </p:spPr>
      </p:pic>
      <p:pic>
        <p:nvPicPr>
          <p:cNvPr id="10" name="Picture 9">
            <a:extLst>
              <a:ext uri="{FF2B5EF4-FFF2-40B4-BE49-F238E27FC236}">
                <a16:creationId xmlns:a16="http://schemas.microsoft.com/office/drawing/2014/main" id="{31BC95D9-3CB8-C179-785C-88C78AB41B01}"/>
              </a:ext>
            </a:extLst>
          </p:cNvPr>
          <p:cNvPicPr>
            <a:picLocks noChangeAspect="1"/>
          </p:cNvPicPr>
          <p:nvPr/>
        </p:nvPicPr>
        <p:blipFill>
          <a:blip r:embed="rId7"/>
          <a:stretch>
            <a:fillRect/>
          </a:stretch>
        </p:blipFill>
        <p:spPr>
          <a:xfrm>
            <a:off x="887826" y="1536684"/>
            <a:ext cx="2769694" cy="2386053"/>
          </a:xfrm>
          <a:prstGeom prst="rect">
            <a:avLst/>
          </a:prstGeom>
        </p:spPr>
      </p:pic>
      <p:sp>
        <p:nvSpPr>
          <p:cNvPr id="12" name="TextBox 11">
            <a:extLst>
              <a:ext uri="{FF2B5EF4-FFF2-40B4-BE49-F238E27FC236}">
                <a16:creationId xmlns:a16="http://schemas.microsoft.com/office/drawing/2014/main" id="{F78B648D-D615-EC85-B020-38B91AC0B479}"/>
              </a:ext>
            </a:extLst>
          </p:cNvPr>
          <p:cNvSpPr txBox="1"/>
          <p:nvPr/>
        </p:nvSpPr>
        <p:spPr>
          <a:xfrm>
            <a:off x="876559" y="1517227"/>
            <a:ext cx="1167319" cy="253916"/>
          </a:xfrm>
          <a:prstGeom prst="rect">
            <a:avLst/>
          </a:prstGeom>
          <a:noFill/>
        </p:spPr>
        <p:txBody>
          <a:bodyPr wrap="square" rtlCol="0">
            <a:spAutoFit/>
          </a:bodyPr>
          <a:lstStyle/>
          <a:p>
            <a:r>
              <a:rPr lang="en-CA" sz="1050" b="1" dirty="0">
                <a:latin typeface="Times New Roman" panose="02020603050405020304" pitchFamily="18" charset="0"/>
                <a:cs typeface="Times New Roman" panose="02020603050405020304" pitchFamily="18" charset="0"/>
              </a:rPr>
              <a:t>Staff-off Type</a:t>
            </a:r>
          </a:p>
        </p:txBody>
      </p:sp>
      <p:pic>
        <p:nvPicPr>
          <p:cNvPr id="20" name="Picture 19">
            <a:extLst>
              <a:ext uri="{FF2B5EF4-FFF2-40B4-BE49-F238E27FC236}">
                <a16:creationId xmlns:a16="http://schemas.microsoft.com/office/drawing/2014/main" id="{9766B691-BCF3-CAC6-B15E-B87777AC7246}"/>
              </a:ext>
            </a:extLst>
          </p:cNvPr>
          <p:cNvPicPr>
            <a:picLocks noChangeAspect="1"/>
          </p:cNvPicPr>
          <p:nvPr/>
        </p:nvPicPr>
        <p:blipFill>
          <a:blip r:embed="rId8"/>
          <a:stretch>
            <a:fillRect/>
          </a:stretch>
        </p:blipFill>
        <p:spPr>
          <a:xfrm>
            <a:off x="8808079" y="1536685"/>
            <a:ext cx="2748377" cy="2399776"/>
          </a:xfrm>
          <a:prstGeom prst="rect">
            <a:avLst/>
          </a:prstGeom>
        </p:spPr>
      </p:pic>
    </p:spTree>
    <p:extLst>
      <p:ext uri="{BB962C8B-B14F-4D97-AF65-F5344CB8AC3E}">
        <p14:creationId xmlns:p14="http://schemas.microsoft.com/office/powerpoint/2010/main" val="4288128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339DF-551D-FCDF-EF69-DD20D1ACD4C5}"/>
              </a:ext>
            </a:extLst>
          </p:cNvPr>
          <p:cNvSpPr>
            <a:spLocks noGrp="1"/>
          </p:cNvSpPr>
          <p:nvPr>
            <p:ph type="title"/>
          </p:nvPr>
        </p:nvSpPr>
        <p:spPr/>
        <p:txBody>
          <a:bodyPr>
            <a:normAutofit/>
          </a:bodyPr>
          <a:lstStyle/>
          <a:p>
            <a:pPr>
              <a:defRPr sz="2400" b="1"/>
            </a:pPr>
            <a:r>
              <a:rPr lang="en-CA" sz="4000" dirty="0">
                <a:latin typeface="Times New Roman" panose="02020603050405020304" pitchFamily="18" charset="0"/>
                <a:cs typeface="Times New Roman" panose="02020603050405020304" pitchFamily="18" charset="0"/>
              </a:rPr>
              <a:t>Top 10 High-Impact Operational Days</a:t>
            </a:r>
          </a:p>
        </p:txBody>
      </p:sp>
      <p:sp>
        <p:nvSpPr>
          <p:cNvPr id="3" name="Date Placeholder 2">
            <a:extLst>
              <a:ext uri="{FF2B5EF4-FFF2-40B4-BE49-F238E27FC236}">
                <a16:creationId xmlns:a16="http://schemas.microsoft.com/office/drawing/2014/main" id="{84383858-EEE4-3172-16CC-0779F7F33D68}"/>
              </a:ext>
            </a:extLst>
          </p:cNvPr>
          <p:cNvSpPr>
            <a:spLocks noGrp="1"/>
          </p:cNvSpPr>
          <p:nvPr>
            <p:ph type="dt" sz="half" idx="10"/>
          </p:nvPr>
        </p:nvSpPr>
        <p:spPr/>
        <p:txBody>
          <a:bodyPr/>
          <a:lstStyle/>
          <a:p>
            <a:fld id="{17C900D7-D69C-4B39-A99D-3B3E7E05A1ED}" type="datetime3">
              <a:rPr lang="en-US" smtClean="0"/>
              <a:t>11 December 2025</a:t>
            </a:fld>
            <a:endParaRPr lang="en-US"/>
          </a:p>
        </p:txBody>
      </p:sp>
      <p:sp>
        <p:nvSpPr>
          <p:cNvPr id="4" name="Footer Placeholder 3">
            <a:extLst>
              <a:ext uri="{FF2B5EF4-FFF2-40B4-BE49-F238E27FC236}">
                <a16:creationId xmlns:a16="http://schemas.microsoft.com/office/drawing/2014/main" id="{D3969454-00F8-63B5-6064-03C52564D519}"/>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15FA13AF-DE86-4C56-A2BC-50D06B8CD6A7}"/>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12" name="TextBox 11">
            <a:extLst>
              <a:ext uri="{FF2B5EF4-FFF2-40B4-BE49-F238E27FC236}">
                <a16:creationId xmlns:a16="http://schemas.microsoft.com/office/drawing/2014/main" id="{3EDD3AC3-B9F9-21B6-66C0-16F3249CEA40}"/>
              </a:ext>
            </a:extLst>
          </p:cNvPr>
          <p:cNvSpPr txBox="1"/>
          <p:nvPr/>
        </p:nvSpPr>
        <p:spPr>
          <a:xfrm>
            <a:off x="3147845" y="1150242"/>
            <a:ext cx="5638800" cy="307777"/>
          </a:xfrm>
          <a:prstGeom prst="rect">
            <a:avLst/>
          </a:prstGeom>
          <a:noFill/>
        </p:spPr>
        <p:txBody>
          <a:bodyPr wrap="square">
            <a:spAutoFit/>
          </a:bodyPr>
          <a:lstStyle/>
          <a:p>
            <a:pPr algn="ctr">
              <a:defRPr sz="1400" i="1">
                <a:solidFill>
                  <a:srgbClr val="808080"/>
                </a:solidFill>
              </a:defRPr>
            </a:pPr>
            <a:r>
              <a:rPr dirty="0">
                <a:solidFill>
                  <a:schemeClr val="tx1">
                    <a:lumMod val="65000"/>
                    <a:lumOff val="35000"/>
                  </a:schemeClr>
                </a:solidFill>
              </a:rPr>
              <a:t>District 4</a:t>
            </a:r>
          </a:p>
        </p:txBody>
      </p:sp>
      <p:graphicFrame>
        <p:nvGraphicFramePr>
          <p:cNvPr id="13" name="Table 12">
            <a:extLst>
              <a:ext uri="{FF2B5EF4-FFF2-40B4-BE49-F238E27FC236}">
                <a16:creationId xmlns:a16="http://schemas.microsoft.com/office/drawing/2014/main" id="{0AA82C81-E241-6035-36B4-A7C87ACE58F7}"/>
              </a:ext>
            </a:extLst>
          </p:cNvPr>
          <p:cNvGraphicFramePr>
            <a:graphicFrameLocks noGrp="1"/>
          </p:cNvGraphicFramePr>
          <p:nvPr>
            <p:extLst>
              <p:ext uri="{D42A27DB-BD31-4B8C-83A1-F6EECF244321}">
                <p14:modId xmlns:p14="http://schemas.microsoft.com/office/powerpoint/2010/main" val="3687318261"/>
              </p:ext>
            </p:extLst>
          </p:nvPr>
        </p:nvGraphicFramePr>
        <p:xfrm>
          <a:off x="790575" y="1797027"/>
          <a:ext cx="6600494" cy="4422797"/>
        </p:xfrm>
        <a:graphic>
          <a:graphicData uri="http://schemas.openxmlformats.org/drawingml/2006/table">
            <a:tbl>
              <a:tblPr firstRow="1" bandRow="1">
                <a:tableStyleId>{5C22544A-7EE6-4342-B048-85BDC9FD1C3A}</a:tableStyleId>
              </a:tblPr>
              <a:tblGrid>
                <a:gridCol w="528039">
                  <a:extLst>
                    <a:ext uri="{9D8B030D-6E8A-4147-A177-3AD203B41FA5}">
                      <a16:colId xmlns:a16="http://schemas.microsoft.com/office/drawing/2014/main" val="20000"/>
                    </a:ext>
                  </a:extLst>
                </a:gridCol>
                <a:gridCol w="1320099">
                  <a:extLst>
                    <a:ext uri="{9D8B030D-6E8A-4147-A177-3AD203B41FA5}">
                      <a16:colId xmlns:a16="http://schemas.microsoft.com/office/drawing/2014/main" val="20001"/>
                    </a:ext>
                  </a:extLst>
                </a:gridCol>
                <a:gridCol w="1056079">
                  <a:extLst>
                    <a:ext uri="{9D8B030D-6E8A-4147-A177-3AD203B41FA5}">
                      <a16:colId xmlns:a16="http://schemas.microsoft.com/office/drawing/2014/main" val="20002"/>
                    </a:ext>
                  </a:extLst>
                </a:gridCol>
                <a:gridCol w="924069">
                  <a:extLst>
                    <a:ext uri="{9D8B030D-6E8A-4147-A177-3AD203B41FA5}">
                      <a16:colId xmlns:a16="http://schemas.microsoft.com/office/drawing/2014/main" val="20003"/>
                    </a:ext>
                  </a:extLst>
                </a:gridCol>
                <a:gridCol w="792060">
                  <a:extLst>
                    <a:ext uri="{9D8B030D-6E8A-4147-A177-3AD203B41FA5}">
                      <a16:colId xmlns:a16="http://schemas.microsoft.com/office/drawing/2014/main" val="20004"/>
                    </a:ext>
                  </a:extLst>
                </a:gridCol>
                <a:gridCol w="1056079">
                  <a:extLst>
                    <a:ext uri="{9D8B030D-6E8A-4147-A177-3AD203B41FA5}">
                      <a16:colId xmlns:a16="http://schemas.microsoft.com/office/drawing/2014/main" val="20005"/>
                    </a:ext>
                  </a:extLst>
                </a:gridCol>
                <a:gridCol w="924069">
                  <a:extLst>
                    <a:ext uri="{9D8B030D-6E8A-4147-A177-3AD203B41FA5}">
                      <a16:colId xmlns:a16="http://schemas.microsoft.com/office/drawing/2014/main" val="20006"/>
                    </a:ext>
                  </a:extLst>
                </a:gridCol>
              </a:tblGrid>
              <a:tr h="537895">
                <a:tc>
                  <a:txBody>
                    <a:bodyPr/>
                    <a:lstStyle/>
                    <a:p>
                      <a:pPr algn="ctr">
                        <a:defRPr sz="1100" b="1">
                          <a:solidFill>
                            <a:srgbClr val="FFFFFF"/>
                          </a:solidFill>
                          <a:latin typeface="Calibri"/>
                        </a:defRPr>
                      </a:pPr>
                      <a:r>
                        <a:t>Rank</a:t>
                      </a:r>
                    </a:p>
                  </a:txBody>
                  <a:tcPr>
                    <a:solidFill>
                      <a:srgbClr val="294788"/>
                    </a:solidFill>
                  </a:tcPr>
                </a:tc>
                <a:tc>
                  <a:txBody>
                    <a:bodyPr/>
                    <a:lstStyle/>
                    <a:p>
                      <a:pPr algn="ctr">
                        <a:defRPr sz="1100" b="1">
                          <a:solidFill>
                            <a:srgbClr val="FFFFFF"/>
                          </a:solidFill>
                          <a:latin typeface="Calibri"/>
                        </a:defRPr>
                      </a:pPr>
                      <a:r>
                        <a:t>Date</a:t>
                      </a:r>
                    </a:p>
                  </a:txBody>
                  <a:tcPr>
                    <a:solidFill>
                      <a:srgbClr val="294788"/>
                    </a:solidFill>
                  </a:tcPr>
                </a:tc>
                <a:tc>
                  <a:txBody>
                    <a:bodyPr/>
                    <a:lstStyle/>
                    <a:p>
                      <a:pPr algn="ctr">
                        <a:defRPr sz="1100" b="1">
                          <a:solidFill>
                            <a:srgbClr val="FFFFFF"/>
                          </a:solidFill>
                          <a:latin typeface="Calibri"/>
                        </a:defRPr>
                      </a:pPr>
                      <a:r>
                        <a:t>Day</a:t>
                      </a:r>
                    </a:p>
                  </a:txBody>
                  <a:tcPr>
                    <a:solidFill>
                      <a:srgbClr val="294788"/>
                    </a:solidFill>
                  </a:tcPr>
                </a:tc>
                <a:tc>
                  <a:txBody>
                    <a:bodyPr/>
                    <a:lstStyle/>
                    <a:p>
                      <a:pPr algn="ctr">
                        <a:defRPr sz="1100" b="1">
                          <a:solidFill>
                            <a:srgbClr val="FFFFFF"/>
                          </a:solidFill>
                          <a:latin typeface="Calibri"/>
                        </a:defRPr>
                      </a:pPr>
                      <a:r>
                        <a:rPr dirty="0"/>
                        <a:t>Officers</a:t>
                      </a:r>
                    </a:p>
                    <a:p>
                      <a:pPr algn="ctr">
                        <a:defRPr sz="1100" b="1">
                          <a:solidFill>
                            <a:srgbClr val="FFFFFF"/>
                          </a:solidFill>
                          <a:latin typeface="Calibri"/>
                        </a:defRPr>
                      </a:pPr>
                      <a:r>
                        <a:rPr dirty="0"/>
                        <a:t>Off</a:t>
                      </a:r>
                    </a:p>
                  </a:txBody>
                  <a:tcPr>
                    <a:solidFill>
                      <a:srgbClr val="294788"/>
                    </a:solidFill>
                  </a:tcPr>
                </a:tc>
                <a:tc>
                  <a:txBody>
                    <a:bodyPr/>
                    <a:lstStyle/>
                    <a:p>
                      <a:pPr algn="ctr">
                        <a:defRPr sz="1100" b="1">
                          <a:solidFill>
                            <a:srgbClr val="FFFFFF"/>
                          </a:solidFill>
                          <a:latin typeface="Calibri"/>
                        </a:defRPr>
                      </a:pPr>
                      <a:r>
                        <a:t>Calls</a:t>
                      </a:r>
                    </a:p>
                  </a:txBody>
                  <a:tcPr>
                    <a:solidFill>
                      <a:srgbClr val="294788"/>
                    </a:solidFill>
                  </a:tcPr>
                </a:tc>
                <a:tc>
                  <a:txBody>
                    <a:bodyPr/>
                    <a:lstStyle/>
                    <a:p>
                      <a:pPr algn="ctr">
                        <a:defRPr sz="1100" b="1">
                          <a:solidFill>
                            <a:srgbClr val="FFFFFF"/>
                          </a:solidFill>
                          <a:latin typeface="Calibri"/>
                        </a:defRPr>
                      </a:pPr>
                      <a:r>
                        <a:t>Officers</a:t>
                      </a:r>
                    </a:p>
                    <a:p>
                      <a:pPr algn="ctr">
                        <a:defRPr sz="1100" b="1">
                          <a:solidFill>
                            <a:srgbClr val="FFFFFF"/>
                          </a:solidFill>
                          <a:latin typeface="Calibri"/>
                        </a:defRPr>
                      </a:pPr>
                      <a:r>
                        <a:t>On-Duty</a:t>
                      </a:r>
                    </a:p>
                  </a:txBody>
                  <a:tcPr>
                    <a:solidFill>
                      <a:srgbClr val="294788"/>
                    </a:solidFill>
                  </a:tcPr>
                </a:tc>
                <a:tc>
                  <a:txBody>
                    <a:bodyPr/>
                    <a:lstStyle/>
                    <a:p>
                      <a:pPr algn="ctr">
                        <a:defRPr sz="1100" b="1">
                          <a:solidFill>
                            <a:srgbClr val="FFFFFF"/>
                          </a:solidFill>
                          <a:latin typeface="Calibri"/>
                        </a:defRPr>
                      </a:pPr>
                      <a:r>
                        <a:t>Officer</a:t>
                      </a:r>
                    </a:p>
                    <a:p>
                      <a:pPr algn="ctr">
                        <a:defRPr sz="1100" b="1">
                          <a:solidFill>
                            <a:srgbClr val="FFFFFF"/>
                          </a:solidFill>
                          <a:latin typeface="Calibri"/>
                        </a:defRPr>
                      </a:pPr>
                      <a:r>
                        <a:t>Deficit</a:t>
                      </a:r>
                    </a:p>
                  </a:txBody>
                  <a:tcPr>
                    <a:solidFill>
                      <a:srgbClr val="294788"/>
                    </a:solidFill>
                  </a:tcPr>
                </a:tc>
                <a:extLst>
                  <a:ext uri="{0D108BD9-81ED-4DB2-BD59-A6C34878D82A}">
                    <a16:rowId xmlns:a16="http://schemas.microsoft.com/office/drawing/2014/main" val="10000"/>
                  </a:ext>
                </a:extLst>
              </a:tr>
              <a:tr h="388490">
                <a:tc>
                  <a:txBody>
                    <a:bodyPr/>
                    <a:lstStyle/>
                    <a:p>
                      <a:pPr algn="ctr">
                        <a:defRPr sz="1000" b="0">
                          <a:latin typeface="Calibri"/>
                        </a:defRPr>
                      </a:pPr>
                      <a:r>
                        <a:t>1</a:t>
                      </a:r>
                    </a:p>
                  </a:txBody>
                  <a:tcPr>
                    <a:solidFill>
                      <a:srgbClr val="F8F8F8"/>
                    </a:solidFill>
                  </a:tcPr>
                </a:tc>
                <a:tc>
                  <a:txBody>
                    <a:bodyPr/>
                    <a:lstStyle/>
                    <a:p>
                      <a:pPr algn="ctr">
                        <a:defRPr sz="1000" b="0">
                          <a:latin typeface="Calibri"/>
                        </a:defRPr>
                      </a:pPr>
                      <a:r>
                        <a:t>2024-09-13</a:t>
                      </a:r>
                    </a:p>
                  </a:txBody>
                  <a:tcPr>
                    <a:solidFill>
                      <a:srgbClr val="F8F8F8"/>
                    </a:solidFill>
                  </a:tcPr>
                </a:tc>
                <a:tc>
                  <a:txBody>
                    <a:bodyPr/>
                    <a:lstStyle/>
                    <a:p>
                      <a:pPr algn="ctr">
                        <a:defRPr sz="1000" b="0">
                          <a:latin typeface="Calibri"/>
                        </a:defRPr>
                      </a:pPr>
                      <a:r>
                        <a:t>Friday</a:t>
                      </a:r>
                    </a:p>
                  </a:txBody>
                  <a:tcPr>
                    <a:solidFill>
                      <a:srgbClr val="F8F8F8"/>
                    </a:solidFill>
                  </a:tcPr>
                </a:tc>
                <a:tc>
                  <a:txBody>
                    <a:bodyPr/>
                    <a:lstStyle/>
                    <a:p>
                      <a:pPr algn="ctr">
                        <a:defRPr sz="1000" b="0">
                          <a:latin typeface="Calibri"/>
                        </a:defRPr>
                      </a:pPr>
                      <a:r>
                        <a:t>45</a:t>
                      </a:r>
                    </a:p>
                  </a:txBody>
                  <a:tcPr>
                    <a:solidFill>
                      <a:srgbClr val="F8F8F8"/>
                    </a:solidFill>
                  </a:tcPr>
                </a:tc>
                <a:tc>
                  <a:txBody>
                    <a:bodyPr/>
                    <a:lstStyle/>
                    <a:p>
                      <a:pPr algn="ctr">
                        <a:defRPr sz="1000" b="0">
                          <a:latin typeface="Calibri"/>
                        </a:defRPr>
                      </a:pPr>
                      <a:r>
                        <a:t>546</a:t>
                      </a:r>
                    </a:p>
                  </a:txBody>
                  <a:tcPr>
                    <a:solidFill>
                      <a:srgbClr val="F8F8F8"/>
                    </a:solidFill>
                  </a:tcPr>
                </a:tc>
                <a:tc>
                  <a:txBody>
                    <a:bodyPr/>
                    <a:lstStyle/>
                    <a:p>
                      <a:pPr algn="ctr">
                        <a:defRPr sz="1000" b="1">
                          <a:solidFill>
                            <a:srgbClr val="DC0000"/>
                          </a:solidFill>
                          <a:latin typeface="Calibri"/>
                        </a:defRPr>
                      </a:pPr>
                      <a:r>
                        <a:t>16</a:t>
                      </a:r>
                    </a:p>
                  </a:txBody>
                  <a:tcPr>
                    <a:solidFill>
                      <a:srgbClr val="F8F8F8"/>
                    </a:solidFill>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1"/>
                  </a:ext>
                </a:extLst>
              </a:tr>
              <a:tr h="388490">
                <a:tc>
                  <a:txBody>
                    <a:bodyPr/>
                    <a:lstStyle/>
                    <a:p>
                      <a:pPr algn="ctr">
                        <a:defRPr sz="1000" b="0">
                          <a:latin typeface="Calibri"/>
                        </a:defRPr>
                      </a:pPr>
                      <a:r>
                        <a:t>2</a:t>
                      </a:r>
                    </a:p>
                  </a:txBody>
                  <a:tcPr/>
                </a:tc>
                <a:tc>
                  <a:txBody>
                    <a:bodyPr/>
                    <a:lstStyle/>
                    <a:p>
                      <a:pPr algn="ctr">
                        <a:defRPr sz="1000" b="0">
                          <a:latin typeface="Calibri"/>
                        </a:defRPr>
                      </a:pPr>
                      <a:r>
                        <a:t>2024-09-12</a:t>
                      </a:r>
                    </a:p>
                  </a:txBody>
                  <a:tcPr/>
                </a:tc>
                <a:tc>
                  <a:txBody>
                    <a:bodyPr/>
                    <a:lstStyle/>
                    <a:p>
                      <a:pPr algn="ctr">
                        <a:defRPr sz="1000" b="0">
                          <a:latin typeface="Calibri"/>
                        </a:defRPr>
                      </a:pPr>
                      <a:r>
                        <a:t>Thursday</a:t>
                      </a:r>
                    </a:p>
                  </a:txBody>
                  <a:tcPr/>
                </a:tc>
                <a:tc>
                  <a:txBody>
                    <a:bodyPr/>
                    <a:lstStyle/>
                    <a:p>
                      <a:pPr algn="ctr">
                        <a:defRPr sz="1000" b="0">
                          <a:latin typeface="Calibri"/>
                        </a:defRPr>
                      </a:pPr>
                      <a:r>
                        <a:t>47</a:t>
                      </a:r>
                    </a:p>
                  </a:txBody>
                  <a:tcPr/>
                </a:tc>
                <a:tc>
                  <a:txBody>
                    <a:bodyPr/>
                    <a:lstStyle/>
                    <a:p>
                      <a:pPr algn="ctr">
                        <a:defRPr sz="1000" b="0">
                          <a:latin typeface="Calibri"/>
                        </a:defRPr>
                      </a:pPr>
                      <a:r>
                        <a:t>515</a:t>
                      </a:r>
                    </a:p>
                  </a:txBody>
                  <a:tcPr/>
                </a:tc>
                <a:tc>
                  <a:txBody>
                    <a:bodyPr/>
                    <a:lstStyle/>
                    <a:p>
                      <a:pPr algn="ctr">
                        <a:defRPr sz="1000" b="1">
                          <a:solidFill>
                            <a:srgbClr val="DC0000"/>
                          </a:solidFill>
                          <a:latin typeface="Calibri"/>
                        </a:defRPr>
                      </a:pPr>
                      <a:r>
                        <a:rPr dirty="0"/>
                        <a:t>14</a:t>
                      </a:r>
                    </a:p>
                  </a:txBody>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2"/>
                  </a:ext>
                </a:extLst>
              </a:tr>
              <a:tr h="388490">
                <a:tc>
                  <a:txBody>
                    <a:bodyPr/>
                    <a:lstStyle/>
                    <a:p>
                      <a:pPr algn="ctr">
                        <a:defRPr sz="1000" b="0">
                          <a:latin typeface="Calibri"/>
                        </a:defRPr>
                      </a:pPr>
                      <a:r>
                        <a:t>3</a:t>
                      </a:r>
                    </a:p>
                  </a:txBody>
                  <a:tcPr>
                    <a:solidFill>
                      <a:srgbClr val="F8F8F8"/>
                    </a:solidFill>
                  </a:tcPr>
                </a:tc>
                <a:tc>
                  <a:txBody>
                    <a:bodyPr/>
                    <a:lstStyle/>
                    <a:p>
                      <a:pPr algn="ctr">
                        <a:defRPr sz="1000" b="0">
                          <a:latin typeface="Calibri"/>
                        </a:defRPr>
                      </a:pPr>
                      <a:r>
                        <a:t>2023-10-12</a:t>
                      </a:r>
                    </a:p>
                  </a:txBody>
                  <a:tcPr>
                    <a:solidFill>
                      <a:srgbClr val="F8F8F8"/>
                    </a:solidFill>
                  </a:tcPr>
                </a:tc>
                <a:tc>
                  <a:txBody>
                    <a:bodyPr/>
                    <a:lstStyle/>
                    <a:p>
                      <a:pPr algn="ctr">
                        <a:defRPr sz="1000" b="0">
                          <a:latin typeface="Calibri"/>
                        </a:defRPr>
                      </a:pPr>
                      <a:r>
                        <a:t>Thursday</a:t>
                      </a:r>
                    </a:p>
                  </a:txBody>
                  <a:tcPr>
                    <a:solidFill>
                      <a:srgbClr val="F8F8F8"/>
                    </a:solidFill>
                  </a:tcPr>
                </a:tc>
                <a:tc>
                  <a:txBody>
                    <a:bodyPr/>
                    <a:lstStyle/>
                    <a:p>
                      <a:pPr algn="ctr">
                        <a:defRPr sz="1000" b="0">
                          <a:latin typeface="Calibri"/>
                        </a:defRPr>
                      </a:pPr>
                      <a:r>
                        <a:t>46</a:t>
                      </a:r>
                    </a:p>
                  </a:txBody>
                  <a:tcPr>
                    <a:solidFill>
                      <a:srgbClr val="F8F8F8"/>
                    </a:solidFill>
                  </a:tcPr>
                </a:tc>
                <a:tc>
                  <a:txBody>
                    <a:bodyPr/>
                    <a:lstStyle/>
                    <a:p>
                      <a:pPr algn="ctr">
                        <a:defRPr sz="1000" b="0">
                          <a:latin typeface="Calibri"/>
                        </a:defRPr>
                      </a:pPr>
                      <a:r>
                        <a:t>526</a:t>
                      </a:r>
                    </a:p>
                  </a:txBody>
                  <a:tcPr>
                    <a:solidFill>
                      <a:srgbClr val="F8F8F8"/>
                    </a:solidFill>
                  </a:tcPr>
                </a:tc>
                <a:tc>
                  <a:txBody>
                    <a:bodyPr/>
                    <a:lstStyle/>
                    <a:p>
                      <a:pPr algn="ctr">
                        <a:defRPr sz="1000" b="1">
                          <a:solidFill>
                            <a:srgbClr val="DC0000"/>
                          </a:solidFill>
                          <a:latin typeface="Calibri"/>
                        </a:defRPr>
                      </a:pPr>
                      <a:r>
                        <a:t>15</a:t>
                      </a:r>
                    </a:p>
                  </a:txBody>
                  <a:tcPr>
                    <a:solidFill>
                      <a:srgbClr val="F8F8F8"/>
                    </a:solidFill>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3"/>
                  </a:ext>
                </a:extLst>
              </a:tr>
              <a:tr h="388490">
                <a:tc>
                  <a:txBody>
                    <a:bodyPr/>
                    <a:lstStyle/>
                    <a:p>
                      <a:pPr algn="ctr">
                        <a:defRPr sz="1000" b="0">
                          <a:latin typeface="Calibri"/>
                        </a:defRPr>
                      </a:pPr>
                      <a:r>
                        <a:t>4</a:t>
                      </a:r>
                    </a:p>
                  </a:txBody>
                  <a:tcPr/>
                </a:tc>
                <a:tc>
                  <a:txBody>
                    <a:bodyPr/>
                    <a:lstStyle/>
                    <a:p>
                      <a:pPr algn="ctr">
                        <a:defRPr sz="1000" b="0">
                          <a:latin typeface="Calibri"/>
                        </a:defRPr>
                      </a:pPr>
                      <a:r>
                        <a:t>2024-09-10</a:t>
                      </a:r>
                    </a:p>
                  </a:txBody>
                  <a:tcPr/>
                </a:tc>
                <a:tc>
                  <a:txBody>
                    <a:bodyPr/>
                    <a:lstStyle/>
                    <a:p>
                      <a:pPr algn="ctr">
                        <a:defRPr sz="1000" b="0">
                          <a:latin typeface="Calibri"/>
                        </a:defRPr>
                      </a:pPr>
                      <a:r>
                        <a:t>Tuesday</a:t>
                      </a:r>
                    </a:p>
                  </a:txBody>
                  <a:tcPr/>
                </a:tc>
                <a:tc>
                  <a:txBody>
                    <a:bodyPr/>
                    <a:lstStyle/>
                    <a:p>
                      <a:pPr algn="ctr">
                        <a:defRPr sz="1000" b="0">
                          <a:latin typeface="Calibri"/>
                        </a:defRPr>
                      </a:pPr>
                      <a:r>
                        <a:rPr dirty="0"/>
                        <a:t>45</a:t>
                      </a:r>
                    </a:p>
                  </a:txBody>
                  <a:tcPr/>
                </a:tc>
                <a:tc>
                  <a:txBody>
                    <a:bodyPr/>
                    <a:lstStyle/>
                    <a:p>
                      <a:pPr algn="ctr">
                        <a:defRPr sz="1000" b="0">
                          <a:latin typeface="Calibri"/>
                        </a:defRPr>
                      </a:pPr>
                      <a:r>
                        <a:t>518</a:t>
                      </a:r>
                    </a:p>
                  </a:txBody>
                  <a:tcPr/>
                </a:tc>
                <a:tc>
                  <a:txBody>
                    <a:bodyPr/>
                    <a:lstStyle/>
                    <a:p>
                      <a:pPr algn="ctr">
                        <a:defRPr sz="1000" b="1">
                          <a:solidFill>
                            <a:srgbClr val="DC0000"/>
                          </a:solidFill>
                          <a:latin typeface="Calibri"/>
                        </a:defRPr>
                      </a:pPr>
                      <a:r>
                        <a:rPr dirty="0"/>
                        <a:t>16</a:t>
                      </a:r>
                    </a:p>
                  </a:txBody>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4"/>
                  </a:ext>
                </a:extLst>
              </a:tr>
              <a:tr h="388490">
                <a:tc>
                  <a:txBody>
                    <a:bodyPr/>
                    <a:lstStyle/>
                    <a:p>
                      <a:pPr algn="ctr">
                        <a:defRPr sz="1000" b="0">
                          <a:latin typeface="Calibri"/>
                        </a:defRPr>
                      </a:pPr>
                      <a:r>
                        <a:t>5</a:t>
                      </a:r>
                    </a:p>
                  </a:txBody>
                  <a:tcPr>
                    <a:solidFill>
                      <a:srgbClr val="F8F8F8"/>
                    </a:solidFill>
                  </a:tcPr>
                </a:tc>
                <a:tc>
                  <a:txBody>
                    <a:bodyPr/>
                    <a:lstStyle/>
                    <a:p>
                      <a:pPr algn="ctr">
                        <a:defRPr sz="1000" b="0">
                          <a:latin typeface="Calibri"/>
                        </a:defRPr>
                      </a:pPr>
                      <a:r>
                        <a:t>2024-12-13</a:t>
                      </a:r>
                    </a:p>
                  </a:txBody>
                  <a:tcPr>
                    <a:solidFill>
                      <a:srgbClr val="F8F8F8"/>
                    </a:solidFill>
                  </a:tcPr>
                </a:tc>
                <a:tc>
                  <a:txBody>
                    <a:bodyPr/>
                    <a:lstStyle/>
                    <a:p>
                      <a:pPr algn="ctr">
                        <a:defRPr sz="1000" b="0">
                          <a:latin typeface="Calibri"/>
                        </a:defRPr>
                      </a:pPr>
                      <a:r>
                        <a:t>Friday</a:t>
                      </a:r>
                    </a:p>
                  </a:txBody>
                  <a:tcPr>
                    <a:solidFill>
                      <a:srgbClr val="F8F8F8"/>
                    </a:solidFill>
                  </a:tcPr>
                </a:tc>
                <a:tc>
                  <a:txBody>
                    <a:bodyPr/>
                    <a:lstStyle/>
                    <a:p>
                      <a:pPr algn="ctr">
                        <a:defRPr sz="1000" b="0">
                          <a:latin typeface="Calibri"/>
                        </a:defRPr>
                      </a:pPr>
                      <a:r>
                        <a:t>41</a:t>
                      </a:r>
                    </a:p>
                  </a:txBody>
                  <a:tcPr>
                    <a:solidFill>
                      <a:srgbClr val="F8F8F8"/>
                    </a:solidFill>
                  </a:tcPr>
                </a:tc>
                <a:tc>
                  <a:txBody>
                    <a:bodyPr/>
                    <a:lstStyle/>
                    <a:p>
                      <a:pPr algn="ctr">
                        <a:defRPr sz="1000" b="0">
                          <a:latin typeface="Calibri"/>
                        </a:defRPr>
                      </a:pPr>
                      <a:r>
                        <a:t>556</a:t>
                      </a:r>
                    </a:p>
                  </a:txBody>
                  <a:tcPr>
                    <a:solidFill>
                      <a:srgbClr val="F8F8F8"/>
                    </a:solidFill>
                  </a:tcPr>
                </a:tc>
                <a:tc>
                  <a:txBody>
                    <a:bodyPr/>
                    <a:lstStyle/>
                    <a:p>
                      <a:pPr algn="ctr">
                        <a:defRPr sz="1000" b="0">
                          <a:latin typeface="Calibri"/>
                        </a:defRPr>
                      </a:pPr>
                      <a:r>
                        <a:t>20</a:t>
                      </a:r>
                    </a:p>
                  </a:txBody>
                  <a:tcPr>
                    <a:solidFill>
                      <a:srgbClr val="F8F8F8"/>
                    </a:solidFill>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5"/>
                  </a:ext>
                </a:extLst>
              </a:tr>
              <a:tr h="388490">
                <a:tc>
                  <a:txBody>
                    <a:bodyPr/>
                    <a:lstStyle/>
                    <a:p>
                      <a:pPr algn="ctr">
                        <a:defRPr sz="1000" b="0">
                          <a:latin typeface="Calibri"/>
                        </a:defRPr>
                      </a:pPr>
                      <a:r>
                        <a:t>6</a:t>
                      </a:r>
                    </a:p>
                  </a:txBody>
                  <a:tcPr/>
                </a:tc>
                <a:tc>
                  <a:txBody>
                    <a:bodyPr/>
                    <a:lstStyle/>
                    <a:p>
                      <a:pPr algn="ctr">
                        <a:defRPr sz="1000" b="0">
                          <a:latin typeface="Calibri"/>
                        </a:defRPr>
                      </a:pPr>
                      <a:r>
                        <a:t>2024-12-04</a:t>
                      </a:r>
                    </a:p>
                  </a:txBody>
                  <a:tcPr/>
                </a:tc>
                <a:tc>
                  <a:txBody>
                    <a:bodyPr/>
                    <a:lstStyle/>
                    <a:p>
                      <a:pPr algn="ctr">
                        <a:defRPr sz="1000" b="0">
                          <a:latin typeface="Calibri"/>
                        </a:defRPr>
                      </a:pPr>
                      <a:r>
                        <a:t>Wednesday</a:t>
                      </a:r>
                    </a:p>
                  </a:txBody>
                  <a:tcPr/>
                </a:tc>
                <a:tc>
                  <a:txBody>
                    <a:bodyPr/>
                    <a:lstStyle/>
                    <a:p>
                      <a:pPr algn="ctr">
                        <a:defRPr sz="1000" b="0">
                          <a:latin typeface="Calibri"/>
                        </a:defRPr>
                      </a:pPr>
                      <a:r>
                        <a:t>37</a:t>
                      </a:r>
                    </a:p>
                  </a:txBody>
                  <a:tcPr/>
                </a:tc>
                <a:tc>
                  <a:txBody>
                    <a:bodyPr/>
                    <a:lstStyle/>
                    <a:p>
                      <a:pPr algn="ctr">
                        <a:defRPr sz="1000" b="0">
                          <a:latin typeface="Calibri"/>
                        </a:defRPr>
                      </a:pPr>
                      <a:r>
                        <a:t>607</a:t>
                      </a:r>
                    </a:p>
                  </a:txBody>
                  <a:tcPr/>
                </a:tc>
                <a:tc>
                  <a:txBody>
                    <a:bodyPr/>
                    <a:lstStyle/>
                    <a:p>
                      <a:pPr algn="ctr">
                        <a:defRPr sz="1000" b="0">
                          <a:latin typeface="Calibri"/>
                        </a:defRPr>
                      </a:pPr>
                      <a:r>
                        <a:rPr dirty="0"/>
                        <a:t>24</a:t>
                      </a:r>
                    </a:p>
                  </a:txBody>
                  <a:tcPr/>
                </a:tc>
                <a:tc>
                  <a:txBody>
                    <a:bodyPr/>
                    <a:lstStyle/>
                    <a:p>
                      <a:pPr algn="ctr">
                        <a:defRPr sz="1000" b="1">
                          <a:solidFill>
                            <a:srgbClr val="FFFFFF"/>
                          </a:solidFill>
                          <a:latin typeface="Calibri"/>
                        </a:defRPr>
                      </a:pPr>
                      <a:r>
                        <a:t>NO</a:t>
                      </a:r>
                    </a:p>
                  </a:txBody>
                  <a:tcPr>
                    <a:solidFill>
                      <a:srgbClr val="008000"/>
                    </a:solidFill>
                  </a:tcPr>
                </a:tc>
                <a:extLst>
                  <a:ext uri="{0D108BD9-81ED-4DB2-BD59-A6C34878D82A}">
                    <a16:rowId xmlns:a16="http://schemas.microsoft.com/office/drawing/2014/main" val="10006"/>
                  </a:ext>
                </a:extLst>
              </a:tr>
              <a:tr h="388490">
                <a:tc>
                  <a:txBody>
                    <a:bodyPr/>
                    <a:lstStyle/>
                    <a:p>
                      <a:pPr algn="ctr">
                        <a:defRPr sz="1000" b="0">
                          <a:latin typeface="Calibri"/>
                        </a:defRPr>
                      </a:pPr>
                      <a:r>
                        <a:t>7</a:t>
                      </a:r>
                    </a:p>
                  </a:txBody>
                  <a:tcPr>
                    <a:solidFill>
                      <a:srgbClr val="F8F8F8"/>
                    </a:solidFill>
                  </a:tcPr>
                </a:tc>
                <a:tc>
                  <a:txBody>
                    <a:bodyPr/>
                    <a:lstStyle/>
                    <a:p>
                      <a:pPr algn="ctr">
                        <a:defRPr sz="1000" b="0">
                          <a:latin typeface="Calibri"/>
                        </a:defRPr>
                      </a:pPr>
                      <a:r>
                        <a:t>2024-09-11</a:t>
                      </a:r>
                    </a:p>
                  </a:txBody>
                  <a:tcPr>
                    <a:solidFill>
                      <a:srgbClr val="F8F8F8"/>
                    </a:solidFill>
                  </a:tcPr>
                </a:tc>
                <a:tc>
                  <a:txBody>
                    <a:bodyPr/>
                    <a:lstStyle/>
                    <a:p>
                      <a:pPr algn="ctr">
                        <a:defRPr sz="1000" b="0">
                          <a:latin typeface="Calibri"/>
                        </a:defRPr>
                      </a:pPr>
                      <a:r>
                        <a:t>Wednesday</a:t>
                      </a:r>
                    </a:p>
                  </a:txBody>
                  <a:tcPr>
                    <a:solidFill>
                      <a:srgbClr val="F8F8F8"/>
                    </a:solidFill>
                  </a:tcPr>
                </a:tc>
                <a:tc>
                  <a:txBody>
                    <a:bodyPr/>
                    <a:lstStyle/>
                    <a:p>
                      <a:pPr algn="ctr">
                        <a:defRPr sz="1000" b="0">
                          <a:latin typeface="Calibri"/>
                        </a:defRPr>
                      </a:pPr>
                      <a:r>
                        <a:t>42</a:t>
                      </a:r>
                    </a:p>
                  </a:txBody>
                  <a:tcPr>
                    <a:solidFill>
                      <a:srgbClr val="F8F8F8"/>
                    </a:solidFill>
                  </a:tcPr>
                </a:tc>
                <a:tc>
                  <a:txBody>
                    <a:bodyPr/>
                    <a:lstStyle/>
                    <a:p>
                      <a:pPr algn="ctr">
                        <a:defRPr sz="1000" b="0">
                          <a:latin typeface="Calibri"/>
                        </a:defRPr>
                      </a:pPr>
                      <a:r>
                        <a:t>531</a:t>
                      </a:r>
                    </a:p>
                  </a:txBody>
                  <a:tcPr>
                    <a:solidFill>
                      <a:srgbClr val="F8F8F8"/>
                    </a:solidFill>
                  </a:tcPr>
                </a:tc>
                <a:tc>
                  <a:txBody>
                    <a:bodyPr/>
                    <a:lstStyle/>
                    <a:p>
                      <a:pPr algn="ctr">
                        <a:defRPr sz="1000" b="0">
                          <a:latin typeface="Calibri"/>
                        </a:defRPr>
                      </a:pPr>
                      <a:r>
                        <a:rPr dirty="0"/>
                        <a:t>19</a:t>
                      </a:r>
                    </a:p>
                  </a:txBody>
                  <a:tcPr>
                    <a:solidFill>
                      <a:srgbClr val="F8F8F8"/>
                    </a:solidFill>
                  </a:tcPr>
                </a:tc>
                <a:tc>
                  <a:txBody>
                    <a:bodyPr/>
                    <a:lstStyle/>
                    <a:p>
                      <a:pPr algn="ctr">
                        <a:defRPr sz="1000" b="1">
                          <a:solidFill>
                            <a:srgbClr val="FFFFFF"/>
                          </a:solidFill>
                          <a:latin typeface="Calibri"/>
                        </a:defRPr>
                      </a:pPr>
                      <a:r>
                        <a:t>YES</a:t>
                      </a:r>
                    </a:p>
                  </a:txBody>
                  <a:tcPr>
                    <a:solidFill>
                      <a:srgbClr val="DC0000"/>
                    </a:solidFill>
                  </a:tcPr>
                </a:tc>
                <a:extLst>
                  <a:ext uri="{0D108BD9-81ED-4DB2-BD59-A6C34878D82A}">
                    <a16:rowId xmlns:a16="http://schemas.microsoft.com/office/drawing/2014/main" val="10007"/>
                  </a:ext>
                </a:extLst>
              </a:tr>
              <a:tr h="388490">
                <a:tc>
                  <a:txBody>
                    <a:bodyPr/>
                    <a:lstStyle/>
                    <a:p>
                      <a:pPr algn="ctr">
                        <a:defRPr sz="1000" b="0">
                          <a:latin typeface="Calibri"/>
                        </a:defRPr>
                      </a:pPr>
                      <a:r>
                        <a:t>8</a:t>
                      </a:r>
                    </a:p>
                  </a:txBody>
                  <a:tcPr/>
                </a:tc>
                <a:tc>
                  <a:txBody>
                    <a:bodyPr/>
                    <a:lstStyle/>
                    <a:p>
                      <a:pPr algn="ctr">
                        <a:defRPr sz="1000" b="0">
                          <a:latin typeface="Calibri"/>
                        </a:defRPr>
                      </a:pPr>
                      <a:r>
                        <a:t>2024-12-05</a:t>
                      </a:r>
                    </a:p>
                  </a:txBody>
                  <a:tcPr/>
                </a:tc>
                <a:tc>
                  <a:txBody>
                    <a:bodyPr/>
                    <a:lstStyle/>
                    <a:p>
                      <a:pPr algn="ctr">
                        <a:defRPr sz="1000" b="0">
                          <a:latin typeface="Calibri"/>
                        </a:defRPr>
                      </a:pPr>
                      <a:r>
                        <a:t>Thursday</a:t>
                      </a:r>
                    </a:p>
                  </a:txBody>
                  <a:tcPr/>
                </a:tc>
                <a:tc>
                  <a:txBody>
                    <a:bodyPr/>
                    <a:lstStyle/>
                    <a:p>
                      <a:pPr algn="ctr">
                        <a:defRPr sz="1000" b="0">
                          <a:latin typeface="Calibri"/>
                        </a:defRPr>
                      </a:pPr>
                      <a:r>
                        <a:t>41</a:t>
                      </a:r>
                    </a:p>
                  </a:txBody>
                  <a:tcPr/>
                </a:tc>
                <a:tc>
                  <a:txBody>
                    <a:bodyPr/>
                    <a:lstStyle/>
                    <a:p>
                      <a:pPr algn="ctr">
                        <a:defRPr sz="1000" b="0">
                          <a:latin typeface="Calibri"/>
                        </a:defRPr>
                      </a:pPr>
                      <a:r>
                        <a:t>542</a:t>
                      </a:r>
                    </a:p>
                  </a:txBody>
                  <a:tcPr/>
                </a:tc>
                <a:tc>
                  <a:txBody>
                    <a:bodyPr/>
                    <a:lstStyle/>
                    <a:p>
                      <a:pPr algn="ctr">
                        <a:defRPr sz="1000" b="0">
                          <a:latin typeface="Calibri"/>
                        </a:defRPr>
                      </a:pPr>
                      <a:r>
                        <a:t>20</a:t>
                      </a:r>
                    </a:p>
                  </a:txBody>
                  <a:tcPr/>
                </a:tc>
                <a:tc>
                  <a:txBody>
                    <a:bodyPr/>
                    <a:lstStyle/>
                    <a:p>
                      <a:pPr algn="ctr">
                        <a:defRPr sz="1000" b="1">
                          <a:solidFill>
                            <a:srgbClr val="FFFFFF"/>
                          </a:solidFill>
                          <a:latin typeface="Calibri"/>
                        </a:defRPr>
                      </a:pPr>
                      <a:r>
                        <a:t>YES</a:t>
                      </a:r>
                    </a:p>
                  </a:txBody>
                  <a:tcPr>
                    <a:solidFill>
                      <a:srgbClr val="DC0000"/>
                    </a:solidFill>
                  </a:tcPr>
                </a:tc>
                <a:extLst>
                  <a:ext uri="{0D108BD9-81ED-4DB2-BD59-A6C34878D82A}">
                    <a16:rowId xmlns:a16="http://schemas.microsoft.com/office/drawing/2014/main" val="10008"/>
                  </a:ext>
                </a:extLst>
              </a:tr>
              <a:tr h="388490">
                <a:tc>
                  <a:txBody>
                    <a:bodyPr/>
                    <a:lstStyle/>
                    <a:p>
                      <a:pPr algn="ctr">
                        <a:defRPr sz="1000" b="0">
                          <a:latin typeface="Calibri"/>
                        </a:defRPr>
                      </a:pPr>
                      <a:r>
                        <a:t>9</a:t>
                      </a:r>
                    </a:p>
                  </a:txBody>
                  <a:tcPr>
                    <a:solidFill>
                      <a:srgbClr val="F8F8F8"/>
                    </a:solidFill>
                  </a:tcPr>
                </a:tc>
                <a:tc>
                  <a:txBody>
                    <a:bodyPr/>
                    <a:lstStyle/>
                    <a:p>
                      <a:pPr algn="ctr">
                        <a:defRPr sz="1000" b="0">
                          <a:latin typeface="Calibri"/>
                        </a:defRPr>
                      </a:pPr>
                      <a:r>
                        <a:t>2024-06-20</a:t>
                      </a:r>
                    </a:p>
                  </a:txBody>
                  <a:tcPr>
                    <a:solidFill>
                      <a:srgbClr val="F8F8F8"/>
                    </a:solidFill>
                  </a:tcPr>
                </a:tc>
                <a:tc>
                  <a:txBody>
                    <a:bodyPr/>
                    <a:lstStyle/>
                    <a:p>
                      <a:pPr algn="ctr">
                        <a:defRPr sz="1000" b="0">
                          <a:latin typeface="Calibri"/>
                        </a:defRPr>
                      </a:pPr>
                      <a:r>
                        <a:t>Thursday</a:t>
                      </a:r>
                    </a:p>
                  </a:txBody>
                  <a:tcPr>
                    <a:solidFill>
                      <a:srgbClr val="F8F8F8"/>
                    </a:solidFill>
                  </a:tcPr>
                </a:tc>
                <a:tc>
                  <a:txBody>
                    <a:bodyPr/>
                    <a:lstStyle/>
                    <a:p>
                      <a:pPr algn="ctr">
                        <a:defRPr sz="1000" b="0">
                          <a:latin typeface="Calibri"/>
                        </a:defRPr>
                      </a:pPr>
                      <a:r>
                        <a:t>42</a:t>
                      </a:r>
                    </a:p>
                  </a:txBody>
                  <a:tcPr>
                    <a:solidFill>
                      <a:srgbClr val="F8F8F8"/>
                    </a:solidFill>
                  </a:tcPr>
                </a:tc>
                <a:tc>
                  <a:txBody>
                    <a:bodyPr/>
                    <a:lstStyle/>
                    <a:p>
                      <a:pPr algn="ctr">
                        <a:defRPr sz="1000" b="0">
                          <a:latin typeface="Calibri"/>
                        </a:defRPr>
                      </a:pPr>
                      <a:r>
                        <a:t>526</a:t>
                      </a:r>
                    </a:p>
                  </a:txBody>
                  <a:tcPr>
                    <a:solidFill>
                      <a:srgbClr val="F8F8F8"/>
                    </a:solidFill>
                  </a:tcPr>
                </a:tc>
                <a:tc>
                  <a:txBody>
                    <a:bodyPr/>
                    <a:lstStyle/>
                    <a:p>
                      <a:pPr algn="ctr">
                        <a:defRPr sz="1000" b="0">
                          <a:latin typeface="Calibri"/>
                        </a:defRPr>
                      </a:pPr>
                      <a:r>
                        <a:rPr dirty="0"/>
                        <a:t>19</a:t>
                      </a:r>
                    </a:p>
                  </a:txBody>
                  <a:tcPr>
                    <a:solidFill>
                      <a:srgbClr val="F8F8F8"/>
                    </a:solidFill>
                  </a:tcPr>
                </a:tc>
                <a:tc>
                  <a:txBody>
                    <a:bodyPr/>
                    <a:lstStyle/>
                    <a:p>
                      <a:pPr algn="ctr">
                        <a:defRPr sz="1000" b="1">
                          <a:solidFill>
                            <a:srgbClr val="FFFFFF"/>
                          </a:solidFill>
                          <a:latin typeface="Calibri"/>
                        </a:defRPr>
                      </a:pPr>
                      <a:r>
                        <a:t>YES</a:t>
                      </a:r>
                    </a:p>
                  </a:txBody>
                  <a:tcPr>
                    <a:solidFill>
                      <a:srgbClr val="DC0000"/>
                    </a:solidFill>
                  </a:tcPr>
                </a:tc>
                <a:extLst>
                  <a:ext uri="{0D108BD9-81ED-4DB2-BD59-A6C34878D82A}">
                    <a16:rowId xmlns:a16="http://schemas.microsoft.com/office/drawing/2014/main" val="10009"/>
                  </a:ext>
                </a:extLst>
              </a:tr>
              <a:tr h="388492">
                <a:tc>
                  <a:txBody>
                    <a:bodyPr/>
                    <a:lstStyle/>
                    <a:p>
                      <a:pPr algn="ctr">
                        <a:defRPr sz="1000" b="0">
                          <a:latin typeface="Calibri"/>
                        </a:defRPr>
                      </a:pPr>
                      <a:r>
                        <a:t>10</a:t>
                      </a:r>
                    </a:p>
                  </a:txBody>
                  <a:tcPr/>
                </a:tc>
                <a:tc>
                  <a:txBody>
                    <a:bodyPr/>
                    <a:lstStyle/>
                    <a:p>
                      <a:pPr algn="ctr">
                        <a:defRPr sz="1000" b="0">
                          <a:latin typeface="Calibri"/>
                        </a:defRPr>
                      </a:pPr>
                      <a:r>
                        <a:t>2024-11-12</a:t>
                      </a:r>
                    </a:p>
                  </a:txBody>
                  <a:tcPr/>
                </a:tc>
                <a:tc>
                  <a:txBody>
                    <a:bodyPr/>
                    <a:lstStyle/>
                    <a:p>
                      <a:pPr algn="ctr">
                        <a:defRPr sz="1000" b="0">
                          <a:latin typeface="Calibri"/>
                        </a:defRPr>
                      </a:pPr>
                      <a:r>
                        <a:t>Tuesday</a:t>
                      </a:r>
                    </a:p>
                  </a:txBody>
                  <a:tcPr/>
                </a:tc>
                <a:tc>
                  <a:txBody>
                    <a:bodyPr/>
                    <a:lstStyle/>
                    <a:p>
                      <a:pPr algn="ctr">
                        <a:defRPr sz="1000" b="0">
                          <a:latin typeface="Calibri"/>
                        </a:defRPr>
                      </a:pPr>
                      <a:r>
                        <a:t>40</a:t>
                      </a:r>
                    </a:p>
                  </a:txBody>
                  <a:tcPr/>
                </a:tc>
                <a:tc>
                  <a:txBody>
                    <a:bodyPr/>
                    <a:lstStyle/>
                    <a:p>
                      <a:pPr algn="ctr">
                        <a:defRPr sz="1000" b="0">
                          <a:latin typeface="Calibri"/>
                        </a:defRPr>
                      </a:pPr>
                      <a:r>
                        <a:t>548</a:t>
                      </a:r>
                    </a:p>
                  </a:txBody>
                  <a:tcPr/>
                </a:tc>
                <a:tc>
                  <a:txBody>
                    <a:bodyPr/>
                    <a:lstStyle/>
                    <a:p>
                      <a:pPr algn="ctr">
                        <a:defRPr sz="1000" b="0">
                          <a:latin typeface="Calibri"/>
                        </a:defRPr>
                      </a:pPr>
                      <a:r>
                        <a:t>21</a:t>
                      </a:r>
                    </a:p>
                  </a:txBody>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10"/>
                  </a:ext>
                </a:extLst>
              </a:tr>
            </a:tbl>
          </a:graphicData>
        </a:graphic>
      </p:graphicFrame>
      <p:sp>
        <p:nvSpPr>
          <p:cNvPr id="14" name="TextBox 13">
            <a:extLst>
              <a:ext uri="{FF2B5EF4-FFF2-40B4-BE49-F238E27FC236}">
                <a16:creationId xmlns:a16="http://schemas.microsoft.com/office/drawing/2014/main" id="{AA611E4E-59B8-EE71-414C-49DD15C19C1C}"/>
              </a:ext>
            </a:extLst>
          </p:cNvPr>
          <p:cNvSpPr txBox="1"/>
          <p:nvPr/>
        </p:nvSpPr>
        <p:spPr>
          <a:xfrm>
            <a:off x="7648573" y="1792322"/>
            <a:ext cx="4210052" cy="700000"/>
          </a:xfrm>
          <a:prstGeom prst="rect">
            <a:avLst/>
          </a:prstGeom>
          <a:noFill/>
        </p:spPr>
        <p:txBody>
          <a:bodyPr wrap="square">
            <a:spAutoFit/>
          </a:bodyPr>
          <a:lstStyle/>
          <a:p>
            <a:pPr marL="285750" indent="-285750">
              <a:lnSpc>
                <a:spcPct val="150000"/>
              </a:lnSpc>
              <a:buFont typeface="Arial" panose="020B0604020202020204" pitchFamily="34" charset="0"/>
              <a:buChar char="•"/>
              <a:defRPr sz="1000">
                <a:solidFill>
                  <a:srgbClr val="404040"/>
                </a:solidFill>
              </a:defRPr>
            </a:pPr>
            <a:r>
              <a:rPr lang="en-US" sz="1400" dirty="0">
                <a:latin typeface="Times New Roman" panose="02020603050405020304" pitchFamily="18" charset="0"/>
                <a:cs typeface="Times New Roman" panose="02020603050405020304" pitchFamily="18" charset="0"/>
              </a:rPr>
              <a:t>9 out of 10 highest-risk days have officer deficits</a:t>
            </a:r>
          </a:p>
          <a:p>
            <a:pPr marL="285750" indent="-285750">
              <a:lnSpc>
                <a:spcPct val="150000"/>
              </a:lnSpc>
              <a:buFont typeface="Arial" panose="020B0604020202020204" pitchFamily="34" charset="0"/>
              <a:buChar char="•"/>
              <a:defRPr sz="1000">
                <a:solidFill>
                  <a:srgbClr val="404040"/>
                </a:solidFill>
              </a:defRPr>
            </a:pPr>
            <a:r>
              <a:rPr lang="en-US" sz="1400" dirty="0">
                <a:latin typeface="Times New Roman" panose="02020603050405020304" pitchFamily="18" charset="0"/>
                <a:cs typeface="Times New Roman" panose="02020603050405020304" pitchFamily="18" charset="0"/>
              </a:rPr>
              <a:t>September 2024 shows the most high-risk days</a:t>
            </a:r>
          </a:p>
        </p:txBody>
      </p:sp>
    </p:spTree>
    <p:extLst>
      <p:ext uri="{BB962C8B-B14F-4D97-AF65-F5344CB8AC3E}">
        <p14:creationId xmlns:p14="http://schemas.microsoft.com/office/powerpoint/2010/main" val="1897872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EDDB-75B7-F86E-9ACA-8010C023A45C}"/>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District 4 is the Epicenter of This Risk</a:t>
            </a:r>
          </a:p>
        </p:txBody>
      </p:sp>
      <p:sp>
        <p:nvSpPr>
          <p:cNvPr id="3" name="Date Placeholder 2">
            <a:extLst>
              <a:ext uri="{FF2B5EF4-FFF2-40B4-BE49-F238E27FC236}">
                <a16:creationId xmlns:a16="http://schemas.microsoft.com/office/drawing/2014/main" id="{ABE95676-6C09-A758-D68E-DC11F9B534C5}"/>
              </a:ext>
            </a:extLst>
          </p:cNvPr>
          <p:cNvSpPr>
            <a:spLocks noGrp="1"/>
          </p:cNvSpPr>
          <p:nvPr>
            <p:ph type="dt" sz="half" idx="10"/>
          </p:nvPr>
        </p:nvSpPr>
        <p:spPr/>
        <p:txBody>
          <a:bodyPr/>
          <a:lstStyle/>
          <a:p>
            <a:fld id="{A6E86F24-1C5C-4868-9858-BBCF7EFE9E7A}" type="datetime3">
              <a:rPr lang="en-US" smtClean="0"/>
              <a:t>11 December 2025</a:t>
            </a:fld>
            <a:endParaRPr lang="en-US"/>
          </a:p>
        </p:txBody>
      </p:sp>
      <p:sp>
        <p:nvSpPr>
          <p:cNvPr id="4" name="Footer Placeholder 3">
            <a:extLst>
              <a:ext uri="{FF2B5EF4-FFF2-40B4-BE49-F238E27FC236}">
                <a16:creationId xmlns:a16="http://schemas.microsoft.com/office/drawing/2014/main" id="{E67543A8-B6BE-944D-20BE-C32A09871020}"/>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104355CA-0E54-C74C-8A1F-7A8DC15CBFFF}"/>
              </a:ext>
            </a:extLst>
          </p:cNvPr>
          <p:cNvSpPr>
            <a:spLocks noGrp="1"/>
          </p:cNvSpPr>
          <p:nvPr>
            <p:ph type="sldNum" sz="quarter" idx="12"/>
          </p:nvPr>
        </p:nvSpPr>
        <p:spPr/>
        <p:txBody>
          <a:bodyPr/>
          <a:lstStyle/>
          <a:p>
            <a:fld id="{C1FF6DA9-008F-8B48-92A6-B652298478BF}" type="slidenum">
              <a:rPr lang="en-US" smtClean="0"/>
              <a:t>17</a:t>
            </a:fld>
            <a:endParaRPr lang="en-US" dirty="0"/>
          </a:p>
        </p:txBody>
      </p:sp>
      <p:pic>
        <p:nvPicPr>
          <p:cNvPr id="6" name="Picture 5">
            <a:extLst>
              <a:ext uri="{FF2B5EF4-FFF2-40B4-BE49-F238E27FC236}">
                <a16:creationId xmlns:a16="http://schemas.microsoft.com/office/drawing/2014/main" id="{E82EBC86-7BEC-B09A-87FA-A3F0C28ECBC6}"/>
              </a:ext>
            </a:extLst>
          </p:cNvPr>
          <p:cNvPicPr>
            <a:picLocks noChangeAspect="1"/>
          </p:cNvPicPr>
          <p:nvPr/>
        </p:nvPicPr>
        <p:blipFill>
          <a:blip r:embed="rId3"/>
          <a:stretch>
            <a:fillRect/>
          </a:stretch>
        </p:blipFill>
        <p:spPr>
          <a:xfrm>
            <a:off x="1107421" y="1240325"/>
            <a:ext cx="7322556" cy="5526921"/>
          </a:xfrm>
          <a:prstGeom prst="rect">
            <a:avLst/>
          </a:prstGeom>
        </p:spPr>
      </p:pic>
      <p:sp>
        <p:nvSpPr>
          <p:cNvPr id="7" name="TextBox 6">
            <a:extLst>
              <a:ext uri="{FF2B5EF4-FFF2-40B4-BE49-F238E27FC236}">
                <a16:creationId xmlns:a16="http://schemas.microsoft.com/office/drawing/2014/main" id="{9222E446-9863-F8C4-AF44-7A1BFEEF50F7}"/>
              </a:ext>
            </a:extLst>
          </p:cNvPr>
          <p:cNvSpPr txBox="1"/>
          <p:nvPr/>
        </p:nvSpPr>
        <p:spPr>
          <a:xfrm>
            <a:off x="8737600" y="2273214"/>
            <a:ext cx="3225799" cy="2354491"/>
          </a:xfrm>
          <a:prstGeom prst="rect">
            <a:avLst/>
          </a:prstGeom>
          <a:noFill/>
        </p:spPr>
        <p:txBody>
          <a:bodyPr wrap="square">
            <a:spAutoFit/>
          </a:bodyPr>
          <a:lstStyle/>
          <a:p>
            <a:pPr>
              <a:spcBef>
                <a:spcPts val="600"/>
              </a:spcBef>
            </a:pPr>
            <a:r>
              <a:rPr lang="en-CA" sz="1600" b="1" dirty="0">
                <a:latin typeface="Times New Roman" panose="02020603050405020304" pitchFamily="18" charset="0"/>
                <a:cs typeface="Times New Roman" panose="02020603050405020304" pitchFamily="18" charset="0"/>
              </a:rPr>
              <a:t>System Assessment</a:t>
            </a:r>
          </a:p>
          <a:p>
            <a:pPr marL="171450" indent="-171450">
              <a:buFont typeface="Arial" panose="020B0604020202020204" pitchFamily="34" charset="0"/>
              <a:buChar char="•"/>
            </a:pPr>
            <a:r>
              <a:rPr lang="en-CA" sz="1400" dirty="0">
                <a:solidFill>
                  <a:srgbClr val="0F1115"/>
                </a:solidFill>
                <a:latin typeface="Times New Roman" panose="02020603050405020304" pitchFamily="18" charset="0"/>
                <a:cs typeface="Times New Roman" panose="02020603050405020304" pitchFamily="18" charset="0"/>
              </a:rPr>
              <a:t>100-point scale evaluating</a:t>
            </a:r>
          </a:p>
          <a:p>
            <a:pPr marL="171450" lvl="1" indent="-171450">
              <a:buFont typeface="Arial" panose="020B0604020202020204" pitchFamily="34" charset="0"/>
              <a:buChar char="•"/>
            </a:pPr>
            <a:r>
              <a:rPr lang="en-CA" sz="1400" dirty="0">
                <a:solidFill>
                  <a:srgbClr val="0F1115"/>
                </a:solidFill>
                <a:latin typeface="Times New Roman" panose="02020603050405020304" pitchFamily="18" charset="0"/>
                <a:cs typeface="Times New Roman" panose="02020603050405020304" pitchFamily="18" charset="0"/>
              </a:rPr>
              <a:t>Crime growth &amp; volume</a:t>
            </a:r>
          </a:p>
          <a:p>
            <a:pPr marL="171450" lvl="1" indent="-171450">
              <a:buFont typeface="Arial" panose="020B0604020202020204" pitchFamily="34" charset="0"/>
              <a:buChar char="•"/>
            </a:pPr>
            <a:r>
              <a:rPr lang="en-CA" sz="1400" dirty="0">
                <a:solidFill>
                  <a:srgbClr val="0F1115"/>
                </a:solidFill>
                <a:latin typeface="Times New Roman" panose="02020603050405020304" pitchFamily="18" charset="0"/>
                <a:cs typeface="Times New Roman" panose="02020603050405020304" pitchFamily="18" charset="0"/>
              </a:rPr>
              <a:t>Type severity &amp; temporal concentration</a:t>
            </a:r>
          </a:p>
          <a:p>
            <a:pPr marL="171450" lvl="1" indent="-171450">
              <a:buFont typeface="Arial" panose="020B0604020202020204" pitchFamily="34" charset="0"/>
              <a:buChar char="•"/>
            </a:pPr>
            <a:r>
              <a:rPr lang="en-CA" sz="1400" dirty="0">
                <a:solidFill>
                  <a:srgbClr val="0F1115"/>
                </a:solidFill>
                <a:latin typeface="Times New Roman" panose="02020603050405020304" pitchFamily="18" charset="0"/>
                <a:cs typeface="Times New Roman" panose="02020603050405020304" pitchFamily="18" charset="0"/>
              </a:rPr>
              <a:t>Call-for-service load</a:t>
            </a:r>
          </a:p>
          <a:p>
            <a:pPr marL="0" lvl="1"/>
            <a:endParaRPr lang="en-CA" sz="1200" dirty="0">
              <a:solidFill>
                <a:srgbClr val="0F1115"/>
              </a:solidFill>
              <a:latin typeface="Times New Roman" panose="02020603050405020304" pitchFamily="18" charset="0"/>
              <a:cs typeface="Times New Roman" panose="02020603050405020304" pitchFamily="18" charset="0"/>
            </a:endParaRPr>
          </a:p>
          <a:p>
            <a:pPr>
              <a:spcBef>
                <a:spcPts val="600"/>
              </a:spcBef>
            </a:pPr>
            <a:endParaRPr lang="en-CA" sz="1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400" b="1" dirty="0">
                <a:solidFill>
                  <a:srgbClr val="0F1115"/>
                </a:solidFill>
                <a:latin typeface="Times New Roman" panose="02020603050405020304" pitchFamily="18" charset="0"/>
                <a:cs typeface="Times New Roman" panose="02020603050405020304" pitchFamily="18" charset="0"/>
              </a:rPr>
              <a:t>District 4 is not just a hotspot. It is a systematic outlier. It requires a disproportional share of resources</a:t>
            </a:r>
          </a:p>
        </p:txBody>
      </p:sp>
    </p:spTree>
    <p:extLst>
      <p:ext uri="{BB962C8B-B14F-4D97-AF65-F5344CB8AC3E}">
        <p14:creationId xmlns:p14="http://schemas.microsoft.com/office/powerpoint/2010/main" val="304018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36B8-6DE7-FAEB-6620-63DD72CC9249}"/>
              </a:ext>
            </a:extLst>
          </p:cNvPr>
          <p:cNvSpPr>
            <a:spLocks noGrp="1"/>
          </p:cNvSpPr>
          <p:nvPr>
            <p:ph type="title"/>
          </p:nvPr>
        </p:nvSpPr>
        <p:spPr/>
        <p:txBody>
          <a:bodyPr>
            <a:normAutofit fontScale="90000"/>
          </a:bodyPr>
          <a:lstStyle/>
          <a:p>
            <a:r>
              <a:rPr lang="en-CA" sz="4000" b="1" dirty="0">
                <a:latin typeface="Times New Roman" panose="02020603050405020304" pitchFamily="18" charset="0"/>
                <a:cs typeface="Times New Roman" panose="02020603050405020304" pitchFamily="18" charset="0"/>
              </a:rPr>
              <a:t>The Staffing Crisis: 95% Legal Compliance Masks 54% Operational Readiness In District 4</a:t>
            </a:r>
          </a:p>
        </p:txBody>
      </p:sp>
      <p:sp>
        <p:nvSpPr>
          <p:cNvPr id="3" name="Date Placeholder 2">
            <a:extLst>
              <a:ext uri="{FF2B5EF4-FFF2-40B4-BE49-F238E27FC236}">
                <a16:creationId xmlns:a16="http://schemas.microsoft.com/office/drawing/2014/main" id="{057B8F5C-AD01-B684-5956-8909006EDE4C}"/>
              </a:ext>
            </a:extLst>
          </p:cNvPr>
          <p:cNvSpPr>
            <a:spLocks noGrp="1"/>
          </p:cNvSpPr>
          <p:nvPr>
            <p:ph type="dt" sz="half" idx="10"/>
          </p:nvPr>
        </p:nvSpPr>
        <p:spPr/>
        <p:txBody>
          <a:bodyPr/>
          <a:lstStyle/>
          <a:p>
            <a:fld id="{485A5C9B-33A2-44EF-BDDF-A65D9A7BE701}" type="datetime3">
              <a:rPr lang="en-US" smtClean="0"/>
              <a:t>11 December 2025</a:t>
            </a:fld>
            <a:endParaRPr lang="en-US" dirty="0"/>
          </a:p>
        </p:txBody>
      </p:sp>
      <p:sp>
        <p:nvSpPr>
          <p:cNvPr id="4" name="Footer Placeholder 3">
            <a:extLst>
              <a:ext uri="{FF2B5EF4-FFF2-40B4-BE49-F238E27FC236}">
                <a16:creationId xmlns:a16="http://schemas.microsoft.com/office/drawing/2014/main" id="{0610FC1E-7FDA-7E47-9CF1-8C24624CB11C}"/>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8D500AE8-7A78-5C05-8742-1A6B69A077A3}"/>
              </a:ext>
            </a:extLst>
          </p:cNvPr>
          <p:cNvSpPr>
            <a:spLocks noGrp="1"/>
          </p:cNvSpPr>
          <p:nvPr>
            <p:ph type="sldNum" sz="quarter" idx="12"/>
          </p:nvPr>
        </p:nvSpPr>
        <p:spPr/>
        <p:txBody>
          <a:bodyPr/>
          <a:lstStyle/>
          <a:p>
            <a:fld id="{C1FF6DA9-008F-8B48-92A6-B652298478BF}" type="slidenum">
              <a:rPr lang="en-US" smtClean="0"/>
              <a:t>18</a:t>
            </a:fld>
            <a:endParaRPr lang="en-US" dirty="0"/>
          </a:p>
        </p:txBody>
      </p:sp>
      <p:pic>
        <p:nvPicPr>
          <p:cNvPr id="6" name="Picture 5" descr="A screenshot of a graph&#10;&#10;AI-generated content may be incorrect.">
            <a:extLst>
              <a:ext uri="{FF2B5EF4-FFF2-40B4-BE49-F238E27FC236}">
                <a16:creationId xmlns:a16="http://schemas.microsoft.com/office/drawing/2014/main" id="{0A80783C-30DA-B674-62EA-30F662250557}"/>
              </a:ext>
            </a:extLst>
          </p:cNvPr>
          <p:cNvPicPr>
            <a:picLocks noChangeAspect="1"/>
          </p:cNvPicPr>
          <p:nvPr/>
        </p:nvPicPr>
        <p:blipFill>
          <a:blip r:embed="rId3"/>
          <a:stretch>
            <a:fillRect/>
          </a:stretch>
        </p:blipFill>
        <p:spPr>
          <a:xfrm>
            <a:off x="238124" y="1470024"/>
            <a:ext cx="9078403" cy="5303838"/>
          </a:xfrm>
          <a:prstGeom prst="rect">
            <a:avLst/>
          </a:prstGeom>
        </p:spPr>
      </p:pic>
      <p:sp>
        <p:nvSpPr>
          <p:cNvPr id="7" name="TextBox 6">
            <a:extLst>
              <a:ext uri="{FF2B5EF4-FFF2-40B4-BE49-F238E27FC236}">
                <a16:creationId xmlns:a16="http://schemas.microsoft.com/office/drawing/2014/main" id="{3408045E-72F3-A51F-AF21-9056BE7C0550}"/>
              </a:ext>
            </a:extLst>
          </p:cNvPr>
          <p:cNvSpPr txBox="1"/>
          <p:nvPr/>
        </p:nvSpPr>
        <p:spPr>
          <a:xfrm>
            <a:off x="9396141" y="1426697"/>
            <a:ext cx="2557735" cy="4832092"/>
          </a:xfrm>
          <a:prstGeom prst="rect">
            <a:avLst/>
          </a:prstGeom>
          <a:noFill/>
        </p:spPr>
        <p:txBody>
          <a:bodyPr wrap="square">
            <a:spAutoFit/>
          </a:bodyPr>
          <a:lstStyle/>
          <a:p>
            <a:r>
              <a:rPr lang="en-CA" sz="1600" b="1" dirty="0">
                <a:latin typeface="Times New Roman" panose="02020603050405020304" pitchFamily="18" charset="0"/>
                <a:cs typeface="Times New Roman" panose="02020603050405020304" pitchFamily="18" charset="0"/>
              </a:rPr>
              <a:t>Summary</a:t>
            </a:r>
            <a:endParaRPr lang="en-CA"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Officer Readiness: 33 / 61 (54%)</a:t>
            </a:r>
            <a:endParaRPr lang="en-CA" sz="16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Staffing Compliance Rate: 95%</a:t>
            </a:r>
            <a:endParaRPr lang="en-CA" sz="1200" dirty="0">
              <a:solidFill>
                <a:srgbClr val="FF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While we meet a bare-minimum legal requirement 95% of the time, our effective operational capacity is only 54% due to vacancies, leave, and training. This means on an average day, we are operating with nearly half our force unavailable</a:t>
            </a:r>
            <a:endParaRPr lang="en-CA" sz="16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High-Unavailable Summer Months</a:t>
            </a: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High-Unavailable Days: While criminal activity peaks on Fridays, our operational need is highest from Monday-Thursday. This is due to low officer availability. This mismatch requires strategic scheduling adjustments</a:t>
            </a:r>
          </a:p>
          <a:p>
            <a:endParaRPr lang="en-CA" sz="1200" dirty="0">
              <a:solidFill>
                <a:srgbClr val="0F1115"/>
              </a:solidFill>
              <a:latin typeface="Times New Roman" panose="02020603050405020304" pitchFamily="18" charset="0"/>
              <a:cs typeface="Times New Roman" panose="02020603050405020304" pitchFamily="18" charset="0"/>
            </a:endParaRPr>
          </a:p>
          <a:p>
            <a:r>
              <a:rPr lang="en-CA" sz="1600" b="1" dirty="0">
                <a:latin typeface="Times New Roman" panose="02020603050405020304" pitchFamily="18" charset="0"/>
                <a:cs typeface="Times New Roman" panose="02020603050405020304" pitchFamily="18" charset="0"/>
              </a:rPr>
              <a:t>Implication</a:t>
            </a:r>
          </a:p>
          <a:p>
            <a:pPr marL="171450"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The crisis in District 4 is not just high crime volume, but a dangerous mismatch between criminal activity patterns and officer availability</a:t>
            </a:r>
          </a:p>
        </p:txBody>
      </p:sp>
    </p:spTree>
    <p:extLst>
      <p:ext uri="{BB962C8B-B14F-4D97-AF65-F5344CB8AC3E}">
        <p14:creationId xmlns:p14="http://schemas.microsoft.com/office/powerpoint/2010/main" val="849133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E30FB-39C0-F46A-5F1F-97F07C4143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EC2F6C-D543-622F-A1D1-DE0A58DB7E09}"/>
              </a:ext>
            </a:extLst>
          </p:cNvPr>
          <p:cNvSpPr txBox="1"/>
          <p:nvPr/>
        </p:nvSpPr>
        <p:spPr>
          <a:xfrm>
            <a:off x="902917" y="274321"/>
            <a:ext cx="10386178" cy="769441"/>
          </a:xfrm>
          <a:prstGeom prst="rect">
            <a:avLst/>
          </a:prstGeom>
          <a:noFill/>
        </p:spPr>
        <p:txBody>
          <a:bodyPr wrap="none">
            <a:spAutoFit/>
          </a:bodyPr>
          <a:lstStyle/>
          <a:p>
            <a:pPr algn="ctr">
              <a:defRPr sz="2400" b="1"/>
            </a:pPr>
            <a:r>
              <a:rPr lang="en-US" sz="4400" dirty="0">
                <a:latin typeface="Times New Roman" panose="02020603050405020304" pitchFamily="18" charset="0"/>
                <a:cs typeface="Times New Roman" panose="02020603050405020304" pitchFamily="18" charset="0"/>
              </a:rPr>
              <a:t>Conclusion &amp; </a:t>
            </a:r>
            <a:r>
              <a:rPr sz="4400" dirty="0">
                <a:latin typeface="Times New Roman" panose="02020603050405020304" pitchFamily="18" charset="0"/>
                <a:cs typeface="Times New Roman" panose="02020603050405020304" pitchFamily="18" charset="0"/>
              </a:rPr>
              <a:t>Strategic Recommendations</a:t>
            </a:r>
          </a:p>
        </p:txBody>
      </p:sp>
      <p:sp>
        <p:nvSpPr>
          <p:cNvPr id="2" name="Date Placeholder 1">
            <a:extLst>
              <a:ext uri="{FF2B5EF4-FFF2-40B4-BE49-F238E27FC236}">
                <a16:creationId xmlns:a16="http://schemas.microsoft.com/office/drawing/2014/main" id="{1B192E4F-AE93-E29A-20EA-A2E1339929F1}"/>
              </a:ext>
            </a:extLst>
          </p:cNvPr>
          <p:cNvSpPr>
            <a:spLocks noGrp="1"/>
          </p:cNvSpPr>
          <p:nvPr>
            <p:ph type="dt" sz="half" idx="10"/>
          </p:nvPr>
        </p:nvSpPr>
        <p:spPr/>
        <p:txBody>
          <a:bodyPr/>
          <a:lstStyle/>
          <a:p>
            <a:fld id="{72C515E2-30FF-4078-985A-B089EC7F1F81}" type="datetime3">
              <a:rPr lang="en-US" smtClean="0"/>
              <a:t>11 December 2025</a:t>
            </a:fld>
            <a:endParaRPr lang="en-US"/>
          </a:p>
        </p:txBody>
      </p:sp>
      <p:sp>
        <p:nvSpPr>
          <p:cNvPr id="9" name="Footer Placeholder 8">
            <a:extLst>
              <a:ext uri="{FF2B5EF4-FFF2-40B4-BE49-F238E27FC236}">
                <a16:creationId xmlns:a16="http://schemas.microsoft.com/office/drawing/2014/main" id="{B7733991-E500-288A-E8F8-365610772DAD}"/>
              </a:ext>
            </a:extLst>
          </p:cNvPr>
          <p:cNvSpPr>
            <a:spLocks noGrp="1"/>
          </p:cNvSpPr>
          <p:nvPr>
            <p:ph type="ftr" sz="quarter" idx="11"/>
          </p:nvPr>
        </p:nvSpPr>
        <p:spPr/>
        <p:txBody>
          <a:bodyPr/>
          <a:lstStyle/>
          <a:p>
            <a:r>
              <a:rPr lang="en-US" dirty="0"/>
              <a:t>York Region Crime Analysis</a:t>
            </a:r>
          </a:p>
        </p:txBody>
      </p:sp>
      <p:sp>
        <p:nvSpPr>
          <p:cNvPr id="10" name="Slide Number Placeholder 9">
            <a:extLst>
              <a:ext uri="{FF2B5EF4-FFF2-40B4-BE49-F238E27FC236}">
                <a16:creationId xmlns:a16="http://schemas.microsoft.com/office/drawing/2014/main" id="{20746FD3-A2CB-1F53-0B81-E5ECB6D0BCB0}"/>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4" name="TextBox 11">
            <a:extLst>
              <a:ext uri="{FF2B5EF4-FFF2-40B4-BE49-F238E27FC236}">
                <a16:creationId xmlns:a16="http://schemas.microsoft.com/office/drawing/2014/main" id="{9EDF54D2-080C-AE56-50F5-C0C227E4EE5C}"/>
              </a:ext>
            </a:extLst>
          </p:cNvPr>
          <p:cNvSpPr txBox="1"/>
          <p:nvPr/>
        </p:nvSpPr>
        <p:spPr>
          <a:xfrm>
            <a:off x="852488" y="1445851"/>
            <a:ext cx="10487024" cy="440120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District 4 (Vaughan) is the Epicenter of Risk</a:t>
            </a:r>
          </a:p>
          <a:p>
            <a:pPr marL="457200" indent="-457200">
              <a:buFont typeface="Arial" panose="020B0604020202020204" pitchFamily="34" charset="0"/>
              <a:buChar char="•"/>
            </a:pPr>
            <a:endParaRPr lang="en-CA"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Immediate Tactical Action:</a:t>
            </a:r>
            <a:r>
              <a:rPr lang="en-CA" sz="2800" dirty="0">
                <a:latin typeface="Times New Roman" panose="02020603050405020304" pitchFamily="18" charset="0"/>
                <a:cs typeface="Times New Roman" panose="02020603050405020304" pitchFamily="18" charset="0"/>
              </a:rPr>
              <a:t> Deploy resources to District 4 to combat organized crime and gun violence</a:t>
            </a:r>
          </a:p>
          <a:p>
            <a:pPr marL="457200" indent="-457200">
              <a:buFont typeface="Arial" panose="020B0604020202020204" pitchFamily="34" charset="0"/>
              <a:buChar char="•"/>
            </a:pPr>
            <a:endParaRPr lang="en-CA"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Proactive Staffing Strategy:</a:t>
            </a:r>
            <a:r>
              <a:rPr lang="en-CA" sz="2800" dirty="0">
                <a:latin typeface="Times New Roman" panose="02020603050405020304" pitchFamily="18" charset="0"/>
                <a:cs typeface="Times New Roman" panose="02020603050405020304" pitchFamily="18" charset="0"/>
              </a:rPr>
              <a:t> Implement strategic shift to cover weekday and the Summer Surge Plan</a:t>
            </a:r>
          </a:p>
          <a:p>
            <a:pPr marL="457200" indent="-457200">
              <a:buFont typeface="Arial" panose="020B0604020202020204" pitchFamily="34" charset="0"/>
              <a:buChar char="•"/>
            </a:pPr>
            <a:endParaRPr lang="en-CA"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Long-Term System Optimization:</a:t>
            </a:r>
            <a:r>
              <a:rPr lang="en-CA" sz="2800" dirty="0">
                <a:latin typeface="Times New Roman" panose="02020603050405020304" pitchFamily="18" charset="0"/>
                <a:cs typeface="Times New Roman" panose="02020603050405020304" pitchFamily="18" charset="0"/>
              </a:rPr>
              <a:t> Use the forecasted 2026 trend to advocate for sustained investment in prevention and data monitoring</a:t>
            </a:r>
          </a:p>
        </p:txBody>
      </p:sp>
    </p:spTree>
    <p:extLst>
      <p:ext uri="{BB962C8B-B14F-4D97-AF65-F5344CB8AC3E}">
        <p14:creationId xmlns:p14="http://schemas.microsoft.com/office/powerpoint/2010/main" val="391233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5F8E7-EFCF-1155-E0AA-89A907938B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24E1F1-754E-2904-EFBB-CA2DFDEB112F}"/>
              </a:ext>
            </a:extLst>
          </p:cNvPr>
          <p:cNvSpPr txBox="1"/>
          <p:nvPr/>
        </p:nvSpPr>
        <p:spPr>
          <a:xfrm>
            <a:off x="3837280" y="274321"/>
            <a:ext cx="5355826" cy="769441"/>
          </a:xfrm>
          <a:prstGeom prst="rect">
            <a:avLst/>
          </a:prstGeom>
          <a:noFill/>
        </p:spPr>
        <p:txBody>
          <a:bodyPr wrap="none">
            <a:spAutoFit/>
          </a:bodyPr>
          <a:lstStyle/>
          <a:p>
            <a:pPr algn="ctr">
              <a:defRPr sz="2400" b="1"/>
            </a:pPr>
            <a:r>
              <a:rPr lang="en-CA" sz="4400" b="1" dirty="0">
                <a:latin typeface="Times New Roman" panose="02020603050405020304" pitchFamily="18" charset="0"/>
                <a:cs typeface="Times New Roman" panose="02020603050405020304" pitchFamily="18" charset="0"/>
              </a:rPr>
              <a:t>Thank You and </a:t>
            </a:r>
            <a:r>
              <a:rPr lang="en-US" sz="4400" b="1" dirty="0">
                <a:latin typeface="Times New Roman" panose="02020603050405020304" pitchFamily="18" charset="0"/>
                <a:cs typeface="Times New Roman" panose="02020603050405020304" pitchFamily="18" charset="0"/>
              </a:rPr>
              <a:t>Q&amp;A</a:t>
            </a:r>
          </a:p>
        </p:txBody>
      </p:sp>
      <p:sp>
        <p:nvSpPr>
          <p:cNvPr id="2" name="Date Placeholder 1">
            <a:extLst>
              <a:ext uri="{FF2B5EF4-FFF2-40B4-BE49-F238E27FC236}">
                <a16:creationId xmlns:a16="http://schemas.microsoft.com/office/drawing/2014/main" id="{F199E256-DC05-1725-18BB-CCB44F9EAD54}"/>
              </a:ext>
            </a:extLst>
          </p:cNvPr>
          <p:cNvSpPr>
            <a:spLocks noGrp="1"/>
          </p:cNvSpPr>
          <p:nvPr>
            <p:ph type="dt" sz="half" idx="10"/>
          </p:nvPr>
        </p:nvSpPr>
        <p:spPr/>
        <p:txBody>
          <a:bodyPr/>
          <a:lstStyle/>
          <a:p>
            <a:fld id="{55FB74D6-C473-4828-9271-FAFDCBB57DF5}" type="datetime3">
              <a:rPr lang="en-US" smtClean="0"/>
              <a:t>11 December 2025</a:t>
            </a:fld>
            <a:endParaRPr lang="en-US"/>
          </a:p>
        </p:txBody>
      </p:sp>
      <p:sp>
        <p:nvSpPr>
          <p:cNvPr id="9" name="Footer Placeholder 8">
            <a:extLst>
              <a:ext uri="{FF2B5EF4-FFF2-40B4-BE49-F238E27FC236}">
                <a16:creationId xmlns:a16="http://schemas.microsoft.com/office/drawing/2014/main" id="{1C80E8F4-82CE-F399-CA33-73748D2344D2}"/>
              </a:ext>
            </a:extLst>
          </p:cNvPr>
          <p:cNvSpPr>
            <a:spLocks noGrp="1"/>
          </p:cNvSpPr>
          <p:nvPr>
            <p:ph type="ftr" sz="quarter" idx="11"/>
          </p:nvPr>
        </p:nvSpPr>
        <p:spPr/>
        <p:txBody>
          <a:bodyPr/>
          <a:lstStyle/>
          <a:p>
            <a:r>
              <a:rPr lang="en-US" dirty="0"/>
              <a:t>York Region Crime Analysis</a:t>
            </a:r>
          </a:p>
        </p:txBody>
      </p:sp>
      <p:sp>
        <p:nvSpPr>
          <p:cNvPr id="10" name="Slide Number Placeholder 9">
            <a:extLst>
              <a:ext uri="{FF2B5EF4-FFF2-40B4-BE49-F238E27FC236}">
                <a16:creationId xmlns:a16="http://schemas.microsoft.com/office/drawing/2014/main" id="{B365C097-B213-B881-7094-E397C6B3D631}"/>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6" name="TextBox 5">
            <a:extLst>
              <a:ext uri="{FF2B5EF4-FFF2-40B4-BE49-F238E27FC236}">
                <a16:creationId xmlns:a16="http://schemas.microsoft.com/office/drawing/2014/main" id="{9DAE124F-398E-2BF2-91CF-856D98BBD4C6}"/>
              </a:ext>
            </a:extLst>
          </p:cNvPr>
          <p:cNvSpPr txBox="1"/>
          <p:nvPr/>
        </p:nvSpPr>
        <p:spPr>
          <a:xfrm>
            <a:off x="1162301" y="1067246"/>
            <a:ext cx="10291761" cy="542744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Download this Presentation </a:t>
            </a:r>
          </a:p>
          <a:p>
            <a:pPr lvl="1">
              <a:lnSpc>
                <a:spcPct val="150000"/>
              </a:lnSpc>
            </a:pPr>
            <a:r>
              <a:rPr lang="en-US" dirty="0">
                <a:latin typeface="Times New Roman" panose="02020603050405020304" pitchFamily="18" charset="0"/>
                <a:cs typeface="Times New Roman" panose="02020603050405020304" pitchFamily="18" charset="0"/>
              </a:rPr>
              <a:t>	</a:t>
            </a:r>
          </a:p>
          <a:p>
            <a:pPr lvl="1">
              <a:lnSpc>
                <a:spcPct val="150000"/>
              </a:lnSpc>
            </a:pPr>
            <a:r>
              <a:rPr lang="en-CA" dirty="0">
                <a:latin typeface="Times New Roman" panose="02020603050405020304" pitchFamily="18" charset="0"/>
                <a:cs typeface="Times New Roman" panose="02020603050405020304" pitchFamily="18" charset="0"/>
              </a:rPr>
              <a:t>Download Full Presentation:</a:t>
            </a:r>
            <a:r>
              <a:rPr lang="en-US" dirty="0">
                <a:latin typeface="Times New Roman" panose="02020603050405020304" pitchFamily="18" charset="0"/>
                <a:cs typeface="Times New Roman" panose="02020603050405020304" pitchFamily="18" charset="0"/>
              </a:rPr>
              <a:t> </a:t>
            </a:r>
          </a:p>
          <a:p>
            <a:pPr lvl="1">
              <a:lnSpc>
                <a:spcPct val="150000"/>
              </a:lnSpc>
            </a:pPr>
            <a:r>
              <a:rPr lang="en-US" dirty="0">
                <a:latin typeface="Times New Roman" panose="02020603050405020304" pitchFamily="18" charset="0"/>
                <a:cs typeface="Times New Roman" panose="02020603050405020304" pitchFamily="18" charset="0"/>
              </a:rPr>
              <a:t>	</a:t>
            </a:r>
          </a:p>
          <a:p>
            <a:pPr lvl="1">
              <a:lnSpc>
                <a:spcPct val="150000"/>
              </a:lnSpc>
            </a:pPr>
            <a:r>
              <a:rPr lang="en-US" dirty="0">
                <a:latin typeface="Times New Roman" panose="02020603050405020304" pitchFamily="18" charset="0"/>
                <a:cs typeface="Times New Roman" panose="02020603050405020304" pitchFamily="18" charset="0"/>
              </a:rPr>
              <a:t>	Or visit: </a:t>
            </a:r>
            <a:r>
              <a:rPr lang="en-US" dirty="0">
                <a:latin typeface="Times New Roman" panose="02020603050405020304" pitchFamily="18" charset="0"/>
                <a:cs typeface="Times New Roman" panose="02020603050405020304" pitchFamily="18" charset="0"/>
                <a:hlinkClick r:id="rId3"/>
              </a:rPr>
              <a:t>https://github.com/fuxima/YRP/blob/main/YorkRegionCrimeAnalysis_presentation.pptx</a:t>
            </a:r>
            <a:endParaRPr lang="en-US"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 </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View Full Project and Code</a:t>
            </a:r>
          </a:p>
          <a:p>
            <a:pPr lvl="2">
              <a:lnSpc>
                <a:spcPct val="150000"/>
              </a:lnSpc>
            </a:pPr>
            <a:endParaRPr lang="en-CA" dirty="0">
              <a:latin typeface="Times New Roman" panose="02020603050405020304" pitchFamily="18" charset="0"/>
              <a:cs typeface="Times New Roman" panose="02020603050405020304" pitchFamily="18" charset="0"/>
            </a:endParaRPr>
          </a:p>
          <a:p>
            <a:pPr lvl="2">
              <a:lnSpc>
                <a:spcPct val="150000"/>
              </a:lnSpc>
            </a:pPr>
            <a:r>
              <a:rPr lang="en-CA" dirty="0">
                <a:latin typeface="Times New Roman" panose="02020603050405020304" pitchFamily="18" charset="0"/>
                <a:cs typeface="Times New Roman" panose="02020603050405020304" pitchFamily="18" charset="0"/>
              </a:rPr>
              <a:t>View Project on GitHub</a:t>
            </a:r>
            <a:r>
              <a:rPr lang="en-US" dirty="0">
                <a:latin typeface="Times New Roman" panose="02020603050405020304" pitchFamily="18" charset="0"/>
                <a:cs typeface="Times New Roman" panose="02020603050405020304" pitchFamily="18" charset="0"/>
              </a:rPr>
              <a:t>:</a:t>
            </a:r>
          </a:p>
          <a:p>
            <a:pPr lvl="2">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t>		</a:t>
            </a:r>
            <a:r>
              <a:rPr lang="en-US" dirty="0">
                <a:latin typeface="Times New Roman" panose="02020603050405020304" pitchFamily="18" charset="0"/>
                <a:cs typeface="Times New Roman" panose="02020603050405020304" pitchFamily="18" charset="0"/>
              </a:rPr>
              <a:t>Or visit:  </a:t>
            </a:r>
            <a:r>
              <a:rPr lang="en-US" dirty="0">
                <a:latin typeface="Times New Roman" panose="02020603050405020304" pitchFamily="18" charset="0"/>
                <a:cs typeface="Times New Roman" panose="02020603050405020304" pitchFamily="18" charset="0"/>
                <a:hlinkClick r:id="rId4"/>
              </a:rPr>
              <a:t>https://github.com/fuxima/YRP</a:t>
            </a: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Contact: </a:t>
            </a:r>
            <a:r>
              <a:rPr lang="en-US" dirty="0">
                <a:latin typeface="Times New Roman" panose="02020603050405020304" pitchFamily="18" charset="0"/>
                <a:cs typeface="Times New Roman" panose="02020603050405020304" pitchFamily="18" charset="0"/>
              </a:rPr>
              <a:t>	Email: </a:t>
            </a:r>
            <a:r>
              <a:rPr lang="en-US" dirty="0">
                <a:latin typeface="Times New Roman" panose="02020603050405020304" pitchFamily="18" charset="0"/>
                <a:cs typeface="Times New Roman" panose="02020603050405020304" pitchFamily="18" charset="0"/>
                <a:hlinkClick r:id="rId5"/>
              </a:rPr>
              <a:t>fuxi.ma@outlook.com</a:t>
            </a:r>
            <a:endParaRPr lang="en-US" dirty="0">
              <a:latin typeface="Times New Roman" panose="02020603050405020304" pitchFamily="18" charset="0"/>
              <a:cs typeface="Times New Roman" panose="02020603050405020304" pitchFamily="18" charset="0"/>
            </a:endParaRPr>
          </a:p>
        </p:txBody>
      </p:sp>
      <p:pic>
        <p:nvPicPr>
          <p:cNvPr id="13" name="Picture 12" descr="A qr code with purple border&#10;&#10;AI-generated content may be incorrect.">
            <a:extLst>
              <a:ext uri="{FF2B5EF4-FFF2-40B4-BE49-F238E27FC236}">
                <a16:creationId xmlns:a16="http://schemas.microsoft.com/office/drawing/2014/main" id="{CECF09DE-16E5-47A7-F1B9-9C897D4EC458}"/>
              </a:ext>
            </a:extLst>
          </p:cNvPr>
          <p:cNvPicPr>
            <a:picLocks noChangeAspect="1"/>
          </p:cNvPicPr>
          <p:nvPr/>
        </p:nvPicPr>
        <p:blipFill>
          <a:blip r:embed="rId6"/>
          <a:stretch>
            <a:fillRect/>
          </a:stretch>
        </p:blipFill>
        <p:spPr>
          <a:xfrm flipV="1">
            <a:off x="4906173" y="4567493"/>
            <a:ext cx="775190" cy="764923"/>
          </a:xfrm>
          <a:prstGeom prst="rect">
            <a:avLst/>
          </a:prstGeom>
        </p:spPr>
      </p:pic>
      <p:pic>
        <p:nvPicPr>
          <p:cNvPr id="7" name="Picture 6">
            <a:extLst>
              <a:ext uri="{FF2B5EF4-FFF2-40B4-BE49-F238E27FC236}">
                <a16:creationId xmlns:a16="http://schemas.microsoft.com/office/drawing/2014/main" id="{A6C49965-02E7-8F4E-5E13-973DCF61264F}"/>
              </a:ext>
            </a:extLst>
          </p:cNvPr>
          <p:cNvPicPr>
            <a:picLocks noChangeAspect="1"/>
          </p:cNvPicPr>
          <p:nvPr/>
        </p:nvPicPr>
        <p:blipFill>
          <a:blip r:embed="rId7"/>
          <a:stretch>
            <a:fillRect/>
          </a:stretch>
        </p:blipFill>
        <p:spPr>
          <a:xfrm>
            <a:off x="4896521" y="1966485"/>
            <a:ext cx="784842" cy="764923"/>
          </a:xfrm>
          <a:prstGeom prst="rect">
            <a:avLst/>
          </a:prstGeom>
        </p:spPr>
      </p:pic>
    </p:spTree>
    <p:extLst>
      <p:ext uri="{BB962C8B-B14F-4D97-AF65-F5344CB8AC3E}">
        <p14:creationId xmlns:p14="http://schemas.microsoft.com/office/powerpoint/2010/main" val="3689265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5A04-3B08-BBDD-B93B-D4DCA7663493}"/>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About Myself</a:t>
            </a:r>
            <a:endParaRPr lang="en-CA" dirty="0"/>
          </a:p>
        </p:txBody>
      </p:sp>
      <p:sp>
        <p:nvSpPr>
          <p:cNvPr id="3" name="Date Placeholder 2">
            <a:extLst>
              <a:ext uri="{FF2B5EF4-FFF2-40B4-BE49-F238E27FC236}">
                <a16:creationId xmlns:a16="http://schemas.microsoft.com/office/drawing/2014/main" id="{91EB852D-6FDD-3F8E-3820-E94804C61D2B}"/>
              </a:ext>
            </a:extLst>
          </p:cNvPr>
          <p:cNvSpPr>
            <a:spLocks noGrp="1"/>
          </p:cNvSpPr>
          <p:nvPr>
            <p:ph type="dt" sz="half" idx="10"/>
          </p:nvPr>
        </p:nvSpPr>
        <p:spPr/>
        <p:txBody>
          <a:bodyPr/>
          <a:lstStyle/>
          <a:p>
            <a:fld id="{13ED4EF8-4CE5-416B-90BF-A9A743CFB014}" type="datetime3">
              <a:rPr lang="en-US" smtClean="0"/>
              <a:t>11 December 2025</a:t>
            </a:fld>
            <a:endParaRPr lang="en-US"/>
          </a:p>
        </p:txBody>
      </p:sp>
      <p:sp>
        <p:nvSpPr>
          <p:cNvPr id="4" name="Footer Placeholder 3">
            <a:extLst>
              <a:ext uri="{FF2B5EF4-FFF2-40B4-BE49-F238E27FC236}">
                <a16:creationId xmlns:a16="http://schemas.microsoft.com/office/drawing/2014/main" id="{0A528B38-CC67-1F5B-68E3-4A2C1522A19D}"/>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D62BB52D-5552-8031-FDD8-E1025E37C253}"/>
              </a:ext>
            </a:extLst>
          </p:cNvPr>
          <p:cNvSpPr>
            <a:spLocks noGrp="1"/>
          </p:cNvSpPr>
          <p:nvPr>
            <p:ph type="sldNum" sz="quarter" idx="12"/>
          </p:nvPr>
        </p:nvSpPr>
        <p:spPr/>
        <p:txBody>
          <a:bodyPr/>
          <a:lstStyle/>
          <a:p>
            <a:fld id="{C1FF6DA9-008F-8B48-92A6-B652298478BF}" type="slidenum">
              <a:rPr lang="en-US" smtClean="0"/>
              <a:t>21</a:t>
            </a:fld>
            <a:endParaRPr lang="en-US"/>
          </a:p>
        </p:txBody>
      </p:sp>
      <p:sp>
        <p:nvSpPr>
          <p:cNvPr id="6" name="TextBox 5">
            <a:extLst>
              <a:ext uri="{FF2B5EF4-FFF2-40B4-BE49-F238E27FC236}">
                <a16:creationId xmlns:a16="http://schemas.microsoft.com/office/drawing/2014/main" id="{C557FB2D-A0B6-6588-D93E-8A3DF188E3BA}"/>
              </a:ext>
            </a:extLst>
          </p:cNvPr>
          <p:cNvSpPr txBox="1"/>
          <p:nvPr/>
        </p:nvSpPr>
        <p:spPr>
          <a:xfrm>
            <a:off x="588580" y="1894198"/>
            <a:ext cx="11276330" cy="433965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Canadian Citizen &amp; PhD in Applied mathematics </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Since about 20 years ago when immigrated to Canada</a:t>
            </a:r>
          </a:p>
          <a:p>
            <a:r>
              <a:rPr lang="en-US" sz="2400" b="1" dirty="0">
                <a:latin typeface="Times New Roman" panose="02020603050405020304" pitchFamily="18" charset="0"/>
                <a:cs typeface="Times New Roman" panose="02020603050405020304" pitchFamily="18" charset="0"/>
              </a:rPr>
              <a:t>Career (</a:t>
            </a:r>
            <a:r>
              <a:rPr lang="en-US" sz="2400" dirty="0">
                <a:latin typeface="Times New Roman" panose="02020603050405020304" pitchFamily="18" charset="0"/>
                <a:cs typeface="Times New Roman" panose="02020603050405020304" pitchFamily="18" charset="0"/>
              </a:rPr>
              <a:t>Total Experience 15 Years</a:t>
            </a:r>
            <a:r>
              <a:rPr lang="en-US" sz="2400" b="1"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Engineering (Climate change and sea-level rise predictive modeling)</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Pharmaceutical (Clinical trial data &amp; patients data modeling)</a:t>
            </a:r>
          </a:p>
          <a:p>
            <a:r>
              <a:rPr lang="en-US" sz="2400" b="1" dirty="0">
                <a:latin typeface="Times New Roman" panose="02020603050405020304" pitchFamily="18" charset="0"/>
                <a:cs typeface="Times New Roman" panose="02020603050405020304" pitchFamily="18" charset="0"/>
              </a:rPr>
              <a:t>Data Science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ML/AI</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Python, R, SQL, </a:t>
            </a:r>
            <a:r>
              <a:rPr lang="en-US" sz="2000" dirty="0" err="1">
                <a:latin typeface="Times New Roman" panose="02020603050405020304" pitchFamily="18" charset="0"/>
                <a:cs typeface="Times New Roman" panose="02020603050405020304" pitchFamily="18" charset="0"/>
              </a:rPr>
              <a:t>PySpark</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Models: Traditional ML: Regression, Classification, </a:t>
            </a:r>
            <a:r>
              <a:rPr lang="en-US" sz="2000" dirty="0" err="1">
                <a:latin typeface="Times New Roman" panose="02020603050405020304" pitchFamily="18" charset="0"/>
                <a:cs typeface="Times New Roman" panose="02020603050405020304" pitchFamily="18" charset="0"/>
              </a:rPr>
              <a:t>Clusuting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LightGBM</a:t>
            </a:r>
            <a:endParaRPr lang="en-US" sz="2000" dirty="0">
              <a:latin typeface="Times New Roman" panose="02020603050405020304" pitchFamily="18" charset="0"/>
              <a:cs typeface="Times New Roman" panose="02020603050405020304" pitchFamily="18" charset="0"/>
            </a:endParaRPr>
          </a:p>
          <a:p>
            <a:pPr lvl="2"/>
            <a:r>
              <a:rPr lang="en-US" sz="2400" dirty="0">
                <a:latin typeface="Times New Roman" panose="02020603050405020304" pitchFamily="18" charset="0"/>
                <a:cs typeface="Times New Roman" panose="02020603050405020304" pitchFamily="18" charset="0"/>
              </a:rPr>
              <a:t>Deep Learning: RNN, TensorFlow/</a:t>
            </a:r>
            <a:r>
              <a:rPr lang="en-US" sz="2400" dirty="0" err="1">
                <a:latin typeface="Times New Roman" panose="02020603050405020304" pitchFamily="18" charset="0"/>
                <a:cs typeface="Times New Roman" panose="02020603050405020304" pitchFamily="18" charset="0"/>
              </a:rPr>
              <a:t>Pytorch</a:t>
            </a:r>
            <a:r>
              <a:rPr lang="en-US" sz="2400" dirty="0">
                <a:latin typeface="Times New Roman" panose="02020603050405020304" pitchFamily="18" charset="0"/>
                <a:cs typeface="Times New Roman" panose="02020603050405020304" pitchFamily="18" charset="0"/>
              </a:rPr>
              <a:t> &amp; </a:t>
            </a:r>
            <a:r>
              <a:rPr lang="en-US" sz="2400" dirty="0" err="1">
                <a:latin typeface="Times New Roman" panose="02020603050405020304" pitchFamily="18" charset="0"/>
                <a:cs typeface="Times New Roman" panose="02020603050405020304" pitchFamily="18" charset="0"/>
              </a:rPr>
              <a:t>Keras</a:t>
            </a:r>
            <a:r>
              <a:rPr lang="en-US" sz="2400" dirty="0">
                <a:latin typeface="Times New Roman" panose="02020603050405020304" pitchFamily="18" charset="0"/>
                <a:cs typeface="Times New Roman" panose="02020603050405020304" pitchFamily="18" charset="0"/>
              </a:rPr>
              <a:t>, LSTM for time series data</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Platform: Databricks, Cloudera, AWS &amp; Azure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Visualizations: Power BI, Spotfire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Dashboard: R-Shiny, Flask, Dash, </a:t>
            </a:r>
            <a:r>
              <a:rPr lang="en-US" sz="2000" dirty="0" err="1">
                <a:latin typeface="Times New Roman" panose="02020603050405020304" pitchFamily="18" charset="0"/>
                <a:cs typeface="Times New Roman" panose="02020603050405020304" pitchFamily="18" charset="0"/>
              </a:rPr>
              <a:t>Streamlit</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Report/Documentation: Quarto</a:t>
            </a:r>
          </a:p>
        </p:txBody>
      </p:sp>
    </p:spTree>
    <p:extLst>
      <p:ext uri="{BB962C8B-B14F-4D97-AF65-F5344CB8AC3E}">
        <p14:creationId xmlns:p14="http://schemas.microsoft.com/office/powerpoint/2010/main" val="3324050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5901-EFAE-4E6A-F46D-402D92FB23C7}"/>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Climate Change and Sea Level Rise Prediction</a:t>
            </a:r>
            <a:endParaRPr lang="en-CA" dirty="0"/>
          </a:p>
        </p:txBody>
      </p:sp>
      <p:sp>
        <p:nvSpPr>
          <p:cNvPr id="3" name="Date Placeholder 2">
            <a:extLst>
              <a:ext uri="{FF2B5EF4-FFF2-40B4-BE49-F238E27FC236}">
                <a16:creationId xmlns:a16="http://schemas.microsoft.com/office/drawing/2014/main" id="{F7B3F6D2-7CBB-4514-22B3-F6F6DF020310}"/>
              </a:ext>
            </a:extLst>
          </p:cNvPr>
          <p:cNvSpPr>
            <a:spLocks noGrp="1"/>
          </p:cNvSpPr>
          <p:nvPr>
            <p:ph type="dt" sz="half" idx="10"/>
          </p:nvPr>
        </p:nvSpPr>
        <p:spPr/>
        <p:txBody>
          <a:bodyPr/>
          <a:lstStyle/>
          <a:p>
            <a:fld id="{446F48FA-DAF1-4F7C-909B-77461896C4AB}" type="datetime3">
              <a:rPr lang="en-US" smtClean="0"/>
              <a:t>11 December 2025</a:t>
            </a:fld>
            <a:endParaRPr lang="en-US"/>
          </a:p>
        </p:txBody>
      </p:sp>
      <p:sp>
        <p:nvSpPr>
          <p:cNvPr id="4" name="Footer Placeholder 3">
            <a:extLst>
              <a:ext uri="{FF2B5EF4-FFF2-40B4-BE49-F238E27FC236}">
                <a16:creationId xmlns:a16="http://schemas.microsoft.com/office/drawing/2014/main" id="{66DBF08E-8E20-8012-D305-0A1819EC018E}"/>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0FB9FB46-F5EA-2068-8A52-FF0658F1E12B}"/>
              </a:ext>
            </a:extLst>
          </p:cNvPr>
          <p:cNvSpPr>
            <a:spLocks noGrp="1"/>
          </p:cNvSpPr>
          <p:nvPr>
            <p:ph type="sldNum" sz="quarter" idx="12"/>
          </p:nvPr>
        </p:nvSpPr>
        <p:spPr/>
        <p:txBody>
          <a:bodyPr/>
          <a:lstStyle/>
          <a:p>
            <a:fld id="{C1FF6DA9-008F-8B48-92A6-B652298478BF}" type="slidenum">
              <a:rPr lang="en-US" smtClean="0"/>
              <a:t>22</a:t>
            </a:fld>
            <a:endParaRPr lang="en-US"/>
          </a:p>
        </p:txBody>
      </p:sp>
      <p:sp>
        <p:nvSpPr>
          <p:cNvPr id="6" name="TextBox 5">
            <a:extLst>
              <a:ext uri="{FF2B5EF4-FFF2-40B4-BE49-F238E27FC236}">
                <a16:creationId xmlns:a16="http://schemas.microsoft.com/office/drawing/2014/main" id="{064F3CB9-038B-CB1A-1BCA-988039A1CEFC}"/>
              </a:ext>
            </a:extLst>
          </p:cNvPr>
          <p:cNvSpPr txBox="1"/>
          <p:nvPr/>
        </p:nvSpPr>
        <p:spPr>
          <a:xfrm>
            <a:off x="1592035" y="2201329"/>
            <a:ext cx="9007929" cy="323787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Time-series forecast</a:t>
            </a:r>
            <a:endParaRPr lang="en-US"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ETL Data</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EDA</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Output</a:t>
            </a:r>
          </a:p>
          <a:p>
            <a:pPr marL="800100" lvl="1" indent="-342900">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Joint Probability (Storm Surge + Seal Level Rise in Bay of Fundy)</a:t>
            </a:r>
          </a:p>
          <a:p>
            <a:pPr marL="800100" lvl="1" indent="-342900">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hlinkClick r:id="rId3"/>
              </a:rPr>
              <a:t>https://fuxima.wixsite.com/fishway/about-form</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543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2EC3-D0DA-6F87-BD14-67A1D5C41939}"/>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Deep Learning (RNN) – Cancer Prediction</a:t>
            </a:r>
            <a:endParaRPr lang="en-CA" dirty="0"/>
          </a:p>
        </p:txBody>
      </p:sp>
      <p:sp>
        <p:nvSpPr>
          <p:cNvPr id="3" name="Date Placeholder 2">
            <a:extLst>
              <a:ext uri="{FF2B5EF4-FFF2-40B4-BE49-F238E27FC236}">
                <a16:creationId xmlns:a16="http://schemas.microsoft.com/office/drawing/2014/main" id="{08624E13-781B-069A-BA56-F6C435B8A7F8}"/>
              </a:ext>
            </a:extLst>
          </p:cNvPr>
          <p:cNvSpPr>
            <a:spLocks noGrp="1"/>
          </p:cNvSpPr>
          <p:nvPr>
            <p:ph type="dt" sz="half" idx="10"/>
          </p:nvPr>
        </p:nvSpPr>
        <p:spPr/>
        <p:txBody>
          <a:bodyPr/>
          <a:lstStyle/>
          <a:p>
            <a:fld id="{EF590058-AAF0-4BB5-8DD2-1E133EEC3F7B}" type="datetime3">
              <a:rPr lang="en-US" smtClean="0"/>
              <a:t>11 December 2025</a:t>
            </a:fld>
            <a:endParaRPr lang="en-US"/>
          </a:p>
        </p:txBody>
      </p:sp>
      <p:sp>
        <p:nvSpPr>
          <p:cNvPr id="4" name="Footer Placeholder 3">
            <a:extLst>
              <a:ext uri="{FF2B5EF4-FFF2-40B4-BE49-F238E27FC236}">
                <a16:creationId xmlns:a16="http://schemas.microsoft.com/office/drawing/2014/main" id="{744DECCF-56FD-0724-2F5A-51153EEEB184}"/>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3AA1709A-AB3A-0FC3-BAAF-F178D03FC1A7}"/>
              </a:ext>
            </a:extLst>
          </p:cNvPr>
          <p:cNvSpPr>
            <a:spLocks noGrp="1"/>
          </p:cNvSpPr>
          <p:nvPr>
            <p:ph type="sldNum" sz="quarter" idx="12"/>
          </p:nvPr>
        </p:nvSpPr>
        <p:spPr/>
        <p:txBody>
          <a:bodyPr/>
          <a:lstStyle/>
          <a:p>
            <a:fld id="{C1FF6DA9-008F-8B48-92A6-B652298478BF}" type="slidenum">
              <a:rPr lang="en-US" smtClean="0"/>
              <a:t>23</a:t>
            </a:fld>
            <a:endParaRPr lang="en-US"/>
          </a:p>
        </p:txBody>
      </p:sp>
      <p:sp>
        <p:nvSpPr>
          <p:cNvPr id="6" name="TextBox 5">
            <a:extLst>
              <a:ext uri="{FF2B5EF4-FFF2-40B4-BE49-F238E27FC236}">
                <a16:creationId xmlns:a16="http://schemas.microsoft.com/office/drawing/2014/main" id="{90CB64B8-702C-1936-39F2-FC2D91E88442}"/>
              </a:ext>
            </a:extLst>
          </p:cNvPr>
          <p:cNvSpPr txBox="1"/>
          <p:nvPr/>
        </p:nvSpPr>
        <p:spPr>
          <a:xfrm>
            <a:off x="2032000" y="1419968"/>
            <a:ext cx="7321264" cy="468442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Model</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TensorFlow + </a:t>
            </a:r>
            <a:r>
              <a:rPr lang="en-US" sz="2000" dirty="0" err="1">
                <a:latin typeface="Times New Roman" panose="02020603050405020304" pitchFamily="18" charset="0"/>
                <a:cs typeface="Times New Roman" panose="02020603050405020304" pitchFamily="18" charset="0"/>
              </a:rPr>
              <a:t>Keras</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LSTM</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Patient Sequential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Tokenization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Embedding</a:t>
            </a:r>
          </a:p>
          <a:p>
            <a:r>
              <a:rPr lang="en-US" sz="2000" b="1" dirty="0">
                <a:latin typeface="Times New Roman" panose="02020603050405020304" pitchFamily="18" charset="0"/>
                <a:cs typeface="Times New Roman" panose="02020603050405020304" pitchFamily="18" charset="0"/>
              </a:rPr>
              <a:t>Imbalanced Classes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 Weighting</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SMOTE (Synthetic Minority Over-sampling Technique)</a:t>
            </a:r>
          </a:p>
          <a:p>
            <a:r>
              <a:rPr lang="en-US" sz="2000" b="1" dirty="0">
                <a:latin typeface="Times New Roman" panose="02020603050405020304" pitchFamily="18" charset="0"/>
                <a:cs typeface="Times New Roman" panose="02020603050405020304" pitchFamily="18" charset="0"/>
              </a:rPr>
              <a:t>Hyperparameter Tuning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Different layers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Dropout rates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Embedding dimensions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Learning rate</a:t>
            </a:r>
          </a:p>
          <a:p>
            <a:pPr>
              <a:lnSpc>
                <a:spcPct val="150000"/>
              </a:lnSpc>
            </a:pPr>
            <a:r>
              <a:rPr lang="en-US" sz="2000" b="1" dirty="0">
                <a:latin typeface="Times New Roman" panose="02020603050405020304" pitchFamily="18" charset="0"/>
                <a:cs typeface="Times New Roman" panose="02020603050405020304" pitchFamily="18" charset="0"/>
                <a:hlinkClick r:id="rId2"/>
              </a:rPr>
              <a:t>App</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2767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9BB08-B76F-D354-1E9D-FF92B5DB19C5}"/>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AI Agents: Generative AI &amp; LLM Integration</a:t>
            </a:r>
            <a:endParaRPr lang="en-CA" dirty="0"/>
          </a:p>
        </p:txBody>
      </p:sp>
      <p:sp>
        <p:nvSpPr>
          <p:cNvPr id="3" name="Date Placeholder 2">
            <a:extLst>
              <a:ext uri="{FF2B5EF4-FFF2-40B4-BE49-F238E27FC236}">
                <a16:creationId xmlns:a16="http://schemas.microsoft.com/office/drawing/2014/main" id="{A3F4C9E7-3AAA-5F79-24C5-2279C17C10B1}"/>
              </a:ext>
            </a:extLst>
          </p:cNvPr>
          <p:cNvSpPr>
            <a:spLocks noGrp="1"/>
          </p:cNvSpPr>
          <p:nvPr>
            <p:ph type="dt" sz="half" idx="10"/>
          </p:nvPr>
        </p:nvSpPr>
        <p:spPr/>
        <p:txBody>
          <a:bodyPr/>
          <a:lstStyle/>
          <a:p>
            <a:fld id="{0724F641-EFBC-4451-BAD9-D49BD9F0233A}" type="datetime3">
              <a:rPr lang="en-US" smtClean="0"/>
              <a:t>11 December 2025</a:t>
            </a:fld>
            <a:endParaRPr lang="en-US"/>
          </a:p>
        </p:txBody>
      </p:sp>
      <p:sp>
        <p:nvSpPr>
          <p:cNvPr id="4" name="Footer Placeholder 3">
            <a:extLst>
              <a:ext uri="{FF2B5EF4-FFF2-40B4-BE49-F238E27FC236}">
                <a16:creationId xmlns:a16="http://schemas.microsoft.com/office/drawing/2014/main" id="{FD9E9429-8B4F-D212-DA94-BF04207E60BD}"/>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7B1765FE-58B7-44CA-8482-3A25C47EB2C8}"/>
              </a:ext>
            </a:extLst>
          </p:cNvPr>
          <p:cNvSpPr>
            <a:spLocks noGrp="1"/>
          </p:cNvSpPr>
          <p:nvPr>
            <p:ph type="sldNum" sz="quarter" idx="12"/>
          </p:nvPr>
        </p:nvSpPr>
        <p:spPr/>
        <p:txBody>
          <a:bodyPr/>
          <a:lstStyle/>
          <a:p>
            <a:fld id="{C1FF6DA9-008F-8B48-92A6-B652298478BF}" type="slidenum">
              <a:rPr lang="en-US" smtClean="0"/>
              <a:t>24</a:t>
            </a:fld>
            <a:endParaRPr lang="en-US"/>
          </a:p>
        </p:txBody>
      </p:sp>
      <p:sp>
        <p:nvSpPr>
          <p:cNvPr id="6" name="TextBox 5">
            <a:extLst>
              <a:ext uri="{FF2B5EF4-FFF2-40B4-BE49-F238E27FC236}">
                <a16:creationId xmlns:a16="http://schemas.microsoft.com/office/drawing/2014/main" id="{B122EDAA-A784-C3CE-C7C4-4BA07FB868B4}"/>
              </a:ext>
            </a:extLst>
          </p:cNvPr>
          <p:cNvSpPr txBox="1"/>
          <p:nvPr/>
        </p:nvSpPr>
        <p:spPr>
          <a:xfrm>
            <a:off x="378371" y="1312537"/>
            <a:ext cx="11498317" cy="5509200"/>
          </a:xfrm>
          <a:prstGeom prst="rect">
            <a:avLst/>
          </a:prstGeom>
          <a:noFill/>
        </p:spPr>
        <p:txBody>
          <a:bodyPr wrap="square">
            <a:spAutoFit/>
          </a:bodyPr>
          <a:lstStyle/>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Developed production applications using </a:t>
            </a:r>
            <a:r>
              <a:rPr lang="en-US" sz="3200" dirty="0">
                <a:highlight>
                  <a:srgbClr val="FFFF00"/>
                </a:highlight>
                <a:latin typeface="Times New Roman" panose="02020603050405020304" pitchFamily="18" charset="0"/>
                <a:cs typeface="Times New Roman" panose="02020603050405020304" pitchFamily="18" charset="0"/>
              </a:rPr>
              <a:t>ChatGPT/DeepSeek</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LangChain</a:t>
            </a:r>
            <a:r>
              <a:rPr lang="en-US" sz="3200" dirty="0">
                <a:latin typeface="Times New Roman" panose="02020603050405020304" pitchFamily="18" charset="0"/>
                <a:cs typeface="Times New Roman" panose="02020603050405020304" pitchFamily="18" charset="0"/>
              </a:rPr>
              <a:t>, and Python (</a:t>
            </a:r>
            <a:r>
              <a:rPr lang="en-US" sz="3200" dirty="0">
                <a:highlight>
                  <a:srgbClr val="FFFF00"/>
                </a:highlight>
                <a:latin typeface="Times New Roman" panose="02020603050405020304" pitchFamily="18" charset="0"/>
                <a:cs typeface="Times New Roman" panose="02020603050405020304" pitchFamily="18" charset="0"/>
              </a:rPr>
              <a:t>RESTful APIs:</a:t>
            </a:r>
            <a:r>
              <a:rPr lang="en-US" sz="3200" dirty="0">
                <a:latin typeface="Times New Roman" panose="02020603050405020304" pitchFamily="18" charset="0"/>
                <a:cs typeface="Times New Roman" panose="02020603050405020304" pitchFamily="18" charset="0"/>
              </a:rPr>
              <a:t> </a:t>
            </a:r>
            <a:r>
              <a:rPr lang="en-US" sz="3200" dirty="0">
                <a:highlight>
                  <a:srgbClr val="00FF00"/>
                </a:highlight>
                <a:latin typeface="Times New Roman" panose="02020603050405020304" pitchFamily="18" charset="0"/>
                <a:cs typeface="Times New Roman" panose="02020603050405020304" pitchFamily="18" charset="0"/>
              </a:rPr>
              <a:t>official SDKs </a:t>
            </a:r>
            <a:r>
              <a:rPr lang="en-US" sz="3200" dirty="0">
                <a:latin typeface="Times New Roman" panose="02020603050405020304" pitchFamily="18" charset="0"/>
                <a:cs typeface="Times New Roman" panose="02020603050405020304" pitchFamily="18" charset="0"/>
              </a:rPr>
              <a:t>and </a:t>
            </a:r>
            <a:r>
              <a:rPr lang="en-US" sz="3200" dirty="0">
                <a:highlight>
                  <a:srgbClr val="00FF00"/>
                </a:highlight>
                <a:latin typeface="Times New Roman" panose="02020603050405020304" pitchFamily="18" charset="0"/>
                <a:cs typeface="Times New Roman" panose="02020603050405020304" pitchFamily="18" charset="0"/>
              </a:rPr>
              <a:t>direct HTTP calls</a:t>
            </a:r>
            <a:r>
              <a:rPr lang="en-US" sz="3200" dirty="0">
                <a:latin typeface="Times New Roman" panose="02020603050405020304" pitchFamily="18" charset="0"/>
                <a:cs typeface="Times New Roman" panose="02020603050405020304" pitchFamily="18" charset="0"/>
              </a:rPr>
              <a:t>)</a:t>
            </a:r>
          </a:p>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Implemented text-generation pipelines, conversational memory, and </a:t>
            </a:r>
            <a:r>
              <a:rPr lang="en-US" sz="3200" dirty="0">
                <a:highlight>
                  <a:srgbClr val="FFFF00"/>
                </a:highlight>
                <a:latin typeface="Times New Roman" panose="02020603050405020304" pitchFamily="18" charset="0"/>
                <a:cs typeface="Times New Roman" panose="02020603050405020304" pitchFamily="18" charset="0"/>
              </a:rPr>
              <a:t>RAG</a:t>
            </a:r>
            <a:r>
              <a:rPr lang="en-US" sz="3200" dirty="0">
                <a:latin typeface="Times New Roman" panose="02020603050405020304" pitchFamily="18" charset="0"/>
                <a:cs typeface="Times New Roman" panose="02020603050405020304" pitchFamily="18" charset="0"/>
              </a:rPr>
              <a:t> (</a:t>
            </a:r>
            <a:r>
              <a:rPr lang="en-US" sz="3200" dirty="0">
                <a:highlight>
                  <a:srgbClr val="FFFF00"/>
                </a:highlight>
                <a:latin typeface="Times New Roman" panose="02020603050405020304" pitchFamily="18" charset="0"/>
                <a:cs typeface="Times New Roman" panose="02020603050405020304" pitchFamily="18" charset="0"/>
              </a:rPr>
              <a:t>Retrieval-Augmented Generation)</a:t>
            </a:r>
            <a:r>
              <a:rPr lang="en-US" sz="3200" dirty="0">
                <a:latin typeface="Times New Roman" panose="02020603050405020304" pitchFamily="18" charset="0"/>
                <a:cs typeface="Times New Roman" panose="02020603050405020304" pitchFamily="18" charset="0"/>
              </a:rPr>
              <a:t>. I used vector databases </a:t>
            </a:r>
            <a:r>
              <a:rPr lang="en-US" sz="3200" dirty="0">
                <a:highlight>
                  <a:srgbClr val="FFFF00"/>
                </a:highlight>
                <a:latin typeface="Times New Roman" panose="02020603050405020304" pitchFamily="18" charset="0"/>
                <a:cs typeface="Times New Roman" panose="02020603050405020304" pitchFamily="18" charset="0"/>
              </a:rPr>
              <a:t>(</a:t>
            </a:r>
            <a:r>
              <a:rPr lang="en-US" sz="3200" dirty="0" err="1">
                <a:highlight>
                  <a:srgbClr val="FFFF00"/>
                </a:highlight>
                <a:latin typeface="Times New Roman" panose="02020603050405020304" pitchFamily="18" charset="0"/>
                <a:cs typeface="Times New Roman" panose="02020603050405020304" pitchFamily="18" charset="0"/>
              </a:rPr>
              <a:t>ChromaDB</a:t>
            </a:r>
            <a:r>
              <a:rPr lang="en-US" sz="3200" dirty="0">
                <a:highlight>
                  <a:srgbClr val="FFFF00"/>
                </a:highlight>
                <a:latin typeface="Times New Roman" panose="02020603050405020304" pitchFamily="18" charset="0"/>
                <a:cs typeface="Times New Roman" panose="02020603050405020304" pitchFamily="18" charset="0"/>
              </a:rPr>
              <a:t>, Pinecone). </a:t>
            </a:r>
          </a:p>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Created agents for LLMs to access our different databases, do analysis and deliver summary including </a:t>
            </a:r>
            <a:r>
              <a:rPr lang="en-US" sz="3200" dirty="0">
                <a:highlight>
                  <a:srgbClr val="FFFF00"/>
                </a:highlight>
                <a:latin typeface="Times New Roman" panose="02020603050405020304" pitchFamily="18" charset="0"/>
                <a:cs typeface="Times New Roman" panose="02020603050405020304" pitchFamily="18" charset="0"/>
              </a:rPr>
              <a:t>FDA Announcement</a:t>
            </a:r>
            <a:r>
              <a:rPr lang="en-US" sz="3200" dirty="0">
                <a:latin typeface="Times New Roman" panose="02020603050405020304" pitchFamily="18" charset="0"/>
                <a:cs typeface="Times New Roman" panose="02020603050405020304" pitchFamily="18" charset="0"/>
              </a:rPr>
              <a:t>, </a:t>
            </a:r>
            <a:r>
              <a:rPr lang="en-US" sz="3200" dirty="0">
                <a:highlight>
                  <a:srgbClr val="FFFF00"/>
                </a:highlight>
                <a:latin typeface="Times New Roman" panose="02020603050405020304" pitchFamily="18" charset="0"/>
                <a:cs typeface="Times New Roman" panose="02020603050405020304" pitchFamily="18" charset="0"/>
              </a:rPr>
              <a:t>competitor press releases</a:t>
            </a:r>
            <a:r>
              <a:rPr lang="en-US" sz="3200" dirty="0">
                <a:latin typeface="Times New Roman" panose="02020603050405020304" pitchFamily="18" charset="0"/>
                <a:cs typeface="Times New Roman" panose="02020603050405020304" pitchFamily="18" charset="0"/>
              </a:rPr>
              <a:t>, </a:t>
            </a:r>
            <a:r>
              <a:rPr lang="en-US" sz="3200" dirty="0">
                <a:highlight>
                  <a:srgbClr val="FFFF00"/>
                </a:highlight>
                <a:latin typeface="Times New Roman" panose="02020603050405020304" pitchFamily="18" charset="0"/>
                <a:cs typeface="Times New Roman" panose="02020603050405020304" pitchFamily="18" charset="0"/>
              </a:rPr>
              <a:t>market reports, Natural events (Storm/HURC) and Holiday impacts</a:t>
            </a:r>
            <a:r>
              <a:rPr lang="en-US" sz="3200" dirty="0">
                <a:latin typeface="Times New Roman" panose="02020603050405020304" pitchFamily="18" charset="0"/>
                <a:cs typeface="Times New Roman" panose="02020603050405020304" pitchFamily="18" charset="0"/>
              </a:rPr>
              <a:t> including Holiday Drop and post-holiday rebounce.</a:t>
            </a:r>
          </a:p>
        </p:txBody>
      </p:sp>
    </p:spTree>
    <p:extLst>
      <p:ext uri="{BB962C8B-B14F-4D97-AF65-F5344CB8AC3E}">
        <p14:creationId xmlns:p14="http://schemas.microsoft.com/office/powerpoint/2010/main" val="2137559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9A61F-C1C3-2897-9DBD-87C863B4A219}"/>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Data Integration &amp; Modeling </a:t>
            </a:r>
            <a:endParaRPr lang="en-CA" dirty="0"/>
          </a:p>
        </p:txBody>
      </p:sp>
      <p:sp>
        <p:nvSpPr>
          <p:cNvPr id="3" name="Date Placeholder 2">
            <a:extLst>
              <a:ext uri="{FF2B5EF4-FFF2-40B4-BE49-F238E27FC236}">
                <a16:creationId xmlns:a16="http://schemas.microsoft.com/office/drawing/2014/main" id="{FBA234E7-E761-7C2D-D60C-50CBD4D90F3F}"/>
              </a:ext>
            </a:extLst>
          </p:cNvPr>
          <p:cNvSpPr>
            <a:spLocks noGrp="1"/>
          </p:cNvSpPr>
          <p:nvPr>
            <p:ph type="dt" sz="half" idx="10"/>
          </p:nvPr>
        </p:nvSpPr>
        <p:spPr/>
        <p:txBody>
          <a:bodyPr/>
          <a:lstStyle/>
          <a:p>
            <a:fld id="{DD1A3B48-1E83-4A68-BABD-D728F54E8046}" type="datetime3">
              <a:rPr lang="en-US" smtClean="0"/>
              <a:t>11 December 2025</a:t>
            </a:fld>
            <a:endParaRPr lang="en-US"/>
          </a:p>
        </p:txBody>
      </p:sp>
      <p:sp>
        <p:nvSpPr>
          <p:cNvPr id="4" name="Footer Placeholder 3">
            <a:extLst>
              <a:ext uri="{FF2B5EF4-FFF2-40B4-BE49-F238E27FC236}">
                <a16:creationId xmlns:a16="http://schemas.microsoft.com/office/drawing/2014/main" id="{BE11E4B1-751D-1B62-8767-7AF91E660CCD}"/>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D2386BDA-A19F-8A81-B313-EBC7746D1A22}"/>
              </a:ext>
            </a:extLst>
          </p:cNvPr>
          <p:cNvSpPr>
            <a:spLocks noGrp="1"/>
          </p:cNvSpPr>
          <p:nvPr>
            <p:ph type="sldNum" sz="quarter" idx="12"/>
          </p:nvPr>
        </p:nvSpPr>
        <p:spPr/>
        <p:txBody>
          <a:bodyPr/>
          <a:lstStyle/>
          <a:p>
            <a:fld id="{C1FF6DA9-008F-8B48-92A6-B652298478BF}" type="slidenum">
              <a:rPr lang="en-US" smtClean="0"/>
              <a:t>25</a:t>
            </a:fld>
            <a:endParaRPr lang="en-US"/>
          </a:p>
        </p:txBody>
      </p:sp>
      <p:sp>
        <p:nvSpPr>
          <p:cNvPr id="6" name="TextBox 5">
            <a:extLst>
              <a:ext uri="{FF2B5EF4-FFF2-40B4-BE49-F238E27FC236}">
                <a16:creationId xmlns:a16="http://schemas.microsoft.com/office/drawing/2014/main" id="{4ED9C8F1-BCD3-B662-D1BE-42B0A29C2CE4}"/>
              </a:ext>
            </a:extLst>
          </p:cNvPr>
          <p:cNvSpPr txBox="1"/>
          <p:nvPr/>
        </p:nvSpPr>
        <p:spPr>
          <a:xfrm>
            <a:off x="1200567" y="1368680"/>
            <a:ext cx="10485666" cy="317009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Data Polling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Ten Neuroscience Studies</a:t>
            </a:r>
          </a:p>
          <a:p>
            <a:r>
              <a:rPr lang="en-US" sz="2000" b="1" dirty="0">
                <a:latin typeface="Times New Roman" panose="02020603050405020304" pitchFamily="18" charset="0"/>
                <a:cs typeface="Times New Roman" panose="02020603050405020304" pitchFamily="18" charset="0"/>
              </a:rPr>
              <a:t>Challenge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Variety of Data Structures and Format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harmonization (Using SAS, SQL converted the source data into</a:t>
            </a:r>
            <a:r>
              <a:rPr lang="en-US" dirty="0">
                <a:latin typeface="Times New Roman" panose="02020603050405020304" pitchFamily="18" charset="0"/>
                <a:cs typeface="Times New Roman" panose="02020603050405020304" pitchFamily="18" charset="0"/>
                <a:sym typeface="Wingdings" panose="05000000000000000000" pitchFamily="2" charset="2"/>
              </a:rPr>
              <a:t> R)</a:t>
            </a:r>
          </a:p>
          <a:p>
            <a:r>
              <a:rPr lang="en-US" sz="2000" dirty="0">
                <a:latin typeface="Times New Roman" panose="02020603050405020304" pitchFamily="18" charset="0"/>
                <a:cs typeface="Times New Roman" panose="02020603050405020304" pitchFamily="18" charset="0"/>
                <a:sym typeface="Wingdings" panose="05000000000000000000" pitchFamily="2" charset="2"/>
              </a:rPr>
              <a:t>R </a:t>
            </a:r>
            <a:r>
              <a:rPr lang="en-US" sz="2000" b="1" dirty="0">
                <a:latin typeface="Times New Roman" panose="02020603050405020304" pitchFamily="18" charset="0"/>
                <a:cs typeface="Times New Roman" panose="02020603050405020304" pitchFamily="18" charset="0"/>
                <a:sym typeface="Wingdings" panose="05000000000000000000" pitchFamily="2" charset="2"/>
              </a:rPr>
              <a:t>Shiny App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sym typeface="Wingdings" panose="05000000000000000000" pitchFamily="2" charset="2"/>
              </a:rPr>
              <a:t>Integrated Summary of Safety (ISS)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sym typeface="Wingdings" panose="05000000000000000000" pitchFamily="2" charset="2"/>
              </a:rPr>
              <a:t>Integrated Summary of Efficacy (ISE)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sym typeface="Wingdings" panose="05000000000000000000" pitchFamily="2" charset="2"/>
              </a:rPr>
              <a:t>Cross-study meta-data modeling</a:t>
            </a:r>
          </a:p>
          <a:p>
            <a:pPr marL="800100" lvl="1"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sym typeface="Wingdings" panose="05000000000000000000" pitchFamily="2" charset="2"/>
              </a:rPr>
              <a:t>Patients Enrolment </a:t>
            </a:r>
          </a:p>
          <a:p>
            <a:pPr marL="800100" lvl="1"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sym typeface="Wingdings" panose="05000000000000000000" pitchFamily="2" charset="2"/>
              </a:rPr>
              <a:t>Patient Dropout</a:t>
            </a:r>
          </a:p>
        </p:txBody>
      </p:sp>
      <p:sp>
        <p:nvSpPr>
          <p:cNvPr id="7" name="TextBox 6">
            <a:extLst>
              <a:ext uri="{FF2B5EF4-FFF2-40B4-BE49-F238E27FC236}">
                <a16:creationId xmlns:a16="http://schemas.microsoft.com/office/drawing/2014/main" id="{56781D57-5245-DAD9-E69D-E5D482040A2A}"/>
              </a:ext>
            </a:extLst>
          </p:cNvPr>
          <p:cNvSpPr txBox="1"/>
          <p:nvPr/>
        </p:nvSpPr>
        <p:spPr>
          <a:xfrm>
            <a:off x="1200567" y="4944674"/>
            <a:ext cx="7537033"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This Approach Applies to YRP’s </a:t>
            </a:r>
            <a:r>
              <a:rPr lang="en-CA" sz="2000" b="1" dirty="0">
                <a:latin typeface="Times New Roman" panose="02020603050405020304" pitchFamily="18" charset="0"/>
                <a:cs typeface="Times New Roman" panose="02020603050405020304" pitchFamily="18" charset="0"/>
              </a:rPr>
              <a:t>Multi-Sources Crime Intelligence</a:t>
            </a:r>
            <a:endParaRPr lang="en-US" sz="1600" dirty="0">
              <a:latin typeface="Times New Roman" panose="02020603050405020304" pitchFamily="18" charset="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976967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2D96-2795-2D3A-EC9C-7052FF984169}"/>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APP: Rx Prescription Data, Patient Data, Claim Data &amp; Drug Store Universe Data</a:t>
            </a:r>
            <a:br>
              <a:rPr lang="en-US" sz="6000" dirty="0">
                <a:latin typeface="Times New Roman" panose="02020603050405020304" pitchFamily="18" charset="0"/>
                <a:cs typeface="Times New Roman" panose="02020603050405020304" pitchFamily="18" charset="0"/>
              </a:rPr>
            </a:br>
            <a:endParaRPr lang="en-CA" dirty="0"/>
          </a:p>
        </p:txBody>
      </p:sp>
      <p:sp>
        <p:nvSpPr>
          <p:cNvPr id="3" name="Date Placeholder 2">
            <a:extLst>
              <a:ext uri="{FF2B5EF4-FFF2-40B4-BE49-F238E27FC236}">
                <a16:creationId xmlns:a16="http://schemas.microsoft.com/office/drawing/2014/main" id="{A19F3359-66BB-3AB5-A0FB-271E691B6244}"/>
              </a:ext>
            </a:extLst>
          </p:cNvPr>
          <p:cNvSpPr>
            <a:spLocks noGrp="1"/>
          </p:cNvSpPr>
          <p:nvPr>
            <p:ph type="dt" sz="half" idx="10"/>
          </p:nvPr>
        </p:nvSpPr>
        <p:spPr/>
        <p:txBody>
          <a:bodyPr/>
          <a:lstStyle/>
          <a:p>
            <a:fld id="{CC39FF6B-3564-40A0-A7F6-4DB10160B5C3}" type="datetime3">
              <a:rPr lang="en-US" smtClean="0"/>
              <a:t>11 December 2025</a:t>
            </a:fld>
            <a:endParaRPr lang="en-US"/>
          </a:p>
        </p:txBody>
      </p:sp>
      <p:sp>
        <p:nvSpPr>
          <p:cNvPr id="4" name="Footer Placeholder 3">
            <a:extLst>
              <a:ext uri="{FF2B5EF4-FFF2-40B4-BE49-F238E27FC236}">
                <a16:creationId xmlns:a16="http://schemas.microsoft.com/office/drawing/2014/main" id="{944A711F-4F81-B27D-9130-21C91F23FE13}"/>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C39ACD4C-B408-E1A9-87B7-B3C0995584DC}"/>
              </a:ext>
            </a:extLst>
          </p:cNvPr>
          <p:cNvSpPr>
            <a:spLocks noGrp="1"/>
          </p:cNvSpPr>
          <p:nvPr>
            <p:ph type="sldNum" sz="quarter" idx="12"/>
          </p:nvPr>
        </p:nvSpPr>
        <p:spPr/>
        <p:txBody>
          <a:bodyPr/>
          <a:lstStyle/>
          <a:p>
            <a:fld id="{C1FF6DA9-008F-8B48-92A6-B652298478BF}" type="slidenum">
              <a:rPr lang="en-US" smtClean="0"/>
              <a:t>26</a:t>
            </a:fld>
            <a:endParaRPr lang="en-US"/>
          </a:p>
        </p:txBody>
      </p:sp>
      <p:sp>
        <p:nvSpPr>
          <p:cNvPr id="6" name="TextBox 5">
            <a:extLst>
              <a:ext uri="{FF2B5EF4-FFF2-40B4-BE49-F238E27FC236}">
                <a16:creationId xmlns:a16="http://schemas.microsoft.com/office/drawing/2014/main" id="{F92C8F70-4A35-EFF2-0D01-89FA36ACA813}"/>
              </a:ext>
            </a:extLst>
          </p:cNvPr>
          <p:cNvSpPr txBox="1"/>
          <p:nvPr/>
        </p:nvSpPr>
        <p:spPr>
          <a:xfrm>
            <a:off x="367862" y="1302912"/>
            <a:ext cx="11456275" cy="5258171"/>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Data Ingestion: </a:t>
            </a:r>
            <a:r>
              <a:rPr lang="en-US" sz="2800" dirty="0">
                <a:latin typeface="Times New Roman" panose="02020603050405020304" pitchFamily="18" charset="0"/>
                <a:cs typeface="Times New Roman" panose="02020603050405020304" pitchFamily="18" charset="0"/>
              </a:rPr>
              <a:t>Collect data from All States in USA &amp; Prediction Modeling</a:t>
            </a:r>
          </a:p>
          <a:p>
            <a:r>
              <a:rPr lang="en-US" sz="3200" b="1" dirty="0">
                <a:latin typeface="Times New Roman" panose="02020603050405020304" pitchFamily="18" charset="0"/>
                <a:cs typeface="Times New Roman" panose="02020603050405020304" pitchFamily="18" charset="0"/>
              </a:rPr>
              <a:t>Anomaly Detection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Moving Average ± 3</a:t>
            </a:r>
            <a:r>
              <a:rPr lang="el-GR" sz="2000"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 Box plot – IQR; Z-score</a:t>
            </a:r>
          </a:p>
          <a:p>
            <a:r>
              <a:rPr lang="en-US" sz="3200" b="1" dirty="0">
                <a:latin typeface="Times New Roman" panose="02020603050405020304" pitchFamily="18" charset="0"/>
                <a:cs typeface="Times New Roman" panose="02020603050405020304" pitchFamily="18" charset="0"/>
              </a:rPr>
              <a:t>Holiday Impact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Holiday drop; Holiday re-bounce</a:t>
            </a:r>
          </a:p>
          <a:p>
            <a:r>
              <a:rPr lang="en-US" sz="3200" b="1" dirty="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TensorFlow</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Keras</a:t>
            </a:r>
            <a:r>
              <a:rPr lang="en-US" sz="2400" dirty="0">
                <a:latin typeface="Times New Roman" panose="02020603050405020304" pitchFamily="18" charset="0"/>
                <a:cs typeface="Times New Roman" panose="02020603050405020304" pitchFamily="18" charset="0"/>
              </a:rPr>
              <a:t>; LSTM</a:t>
            </a:r>
          </a:p>
          <a:p>
            <a:r>
              <a:rPr lang="en-US" sz="3200" b="1" dirty="0">
                <a:latin typeface="Times New Roman" panose="02020603050405020304" pitchFamily="18" charset="0"/>
                <a:cs typeface="Times New Roman" panose="02020603050405020304" pitchFamily="18" charset="0"/>
              </a:rPr>
              <a:t>Hyperparameter Tuning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Different layers; Learning Rate; Dropout Rates; </a:t>
            </a:r>
          </a:p>
          <a:p>
            <a:pPr lvl="1"/>
            <a:r>
              <a:rPr lang="en-US" sz="2000" dirty="0">
                <a:latin typeface="Times New Roman" panose="02020603050405020304" pitchFamily="18" charset="0"/>
                <a:cs typeface="Times New Roman" panose="02020603050405020304" pitchFamily="18" charset="0"/>
              </a:rPr>
              <a:t>Early Stopping; Embedding Dimensions</a:t>
            </a:r>
          </a:p>
          <a:p>
            <a:r>
              <a:rPr lang="en-US" sz="3200" b="1" dirty="0">
                <a:latin typeface="Times New Roman" panose="02020603050405020304" pitchFamily="18" charset="0"/>
                <a:cs typeface="Times New Roman" panose="02020603050405020304" pitchFamily="18" charset="0"/>
              </a:rPr>
              <a:t>Generate Weekly Report </a:t>
            </a:r>
            <a:r>
              <a:rPr lang="en-US" sz="3200" dirty="0">
                <a:latin typeface="Times New Roman" panose="02020603050405020304" pitchFamily="18" charset="0"/>
                <a:cs typeface="Times New Roman" panose="02020603050405020304" pitchFamily="18" charset="0"/>
              </a:rPr>
              <a:t>in word/pdf/html</a:t>
            </a:r>
          </a:p>
          <a:p>
            <a:r>
              <a:rPr lang="en-US" sz="3200" b="1" dirty="0">
                <a:latin typeface="Times New Roman" panose="02020603050405020304" pitchFamily="18" charset="0"/>
                <a:cs typeface="Times New Roman" panose="02020603050405020304" pitchFamily="18" charset="0"/>
              </a:rPr>
              <a:t>Deliverables (offering) </a:t>
            </a:r>
            <a:r>
              <a:rPr lang="en-US" sz="2400" b="1" dirty="0">
                <a:latin typeface="Times New Roman" panose="02020603050405020304" pitchFamily="18" charset="0"/>
                <a:cs typeface="Times New Roman" panose="02020603050405020304" pitchFamily="18" charset="0"/>
              </a:rPr>
              <a:t>for Pharma, Payers, Providers, Government</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hlinkClick r:id="rId2" action="ppaction://hlinkfile"/>
              </a:rPr>
              <a:t>Key Driver Analysis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7945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5DFDD8-F80D-FB95-4BF6-EB365B69A227}"/>
              </a:ext>
            </a:extLst>
          </p:cNvPr>
          <p:cNvSpPr>
            <a:spLocks noGrp="1"/>
          </p:cNvSpPr>
          <p:nvPr>
            <p:ph type="dt" sz="half" idx="10"/>
          </p:nvPr>
        </p:nvSpPr>
        <p:spPr/>
        <p:txBody>
          <a:bodyPr/>
          <a:lstStyle/>
          <a:p>
            <a:fld id="{2423B76E-7FF0-4E18-BDE6-3E1285F85586}" type="datetime3">
              <a:rPr lang="en-US" smtClean="0"/>
              <a:t>11 December 2025</a:t>
            </a:fld>
            <a:endParaRPr lang="en-US"/>
          </a:p>
        </p:txBody>
      </p:sp>
      <p:sp>
        <p:nvSpPr>
          <p:cNvPr id="4" name="Footer Placeholder 3">
            <a:extLst>
              <a:ext uri="{FF2B5EF4-FFF2-40B4-BE49-F238E27FC236}">
                <a16:creationId xmlns:a16="http://schemas.microsoft.com/office/drawing/2014/main" id="{821C2DEB-AA2F-16B8-CEFC-F79915096E4E}"/>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728A1850-956D-982B-898D-E57043ADB058}"/>
              </a:ext>
            </a:extLst>
          </p:cNvPr>
          <p:cNvSpPr>
            <a:spLocks noGrp="1"/>
          </p:cNvSpPr>
          <p:nvPr>
            <p:ph type="sldNum" sz="quarter" idx="12"/>
          </p:nvPr>
        </p:nvSpPr>
        <p:spPr/>
        <p:txBody>
          <a:bodyPr/>
          <a:lstStyle/>
          <a:p>
            <a:fld id="{C1FF6DA9-008F-8B48-92A6-B652298478BF}" type="slidenum">
              <a:rPr lang="en-US" smtClean="0"/>
              <a:t>27</a:t>
            </a:fld>
            <a:endParaRPr lang="en-US"/>
          </a:p>
        </p:txBody>
      </p:sp>
      <p:sp>
        <p:nvSpPr>
          <p:cNvPr id="11" name="TextBox 10">
            <a:extLst>
              <a:ext uri="{FF2B5EF4-FFF2-40B4-BE49-F238E27FC236}">
                <a16:creationId xmlns:a16="http://schemas.microsoft.com/office/drawing/2014/main" id="{C2FEF65F-669D-8EC8-58C3-199C5AF8CB91}"/>
              </a:ext>
            </a:extLst>
          </p:cNvPr>
          <p:cNvSpPr txBox="1"/>
          <p:nvPr/>
        </p:nvSpPr>
        <p:spPr>
          <a:xfrm>
            <a:off x="0" y="21562"/>
            <a:ext cx="12192000" cy="4300408"/>
          </a:xfrm>
          <a:prstGeom prst="rect">
            <a:avLst/>
          </a:prstGeom>
          <a:noFill/>
        </p:spPr>
        <p:txBody>
          <a:bodyPr wrap="square">
            <a:spAutoFit/>
          </a:bodyPr>
          <a:lstStyle/>
          <a:p>
            <a:pPr marL="342900" marR="0" lvl="0" indent="-342900">
              <a:lnSpc>
                <a:spcPct val="115000"/>
              </a:lnSpc>
              <a:spcAft>
                <a:spcPts val="800"/>
              </a:spcAft>
              <a:buFont typeface="+mj-lt"/>
              <a:buAutoNum type="arabicPeriod"/>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"Your R² is quite low (0.32). How can we trust a model with such low explanatory power?"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"That's an excellent question. The R² measures how well the model explains the </a:t>
            </a:r>
            <a:r>
              <a:rPr lang="en-US" sz="1200" i="1" kern="100" dirty="0">
                <a:effectLst/>
                <a:latin typeface="Aptos" panose="020B0004020202020204" pitchFamily="34" charset="0"/>
                <a:ea typeface="Aptos" panose="020B0004020202020204" pitchFamily="34" charset="0"/>
                <a:cs typeface="Times New Roman" panose="02020603050405020304" pitchFamily="18" charset="0"/>
              </a:rPr>
              <a:t>variance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in the data. Our model is very good at capturing the predictable, seasonal baseline—the 'heartbeat' of crime for resource planning. The 'missed' variance are the large, unpredictable spikes from events like organized crime rings, which are not easily forecast with traditional time-series data. This is precisely </a:t>
            </a:r>
            <a:r>
              <a:rPr lang="en-US" sz="1200" i="1" kern="100" dirty="0">
                <a:effectLst/>
                <a:latin typeface="Aptos" panose="020B0004020202020204" pitchFamily="34" charset="0"/>
                <a:ea typeface="Aptos" panose="020B0004020202020204" pitchFamily="34" charset="0"/>
                <a:cs typeface="Times New Roman" panose="02020603050405020304" pitchFamily="18" charset="0"/>
              </a:rPr>
              <a:t>why</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our strategy is two-pronged: use the model for baseline staffing and use tactical intelligence for the spikes. A perfect model for crime is unrealistic; a smart strategy that understands model limitations is essential."</a:t>
            </a:r>
          </a:p>
          <a:p>
            <a:pPr marL="342900" marR="0" lvl="0" indent="-342900">
              <a:lnSpc>
                <a:spcPct val="115000"/>
              </a:lnSpc>
              <a:spcAft>
                <a:spcPts val="800"/>
              </a:spcAft>
              <a:buFont typeface="+mj-lt"/>
              <a:buAutoNum type="arabicPeriod"/>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"You integrated external data. Can you walk us through your feature selection process and why you chose those specific datasets?"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"Certainly. I focused on factors with a plausible, documented correlation to crime or police workload. I used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weather data</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(temperature), as higher temperatures can correlate with increased outdoor activity and certain crime types. More critically, I incorporated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holiday calendars and road safety data</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to account for predictable surges in non-crime call volumes (like traffic accidents) that still tie up officer resources. For feature selection, I used models like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XGBoost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to calculate feature importance, ensuring the external data added predictive value."</a:t>
            </a:r>
          </a:p>
          <a:p>
            <a:pPr marL="342900" marR="0" lvl="0" indent="-342900">
              <a:lnSpc>
                <a:spcPct val="115000"/>
              </a:lnSpc>
              <a:spcAft>
                <a:spcPts val="800"/>
              </a:spcAft>
              <a:buFont typeface="+mj-lt"/>
              <a:buAutoNum type="arabicPeriod"/>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"How would you improve this model if you had more time and resources?"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lvl="1">
              <a:lnSpc>
                <a:spcPct val="115000"/>
              </a:lnSpc>
              <a:spcAft>
                <a:spcPts val="800"/>
              </a:spcAft>
              <a:buSzPts val="1000"/>
              <a:tabLst>
                <a:tab pos="9144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"I would focus on three areas:</a:t>
            </a:r>
          </a:p>
          <a:p>
            <a:pPr marL="685800" lvl="1" indent="-228600">
              <a:lnSpc>
                <a:spcPct val="115000"/>
              </a:lnSpc>
              <a:spcAft>
                <a:spcPts val="800"/>
              </a:spcAft>
              <a:buFont typeface="+mj-lt"/>
              <a:buAutoNum type="arabicPeriod"/>
              <a:tabLst>
                <a:tab pos="13716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Data Enrichment: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Integrate more granular data, like real-time economic indicators (unemployment filings) or anonymized mobility data.</a:t>
            </a:r>
          </a:p>
          <a:p>
            <a:pPr marL="685800" lvl="1" indent="-228600">
              <a:lnSpc>
                <a:spcPct val="115000"/>
              </a:lnSpc>
              <a:spcAft>
                <a:spcPts val="800"/>
              </a:spcAft>
              <a:buFont typeface="+mj-lt"/>
              <a:buAutoNum type="arabicPeriod"/>
              <a:tabLst>
                <a:tab pos="13716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Model Sophistication: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Experiment with more advanced deep learning models like LSTMs or Transformers that might better capture complex, long-range dependencies.</a:t>
            </a:r>
          </a:p>
          <a:p>
            <a:pPr marL="685800" lvl="1" indent="-228600">
              <a:lnSpc>
                <a:spcPct val="115000"/>
              </a:lnSpc>
              <a:spcAft>
                <a:spcPts val="800"/>
              </a:spcAft>
              <a:buFont typeface="+mj-lt"/>
              <a:buAutoNum type="arabicPeriod"/>
              <a:tabLst>
                <a:tab pos="13716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Operational Integration: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Build a real-time dashboard that updates the forecast weekly or daily, allowing for dynamic resource allocation, and use LLM agents to automatically scan news and social media for early signals of emerging tensions."</a:t>
            </a:r>
          </a:p>
        </p:txBody>
      </p:sp>
      <p:sp>
        <p:nvSpPr>
          <p:cNvPr id="13" name="TextBox 12">
            <a:extLst>
              <a:ext uri="{FF2B5EF4-FFF2-40B4-BE49-F238E27FC236}">
                <a16:creationId xmlns:a16="http://schemas.microsoft.com/office/drawing/2014/main" id="{0F71E1CE-887D-1C69-F91A-465D61D2ED12}"/>
              </a:ext>
            </a:extLst>
          </p:cNvPr>
          <p:cNvSpPr txBox="1"/>
          <p:nvPr/>
        </p:nvSpPr>
        <p:spPr>
          <a:xfrm>
            <a:off x="0" y="4314695"/>
            <a:ext cx="12192000" cy="2513252"/>
          </a:xfrm>
          <a:prstGeom prst="rect">
            <a:avLst/>
          </a:prstGeom>
          <a:noFill/>
        </p:spPr>
        <p:txBody>
          <a:bodyPr wrap="square">
            <a:spAutoFit/>
          </a:bodyPr>
          <a:lstStyle/>
          <a:p>
            <a:pPr marL="342900" marR="0" lvl="0" indent="-342900">
              <a:lnSpc>
                <a:spcPct val="115000"/>
              </a:lnSpc>
              <a:spcAft>
                <a:spcPts val="800"/>
              </a:spcAft>
              <a:buFont typeface="+mj-lt"/>
              <a:buAutoNum type="arabicPeriod" startAt="4"/>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"Your plan calls for shifting resources to District 4. What do you say to the Commanders of other Districts who will see this as robbing Peter to pay Paul?"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"That's a critical operational concern. The data shows District 4 is a systemic outlier. This isn't about favoring one district but about deploying resources to where the threat is most concentrated and severe to protect the </a:t>
            </a:r>
            <a:r>
              <a:rPr lang="en-US" sz="1200" i="1" kern="100" dirty="0">
                <a:effectLst/>
                <a:latin typeface="Aptos" panose="020B0004020202020204" pitchFamily="34" charset="0"/>
                <a:ea typeface="Aptos" panose="020B0004020202020204" pitchFamily="34" charset="0"/>
                <a:cs typeface="Times New Roman" panose="02020603050405020304" pitchFamily="18" charset="0"/>
              </a:rPr>
              <a:t>entire region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 major crime event in District 4, like an organized auto-theft ring or a spike in gun violence, often drains resources from surrounding districts anyway. By concentrating efforts to 'put out the biggest fire,' we stabilize the entire region. This should be presented as a temporary, data-supported surge to address a critical vulnerability."</a:t>
            </a:r>
          </a:p>
          <a:p>
            <a:pPr marL="342900" marR="0" lvl="0" indent="-342900">
              <a:lnSpc>
                <a:spcPct val="115000"/>
              </a:lnSpc>
              <a:spcAft>
                <a:spcPts val="800"/>
              </a:spcAft>
              <a:buFont typeface="+mj-lt"/>
              <a:buAutoNum type="arabicPeriod" startAt="4"/>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"How would you implement the 'Strategic Shift Bidding' in practice, considering union contracts and officer morale?"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 recognize this is as much a human challenge as a technical one. I would propose a pilot program framed as a 'Proactive Patrol Initiative.' The data shows that ensuring full staffing on weekdays reduces burnout by preventing reactive chaos on Fridays. We could use incentive-based overtime for Mondays-Thursdays, rather than forced reassignments. The key is to present the data to the officers and their representatives, showing them how this plan actually creates more predictable schedules and reduces their stress during high-chaos periods."</a:t>
            </a:r>
          </a:p>
        </p:txBody>
      </p:sp>
    </p:spTree>
    <p:extLst>
      <p:ext uri="{BB962C8B-B14F-4D97-AF65-F5344CB8AC3E}">
        <p14:creationId xmlns:p14="http://schemas.microsoft.com/office/powerpoint/2010/main" val="2336704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558EC78-1D4C-3A61-8520-BAF78CCF0DAE}"/>
              </a:ext>
            </a:extLst>
          </p:cNvPr>
          <p:cNvSpPr>
            <a:spLocks noGrp="1"/>
          </p:cNvSpPr>
          <p:nvPr>
            <p:ph type="dt" sz="half" idx="10"/>
          </p:nvPr>
        </p:nvSpPr>
        <p:spPr/>
        <p:txBody>
          <a:bodyPr/>
          <a:lstStyle/>
          <a:p>
            <a:fld id="{0B64E1C1-4E54-448F-BF56-79B106D62990}" type="datetime3">
              <a:rPr lang="en-US" smtClean="0"/>
              <a:t>11 December 2025</a:t>
            </a:fld>
            <a:endParaRPr lang="en-US"/>
          </a:p>
        </p:txBody>
      </p:sp>
      <p:sp>
        <p:nvSpPr>
          <p:cNvPr id="4" name="Footer Placeholder 3">
            <a:extLst>
              <a:ext uri="{FF2B5EF4-FFF2-40B4-BE49-F238E27FC236}">
                <a16:creationId xmlns:a16="http://schemas.microsoft.com/office/drawing/2014/main" id="{29C6C1A2-4953-6D8A-4747-89E9A6C02BB3}"/>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6D871AFC-0DA6-36F0-73C7-9BBE8B529932}"/>
              </a:ext>
            </a:extLst>
          </p:cNvPr>
          <p:cNvSpPr>
            <a:spLocks noGrp="1"/>
          </p:cNvSpPr>
          <p:nvPr>
            <p:ph type="sldNum" sz="quarter" idx="12"/>
          </p:nvPr>
        </p:nvSpPr>
        <p:spPr/>
        <p:txBody>
          <a:bodyPr/>
          <a:lstStyle/>
          <a:p>
            <a:fld id="{C1FF6DA9-008F-8B48-92A6-B652298478BF}" type="slidenum">
              <a:rPr lang="en-US" smtClean="0"/>
              <a:t>28</a:t>
            </a:fld>
            <a:endParaRPr lang="en-US"/>
          </a:p>
        </p:txBody>
      </p:sp>
      <p:sp>
        <p:nvSpPr>
          <p:cNvPr id="7" name="TextBox 6">
            <a:extLst>
              <a:ext uri="{FF2B5EF4-FFF2-40B4-BE49-F238E27FC236}">
                <a16:creationId xmlns:a16="http://schemas.microsoft.com/office/drawing/2014/main" id="{C635A2E1-10B2-7CAF-4FE4-E1612BC69DF6}"/>
              </a:ext>
            </a:extLst>
          </p:cNvPr>
          <p:cNvSpPr txBox="1"/>
          <p:nvPr/>
        </p:nvSpPr>
        <p:spPr>
          <a:xfrm>
            <a:off x="0" y="32378"/>
            <a:ext cx="12192000" cy="2615844"/>
          </a:xfrm>
          <a:prstGeom prst="rect">
            <a:avLst/>
          </a:prstGeom>
          <a:noFill/>
        </p:spPr>
        <p:txBody>
          <a:bodyPr wrap="square">
            <a:spAutoFit/>
          </a:bodyPr>
          <a:lstStyle/>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Behavioral &amp; Role-Fit Questions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Font typeface="+mj-lt"/>
              <a:buAutoNum type="arabicPeriod" startAt="6"/>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"This role involves explaining complex data to non-technical audiences, including senior officers. How do you do that?"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 focus on the 'so what?' and avoid technical jargon. For example, instead of saying 'the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XGBoost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model identified a high feature importance for the temporal variable,' I would say, 'the data tells us that historical patterns from last year are the single biggest predictor of crime this month.' I use clear, intuitive visuals like the ones in this presentation—hotspot maps, simple bar charts for growth rates, and the '95% vs 54%' comparison—to make the insight immediate and undeniable."</a:t>
            </a:r>
          </a:p>
          <a:p>
            <a:pPr marL="342900" marR="0" lvl="0" indent="-342900">
              <a:lnSpc>
                <a:spcPct val="115000"/>
              </a:lnSpc>
              <a:spcAft>
                <a:spcPts val="800"/>
              </a:spcAft>
              <a:buFont typeface="+mj-lt"/>
              <a:buAutoNum type="arabicPeriod" startAt="6"/>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"Where do you see the future of AI and Data Science in policing, and how do you fit into that?"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"The future is in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predictive prevention and intelligent automation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Beyond forecasting, AI can help in cybercrime detection, analyzing complex networks of organized crime from text reports, and optimizing patrol routes in real-time. My experience, especially with building LLM applications, positions me to help YRP not just analyze the past, but to build the tools that will give our officers a decisive advantage in the future. I'm not just a data scientist; I'm a builder of solutions that enhance public safety."</a:t>
            </a:r>
          </a:p>
        </p:txBody>
      </p:sp>
      <p:sp>
        <p:nvSpPr>
          <p:cNvPr id="9" name="TextBox 8">
            <a:extLst>
              <a:ext uri="{FF2B5EF4-FFF2-40B4-BE49-F238E27FC236}">
                <a16:creationId xmlns:a16="http://schemas.microsoft.com/office/drawing/2014/main" id="{324C6654-BD97-C651-7E47-C29C21AF3CFC}"/>
              </a:ext>
            </a:extLst>
          </p:cNvPr>
          <p:cNvSpPr txBox="1"/>
          <p:nvPr/>
        </p:nvSpPr>
        <p:spPr>
          <a:xfrm>
            <a:off x="0" y="2692848"/>
            <a:ext cx="12192000" cy="3046988"/>
          </a:xfrm>
          <a:prstGeom prst="rect">
            <a:avLst/>
          </a:prstGeom>
          <a:noFill/>
        </p:spPr>
        <p:txBody>
          <a:bodyPr wrap="square">
            <a:spAutoFit/>
          </a:bodyPr>
          <a:lstStyle/>
          <a:p>
            <a:r>
              <a:rPr lang="en-US" sz="1600" b="1" i="0" dirty="0">
                <a:solidFill>
                  <a:srgbClr val="0F1115"/>
                </a:solidFill>
                <a:effectLst/>
                <a:latin typeface="quote-cjk-patch"/>
              </a:rPr>
              <a:t>On Collaboration:</a:t>
            </a:r>
            <a:r>
              <a:rPr lang="en-US" sz="1600" b="0" i="0" dirty="0">
                <a:solidFill>
                  <a:srgbClr val="0F1115"/>
                </a:solidFill>
                <a:effectLst/>
                <a:latin typeface="quote-cjk-patch"/>
              </a:rPr>
              <a:t> "The job description mentions close collaboration with GIS, Data Engineering, and front-line decision-makers. Could you describe what a typical collaborative project looks like from initiation to deployment? What does a successful partnership look like in practice?</a:t>
            </a:r>
          </a:p>
          <a:p>
            <a:endParaRPr lang="en-US" sz="1600" dirty="0">
              <a:solidFill>
                <a:srgbClr val="0F1115"/>
              </a:solidFill>
              <a:latin typeface="quote-cjk-patch"/>
            </a:endParaRPr>
          </a:p>
          <a:p>
            <a:r>
              <a:rPr lang="en-US" sz="1600" b="1" dirty="0"/>
              <a:t>On the Tech Stack Evolution:</a:t>
            </a:r>
            <a:r>
              <a:rPr lang="en-US" sz="1600" dirty="0"/>
              <a:t> "I noticed the presentation mentioned tools like Python, SQL, and Power BI. Could you describe the current on-premise or cloud data infrastructure (e.g., Azure, AWS)? Are there any planned investments or shifts in the technology roadmap for the bureau?</a:t>
            </a:r>
          </a:p>
          <a:p>
            <a:endParaRPr lang="en-US" sz="1600" dirty="0"/>
          </a:p>
          <a:p>
            <a:r>
              <a:rPr lang="en-US" sz="1600" b="1" dirty="0"/>
              <a:t>On </a:t>
            </a:r>
            <a:r>
              <a:rPr lang="en-US" sz="1600" b="1" dirty="0" err="1"/>
              <a:t>MLOps</a:t>
            </a:r>
            <a:r>
              <a:rPr lang="en-US" sz="1600" b="1" dirty="0"/>
              <a:t> &amp; Model Deployment:</a:t>
            </a:r>
            <a:r>
              <a:rPr lang="en-US" sz="1600" dirty="0"/>
              <a:t> "The purpose of this role is to transform data into strategic assets that support decision-making. Could you talk about the process for taking a model from a </a:t>
            </a:r>
            <a:r>
              <a:rPr lang="en-US" sz="1600" dirty="0" err="1"/>
              <a:t>Jupyter</a:t>
            </a:r>
            <a:r>
              <a:rPr lang="en-US" sz="1600" dirty="0"/>
              <a:t> Notebook to a production environment? Is there a established </a:t>
            </a:r>
            <a:r>
              <a:rPr lang="en-US" sz="1600" dirty="0" err="1"/>
              <a:t>MLOps</a:t>
            </a:r>
            <a:r>
              <a:rPr lang="en-US" sz="1600" dirty="0"/>
              <a:t> pipeline, or is that an area for development?</a:t>
            </a:r>
          </a:p>
          <a:p>
            <a:endParaRPr lang="en-US" sz="1600" dirty="0"/>
          </a:p>
          <a:p>
            <a:r>
              <a:rPr lang="en-US" sz="1600" b="1" dirty="0"/>
              <a:t>On the AI Strategy:</a:t>
            </a:r>
            <a:r>
              <a:rPr lang="en-US" sz="1600" dirty="0"/>
              <a:t> "York Regional Police seems committed to becoming more data-driven. Is there a formal AI or data strategy in place? How does leadership envision the role of advanced analytics, like the LLM applications I mentioned, evolving in the next few years?</a:t>
            </a:r>
          </a:p>
        </p:txBody>
      </p:sp>
    </p:spTree>
    <p:extLst>
      <p:ext uri="{BB962C8B-B14F-4D97-AF65-F5344CB8AC3E}">
        <p14:creationId xmlns:p14="http://schemas.microsoft.com/office/powerpoint/2010/main" val="279015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12813</TotalTime>
  <Words>4410</Words>
  <Application>Microsoft Office PowerPoint</Application>
  <PresentationFormat>Widescreen</PresentationFormat>
  <Paragraphs>520</Paragraphs>
  <Slides>28</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Calibri</vt:lpstr>
      <vt:lpstr>Courier New</vt:lpstr>
      <vt:lpstr>quote-cjk-patch</vt:lpstr>
      <vt:lpstr>Times New Roman</vt:lpstr>
      <vt:lpstr>Office Theme</vt:lpstr>
      <vt:lpstr>York Region Crime Analysis: A Data-Driven Plan for 2026</vt:lpstr>
      <vt:lpstr>Table of Contents</vt:lpstr>
      <vt:lpstr>Data Foundation</vt:lpstr>
      <vt:lpstr>Crime Trend (Temporal Patterns)</vt:lpstr>
      <vt:lpstr>Crime Category Distribution</vt:lpstr>
      <vt:lpstr>The Vicious Cycle of Crime and Staffing</vt:lpstr>
      <vt:lpstr>Yearly Crime Trends &amp; The 2024 Anomaly</vt:lpstr>
      <vt:lpstr>2024 Crime Surge: Key Drivers</vt:lpstr>
      <vt:lpstr>Multi-Data Sources for Crime ML/AI Modeling</vt:lpstr>
      <vt:lpstr>Education and Employment</vt:lpstr>
      <vt:lpstr>Model Predictive Factors for Crime</vt:lpstr>
      <vt:lpstr>Crime Time-Series Modeling</vt:lpstr>
      <vt:lpstr>Forecast: A Return to Growth in 2026 Demands Action</vt:lpstr>
      <vt:lpstr>PowerPoint Presentation</vt:lpstr>
      <vt:lpstr>District 4 (Vaughan) Operational Dashboard  &amp; The Staffing Crisis</vt:lpstr>
      <vt:lpstr>Top 10 High-Impact Operational Days</vt:lpstr>
      <vt:lpstr>District 4 is the Epicenter of This Risk</vt:lpstr>
      <vt:lpstr>The Staffing Crisis: 95% Legal Compliance Masks 54% Operational Readiness In District 4</vt:lpstr>
      <vt:lpstr>PowerPoint Presentation</vt:lpstr>
      <vt:lpstr>PowerPoint Presentation</vt:lpstr>
      <vt:lpstr>About Myself</vt:lpstr>
      <vt:lpstr>Climate Change and Sea Level Rise Prediction</vt:lpstr>
      <vt:lpstr>Deep Learning (RNN) – Cancer Prediction</vt:lpstr>
      <vt:lpstr>AI Agents: Generative AI &amp; LLM Integration</vt:lpstr>
      <vt:lpstr>Data Integration &amp; Modeling </vt:lpstr>
      <vt:lpstr>APP: Rx Prescription Data, Patient Data, Claim Data &amp; Drug Store Universe Data </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Fuxi Ma</dc:creator>
  <cp:keywords/>
  <dc:description>generated using python-pptx</dc:description>
  <cp:lastModifiedBy>Fuxi Ma</cp:lastModifiedBy>
  <cp:revision>268</cp:revision>
  <dcterms:created xsi:type="dcterms:W3CDTF">2013-01-27T09:14:16Z</dcterms:created>
  <dcterms:modified xsi:type="dcterms:W3CDTF">2025-12-11T21:46:38Z</dcterms:modified>
  <cp:category/>
</cp:coreProperties>
</file>