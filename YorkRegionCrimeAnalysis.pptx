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9"/>
  </p:notesMasterIdLst>
  <p:sldIdLst>
    <p:sldId id="256" r:id="rId2"/>
    <p:sldId id="272" r:id="rId3"/>
    <p:sldId id="257" r:id="rId4"/>
    <p:sldId id="270" r:id="rId5"/>
    <p:sldId id="269" r:id="rId6"/>
    <p:sldId id="268" r:id="rId7"/>
    <p:sldId id="258" r:id="rId8"/>
    <p:sldId id="259" r:id="rId9"/>
    <p:sldId id="261" r:id="rId10"/>
    <p:sldId id="262" r:id="rId11"/>
    <p:sldId id="278" r:id="rId12"/>
    <p:sldId id="275" r:id="rId13"/>
    <p:sldId id="277" r:id="rId14"/>
    <p:sldId id="264" r:id="rId15"/>
    <p:sldId id="265" r:id="rId16"/>
    <p:sldId id="266" r:id="rId17"/>
    <p:sldId id="267"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010" autoAdjust="0"/>
  </p:normalViewPr>
  <p:slideViewPr>
    <p:cSldViewPr snapToGrid="0" snapToObjects="1">
      <p:cViewPr varScale="1">
        <p:scale>
          <a:sx n="54" d="100"/>
          <a:sy n="54" d="100"/>
        </p:scale>
        <p:origin x="612" y="276"/>
      </p:cViewPr>
      <p:guideLst>
        <p:guide orient="horz" pos="2160"/>
        <p:guide pos="3840"/>
      </p:guideLst>
    </p:cSldViewPr>
  </p:slideViewPr>
  <p:notesTextViewPr>
    <p:cViewPr>
      <p:scale>
        <a:sx n="3" d="2"/>
        <a:sy n="3" d="2"/>
      </p:scale>
      <p:origin x="0" y="0"/>
    </p:cViewPr>
  </p:notesTextViewPr>
  <p:sorterViewPr>
    <p:cViewPr>
      <p:scale>
        <a:sx n="100" d="100"/>
        <a:sy n="100" d="100"/>
      </p:scale>
      <p:origin x="0" y="0"/>
    </p:cViewPr>
  </p:sorterViewPr>
  <p:notesViewPr>
    <p:cSldViewPr snapToGrid="0" snapToObjects="1">
      <p:cViewPr varScale="1">
        <p:scale>
          <a:sx n="84" d="100"/>
          <a:sy n="84" d="100"/>
        </p:scale>
        <p:origin x="3912"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817781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comprehensive presentation provides detailed analysis of crime patterns in York Region from 2020-2025, with advanced forecasting through 2027. Based on 299,984 crime records, we identify key trends, temporal patterns, predictive insights, and strategic recommendations for law enforcement and community safety initiatives.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B0BA5-955B-7BCF-899F-E1B0D87640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12BDF0-56BD-B977-4448-B3FB43CF168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148AA9AD-FD55-557F-DBEE-192A6D1ADB99}"/>
              </a:ext>
            </a:extLst>
          </p:cNvPr>
          <p:cNvSpPr>
            <a:spLocks noGrp="1"/>
          </p:cNvSpPr>
          <p:nvPr>
            <p:ph type="body" sz="quarter" idx="3"/>
          </p:nvPr>
        </p:nvSpPr>
        <p:spPr/>
        <p:txBody>
          <a:bodyPr/>
          <a:lstStyle/>
          <a:p>
            <a:r>
              <a:rPr lang="en-CA" sz="1200" b="0" i="0" kern="1200" dirty="0">
                <a:solidFill>
                  <a:schemeClr val="tx1"/>
                </a:solidFill>
                <a:effectLst/>
                <a:latin typeface="+mn-lt"/>
                <a:ea typeface="+mn-ea"/>
                <a:cs typeface="+mn-cs"/>
              </a:rPr>
              <a:t>Good morning. I'm here to present our York Region Crime Analysis. To summarize our key findings upfront: we analyzed nearly 300,000 records and identified a major spike in 2024, with over 95,000 crimes—an 89.5% increase. However, we are seeing a strong correction in 2025. Property crime is the dominant category, and our highest risk area is District 1 in the North. Now, let me walk you through how we reached these conclusions.</a:t>
            </a:r>
            <a:endParaRPr dirty="0"/>
          </a:p>
        </p:txBody>
      </p:sp>
      <p:sp>
        <p:nvSpPr>
          <p:cNvPr id="4" name="Slide Number Placeholder 3">
            <a:extLst>
              <a:ext uri="{FF2B5EF4-FFF2-40B4-BE49-F238E27FC236}">
                <a16:creationId xmlns:a16="http://schemas.microsoft.com/office/drawing/2014/main" id="{408B393E-9DA1-F4F3-9165-9994240955A9}"/>
              </a:ext>
            </a:extLst>
          </p:cNvPr>
          <p:cNvSpPr>
            <a:spLocks noGrp="1"/>
          </p:cNvSpPr>
          <p:nvPr>
            <p:ph type="sldNum" sz="quarter" idx="5"/>
          </p:nvPr>
        </p:nvSpPr>
        <p:spPr/>
      </p:sp>
    </p:spTree>
    <p:extLst>
      <p:ext uri="{BB962C8B-B14F-4D97-AF65-F5344CB8AC3E}">
        <p14:creationId xmlns:p14="http://schemas.microsoft.com/office/powerpoint/2010/main" val="19301326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CA" sz="1200" b="0" i="0" kern="1200" dirty="0">
                <a:solidFill>
                  <a:schemeClr val="tx1"/>
                </a:solidFill>
                <a:effectLst/>
                <a:latin typeface="+mn-lt"/>
                <a:ea typeface="+mn-ea"/>
                <a:cs typeface="+mn-cs"/>
              </a:rPr>
              <a:t>Good morning. I'm here to present our York Region Crime Analysis. To summarize our key findings upfront: we analyzed nearly 300,000 records and identified a major spike in 2024, with over 95,000 crimes—an 89.5% increase. However, we are seeing a strong correction in 2025. Property crime is the dominant category, and our highest risk area is District 1 in the North. Now, let me walk you through how we reached these conclusions.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90F1B-667F-3CCE-43F3-6BF3CA2A19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B837DF-CF87-B1DC-AF0E-6187AA1063C8}"/>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6529B64-43F3-EA78-E159-94EAD80107EC}"/>
              </a:ext>
            </a:extLst>
          </p:cNvPr>
          <p:cNvSpPr>
            <a:spLocks noGrp="1"/>
          </p:cNvSpPr>
          <p:nvPr>
            <p:ph type="body" sz="quarter" idx="3"/>
          </p:nvPr>
        </p:nvSpPr>
        <p:spPr/>
        <p:txBody>
          <a:bodyPr/>
          <a:lstStyle/>
          <a:p>
            <a:r>
              <a:t>Executive summary highlighting CORRECTED temporal findings. Analysis confirms midnight (0:00) as the peak crime hour with 28,510 incidents. Critical issues include the 2024 crime spike requiring investigation, District 4's emergency situation with 544% growth, and the dominance of property crimes. The forecast indicates a positive trend with continued decline through 2027, providing opportunity for targeted interventions.</a:t>
            </a:r>
          </a:p>
        </p:txBody>
      </p:sp>
      <p:sp>
        <p:nvSpPr>
          <p:cNvPr id="4" name="Slide Number Placeholder 3">
            <a:extLst>
              <a:ext uri="{FF2B5EF4-FFF2-40B4-BE49-F238E27FC236}">
                <a16:creationId xmlns:a16="http://schemas.microsoft.com/office/drawing/2014/main" id="{60B8E967-1070-D9A0-6F9A-F906298FF27B}"/>
              </a:ext>
            </a:extLst>
          </p:cNvPr>
          <p:cNvSpPr>
            <a:spLocks noGrp="1"/>
          </p:cNvSpPr>
          <p:nvPr>
            <p:ph type="sldNum" sz="quarter" idx="5"/>
          </p:nvPr>
        </p:nvSpPr>
        <p:spPr/>
      </p:sp>
    </p:spTree>
    <p:extLst>
      <p:ext uri="{BB962C8B-B14F-4D97-AF65-F5344CB8AC3E}">
        <p14:creationId xmlns:p14="http://schemas.microsoft.com/office/powerpoint/2010/main" val="33678456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408EC-FABA-22F2-C2FB-7CA7BAD9F1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D13F41-F087-2A46-87BE-2ADAFE784A6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D941F112-DBAE-14D3-E5B2-A7BA40FEC10E}"/>
              </a:ext>
            </a:extLst>
          </p:cNvPr>
          <p:cNvSpPr>
            <a:spLocks noGrp="1"/>
          </p:cNvSpPr>
          <p:nvPr>
            <p:ph type="body" sz="quarter" idx="3"/>
          </p:nvPr>
        </p:nvSpPr>
        <p:spPr/>
        <p:txBody>
          <a:bodyPr/>
          <a:lstStyle/>
          <a:p>
            <a:r>
              <a:t>Executive summary highlighting CORRECTED temporal findings. Analysis confirms midnight (0:00) as the peak crime hour with 28,510 incidents. Critical issues include the 2024 crime spike requiring investigation, District 4's emergency situation with 544% growth, and the dominance of property crimes. The forecast indicates a positive trend with continued decline through 2027, providing opportunity for targeted interventions.</a:t>
            </a:r>
          </a:p>
        </p:txBody>
      </p:sp>
      <p:sp>
        <p:nvSpPr>
          <p:cNvPr id="4" name="Slide Number Placeholder 3">
            <a:extLst>
              <a:ext uri="{FF2B5EF4-FFF2-40B4-BE49-F238E27FC236}">
                <a16:creationId xmlns:a16="http://schemas.microsoft.com/office/drawing/2014/main" id="{D9E5CCBA-BA84-195A-3D40-DDC898D2F103}"/>
              </a:ext>
            </a:extLst>
          </p:cNvPr>
          <p:cNvSpPr>
            <a:spLocks noGrp="1"/>
          </p:cNvSpPr>
          <p:nvPr>
            <p:ph type="sldNum" sz="quarter" idx="5"/>
          </p:nvPr>
        </p:nvSpPr>
        <p:spPr/>
      </p:sp>
    </p:spTree>
    <p:extLst>
      <p:ext uri="{BB962C8B-B14F-4D97-AF65-F5344CB8AC3E}">
        <p14:creationId xmlns:p14="http://schemas.microsoft.com/office/powerpoint/2010/main" val="9437342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95259D-2D66-D144-CEA9-4D63E34116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5F888F-AE62-97CF-AD88-201BD785B2F6}"/>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6ED325C-BA22-DDE1-36F2-6C891FE5D899}"/>
              </a:ext>
            </a:extLst>
          </p:cNvPr>
          <p:cNvSpPr>
            <a:spLocks noGrp="1"/>
          </p:cNvSpPr>
          <p:nvPr>
            <p:ph type="body" sz="quarter" idx="3"/>
          </p:nvPr>
        </p:nvSpPr>
        <p:spPr/>
        <p:txBody>
          <a:bodyPr/>
          <a:lstStyle/>
          <a:p>
            <a:r>
              <a:rPr dirty="0"/>
              <a:t>Executive summary highlighting CORRECTED temporal findings. Analysis confirms midnight (0:00) as the peak crime hour with 28,510 incidents. Critical issues include the 2024 crime spike requiring investigation, District 4's emergency situation with 544% growth, and the dominance of property crimes. The forecast indicates a positive trend with continued decline through 2027, providing opportunity for targeted interventions.</a:t>
            </a:r>
          </a:p>
        </p:txBody>
      </p:sp>
      <p:sp>
        <p:nvSpPr>
          <p:cNvPr id="4" name="Slide Number Placeholder 3">
            <a:extLst>
              <a:ext uri="{FF2B5EF4-FFF2-40B4-BE49-F238E27FC236}">
                <a16:creationId xmlns:a16="http://schemas.microsoft.com/office/drawing/2014/main" id="{05CAB240-FCA4-BA23-32AB-E5DC7BE6257A}"/>
              </a:ext>
            </a:extLst>
          </p:cNvPr>
          <p:cNvSpPr>
            <a:spLocks noGrp="1"/>
          </p:cNvSpPr>
          <p:nvPr>
            <p:ph type="sldNum" sz="quarter" idx="5"/>
          </p:nvPr>
        </p:nvSpPr>
        <p:spPr/>
      </p:sp>
    </p:spTree>
    <p:extLst>
      <p:ext uri="{BB962C8B-B14F-4D97-AF65-F5344CB8AC3E}">
        <p14:creationId xmlns:p14="http://schemas.microsoft.com/office/powerpoint/2010/main" val="40489659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Property crimes dominate the crime landscape, accounting for nearly 60% of all incidents (178,279 cases). Violent crimes represent 20.2% of total cases, indicating significant public safety concerns. Other notable categories include 'Other Crime' (10.9%) and Drug-related offenses (6.6%). This distribution suggests that resource allocation should prioritize property crime prevention while maintaining adequate focus on violent crime intervention.</a:t>
            </a:r>
            <a:br>
              <a:rPr lang="en-CA" dirty="0"/>
            </a:br>
            <a:br>
              <a:rPr lang="en-CA" dirty="0"/>
            </a:br>
            <a:r>
              <a:rPr lang="en-CA" sz="1200" b="0" i="0" kern="1200" dirty="0">
                <a:solidFill>
                  <a:schemeClr val="tx1"/>
                </a:solidFill>
                <a:effectLst/>
                <a:latin typeface="+mn-lt"/>
                <a:ea typeface="+mn-ea"/>
                <a:cs typeface="+mn-cs"/>
              </a:rPr>
              <a:t>The top 3 crime types account for </a:t>
            </a:r>
            <a:r>
              <a:rPr lang="en-CA" sz="1200" b="1" i="0" kern="1200" dirty="0">
                <a:solidFill>
                  <a:schemeClr val="tx1"/>
                </a:solidFill>
                <a:effectLst/>
                <a:latin typeface="+mn-lt"/>
                <a:ea typeface="+mn-ea"/>
                <a:cs typeface="+mn-cs"/>
              </a:rPr>
              <a:t>56.4%</a:t>
            </a:r>
            <a:r>
              <a:rPr lang="en-CA" sz="1200" b="0" i="0" kern="1200" dirty="0">
                <a:solidFill>
                  <a:schemeClr val="tx1"/>
                </a:solidFill>
                <a:effectLst/>
                <a:latin typeface="+mn-lt"/>
                <a:ea typeface="+mn-ea"/>
                <a:cs typeface="+mn-cs"/>
              </a:rPr>
              <a:t> of all incidents, providing clear targets for focused intervention.</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Combined analysis of yearly trends and crime type patterns. Left chart shows yearly totals with growth rates, highlighting the 2024 anomaly of 89.5% increase followed by 56.7% decrease in 2025. Right chart shows how different crime categories have evolved over time, with theft-related crimes showing consistent patterns while other categories vary. The 2024 spike requires detailed investigation to understand root causes.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Comprehensive forecasting analysis combining overall crime trends with category-specific projections. Top charts show the overall crime forecast with confidence intervals and detailed crime type forecasts. The analysis indicates continued decline through 2027 following the 2024 anomaly, with property and violent crimes decreasing while fraud offenses are projected to increase. This detailed forecasting enables targeted resource allocation and strategic planning during a favorable trend period.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6AAD8-402A-F049-6E47-F7371F5D59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1A487-E9B6-5350-224F-52513A22578A}"/>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EA00CA08-226E-DE16-304D-1B8BBC986B0B}"/>
              </a:ext>
            </a:extLst>
          </p:cNvPr>
          <p:cNvSpPr>
            <a:spLocks noGrp="1"/>
          </p:cNvSpPr>
          <p:nvPr>
            <p:ph type="body" sz="quarter" idx="3"/>
          </p:nvPr>
        </p:nvSpPr>
        <p:spPr/>
        <p:txBody>
          <a:bodyPr/>
          <a:lstStyle/>
          <a:p>
            <a:r>
              <a:t>Comprehensive forecasting analysis combining overall crime trends with category-specific projections. Top charts show the overall crime forecast with confidence intervals and detailed crime type forecasts. The analysis indicates continued decline through 2027 following the 2024 anomaly, with property and violent crimes decreasing while fraud offenses are projected to increase. This detailed forecasting enables targeted resource allocation and strategic planning during a favorable trend period.</a:t>
            </a:r>
          </a:p>
        </p:txBody>
      </p:sp>
      <p:sp>
        <p:nvSpPr>
          <p:cNvPr id="4" name="Slide Number Placeholder 3">
            <a:extLst>
              <a:ext uri="{FF2B5EF4-FFF2-40B4-BE49-F238E27FC236}">
                <a16:creationId xmlns:a16="http://schemas.microsoft.com/office/drawing/2014/main" id="{098A27E5-A5B3-E377-AE54-6D101F1E985A}"/>
              </a:ext>
            </a:extLst>
          </p:cNvPr>
          <p:cNvSpPr>
            <a:spLocks noGrp="1"/>
          </p:cNvSpPr>
          <p:nvPr>
            <p:ph type="sldNum" sz="quarter" idx="5"/>
          </p:nvPr>
        </p:nvSpPr>
        <p:spPr/>
      </p:sp>
    </p:spTree>
    <p:extLst>
      <p:ext uri="{BB962C8B-B14F-4D97-AF65-F5344CB8AC3E}">
        <p14:creationId xmlns:p14="http://schemas.microsoft.com/office/powerpoint/2010/main" val="17077390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A29D8C-7D6C-217C-53B0-00FC06E085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5D6A95-04EA-890D-B4D4-696A07DA1EF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3962C7E7-CCA9-8746-0E60-90FDDC51FF70}"/>
              </a:ext>
            </a:extLst>
          </p:cNvPr>
          <p:cNvSpPr>
            <a:spLocks noGrp="1"/>
          </p:cNvSpPr>
          <p:nvPr>
            <p:ph type="body" sz="quarter" idx="3"/>
          </p:nvPr>
        </p:nvSpPr>
        <p:spPr/>
        <p:txBody>
          <a:bodyPr/>
          <a:lstStyle/>
          <a:p>
            <a:r>
              <a:t>Comprehensive forecasting analysis combining overall crime trends with category-specific projections. Top charts show the overall crime forecast with confidence intervals and detailed crime type forecasts. The analysis indicates continued decline through 2027 following the 2024 anomaly, with property and violent crimes decreasing while fraud offenses are projected to increase. This detailed forecasting enables targeted resource allocation and strategic planning during a favorable trend period.</a:t>
            </a:r>
          </a:p>
        </p:txBody>
      </p:sp>
      <p:sp>
        <p:nvSpPr>
          <p:cNvPr id="4" name="Slide Number Placeholder 3">
            <a:extLst>
              <a:ext uri="{FF2B5EF4-FFF2-40B4-BE49-F238E27FC236}">
                <a16:creationId xmlns:a16="http://schemas.microsoft.com/office/drawing/2014/main" id="{AB2C64C4-0D3B-A906-C168-3ABF634FB2F0}"/>
              </a:ext>
            </a:extLst>
          </p:cNvPr>
          <p:cNvSpPr>
            <a:spLocks noGrp="1"/>
          </p:cNvSpPr>
          <p:nvPr>
            <p:ph type="sldNum" sz="quarter" idx="5"/>
          </p:nvPr>
        </p:nvSpPr>
        <p:spPr/>
      </p:sp>
    </p:spTree>
    <p:extLst>
      <p:ext uri="{BB962C8B-B14F-4D97-AF65-F5344CB8AC3E}">
        <p14:creationId xmlns:p14="http://schemas.microsoft.com/office/powerpoint/2010/main" val="37862701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71B1E-59AD-FA88-C5E9-E010CB1857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7CD640-A601-F375-3BF4-C698DDCD6CC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A86E3AC-7A9C-2CDE-1440-45788845B05F}"/>
              </a:ext>
            </a:extLst>
          </p:cNvPr>
          <p:cNvSpPr>
            <a:spLocks noGrp="1"/>
          </p:cNvSpPr>
          <p:nvPr>
            <p:ph type="body" sz="quarter" idx="3"/>
          </p:nvPr>
        </p:nvSpPr>
        <p:spPr/>
        <p:txBody>
          <a:bodyPr/>
          <a:lstStyle/>
          <a:p>
            <a:r>
              <a:t>Comprehensive forecasting analysis combining overall crime trends with category-specific projections. Top charts show the overall crime forecast with confidence intervals and detailed crime type forecasts. The analysis indicates continued decline through 2027 following the 2024 anomaly, with property and violent crimes decreasing while fraud offenses are projected to increase. This detailed forecasting enables targeted resource allocation and strategic planning during a favorable trend period.</a:t>
            </a:r>
          </a:p>
        </p:txBody>
      </p:sp>
      <p:sp>
        <p:nvSpPr>
          <p:cNvPr id="4" name="Slide Number Placeholder 3">
            <a:extLst>
              <a:ext uri="{FF2B5EF4-FFF2-40B4-BE49-F238E27FC236}">
                <a16:creationId xmlns:a16="http://schemas.microsoft.com/office/drawing/2014/main" id="{A8061834-996C-EB46-B03A-9A75C3745649}"/>
              </a:ext>
            </a:extLst>
          </p:cNvPr>
          <p:cNvSpPr>
            <a:spLocks noGrp="1"/>
          </p:cNvSpPr>
          <p:nvPr>
            <p:ph type="sldNum" sz="quarter" idx="5"/>
          </p:nvPr>
        </p:nvSpPr>
        <p:spPr/>
      </p:sp>
    </p:spTree>
    <p:extLst>
      <p:ext uri="{BB962C8B-B14F-4D97-AF65-F5344CB8AC3E}">
        <p14:creationId xmlns:p14="http://schemas.microsoft.com/office/powerpoint/2010/main" val="30757823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District-level analysis reveals critical emergency situation in District 4 with 544% growth from 2019-2022. District 1 also shows high risk (85/100). Clear prioritization framework established with emergency response needed for Vaughan Station, enhanced patrols in District 1, and replication of successful patterns from low-risk Districts 2 and 5.</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Comprehensive strategic recommendations organized into four key areas: Emergency Response for District 4 crisis, Crime Prevention focusing on theft reduction, Violence Reduction through community policing, and Resource Optimization using data-driven approaches with emphasis on midnight patrols. Recommendations are prioritized based on risk assessment and forecasting analysis.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Phased implementation strategy with immediate actions (0-3 months) focusing on District 4 emergency response and midnight patrols during peak crime hours, medium-term initiatives (3-12 months) building predictive capabilities, and long-term strategy (12+ months) establishing comprehensive prevention framework. Resource allocation model directs 80% of resources to high-risk Districts 1 and 4.</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Conclusion summarizes key achievements including comprehensive analysis of 299,984 records and development of advanced forecasting models. Strategic priorities focus on property crime prevention and District 4 emergency response. Path forward emphasizes predictive analytics and continuous monitoring, with immediate next steps including stakeholder engagement and implementation team development.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lvl1pPr>
              <a:defRPr>
                <a:solidFill>
                  <a:schemeClr val="tx1">
                    <a:lumMod val="65000"/>
                    <a:lumOff val="35000"/>
                  </a:schemeClr>
                </a:solidFill>
              </a:defRPr>
            </a:lvl1pPr>
          </a:lstStyle>
          <a:p>
            <a:fld id="{799A1C02-EC3D-4526-A61C-EEEDB77E2C98}" type="datetime3">
              <a:rPr lang="en-US" smtClean="0"/>
              <a:pPr/>
              <a:t>22 November 2025</a:t>
            </a:fld>
            <a:endParaRPr lang="en-US" dirty="0">
              <a:solidFill>
                <a:schemeClr val="tx1">
                  <a:lumMod val="65000"/>
                  <a:lumOff val="35000"/>
                </a:schemeClr>
              </a:solidFill>
            </a:endParaRPr>
          </a:p>
        </p:txBody>
      </p:sp>
      <p:sp>
        <p:nvSpPr>
          <p:cNvPr id="5" name="Footer Placeholder 4"/>
          <p:cNvSpPr>
            <a:spLocks noGrp="1"/>
          </p:cNvSpPr>
          <p:nvPr>
            <p:ph type="ftr" sz="quarter" idx="11"/>
          </p:nvPr>
        </p:nvSpPr>
        <p:spPr/>
        <p:txBody>
          <a:bodyPr/>
          <a:lstStyle>
            <a:lvl1pPr>
              <a:defRPr>
                <a:solidFill>
                  <a:schemeClr val="tx1">
                    <a:lumMod val="65000"/>
                    <a:lumOff val="35000"/>
                  </a:schemeClr>
                </a:solidFill>
              </a:defRPr>
            </a:lvl1pPr>
          </a:lstStyle>
          <a:p>
            <a:r>
              <a:rPr lang="en-US" dirty="0"/>
              <a:t>York Region Crime Analysis</a:t>
            </a:r>
            <a:endParaRPr lang="en-US" dirty="0">
              <a:solidFill>
                <a:schemeClr val="tx1">
                  <a:lumMod val="65000"/>
                  <a:lumOff val="35000"/>
                </a:schemeClr>
              </a:solidFill>
            </a:endParaRPr>
          </a:p>
        </p:txBody>
      </p:sp>
      <p:sp>
        <p:nvSpPr>
          <p:cNvPr id="6" name="Slide Number Placeholder 5"/>
          <p:cNvSpPr>
            <a:spLocks noGrp="1"/>
          </p:cNvSpPr>
          <p:nvPr>
            <p:ph type="sldNum" sz="quarter" idx="12"/>
          </p:nvPr>
        </p:nvSpPr>
        <p:spPr/>
        <p:txBody>
          <a:bodyPr/>
          <a:lstStyle>
            <a:lvl1pPr>
              <a:defRPr>
                <a:solidFill>
                  <a:schemeClr val="tx1">
                    <a:lumMod val="65000"/>
                    <a:lumOff val="35000"/>
                  </a:schemeClr>
                </a:solidFill>
              </a:defRPr>
            </a:lvl1pPr>
          </a:lstStyle>
          <a:p>
            <a:fld id="{C1FF6DA9-008F-8B48-92A6-B652298478BF}" type="slidenum">
              <a:rPr lang="en-US" smtClean="0"/>
              <a:pPr/>
              <a:t>‹#›</a:t>
            </a:fld>
            <a:endParaRPr lang="en-US" dirty="0">
              <a:solidFill>
                <a:schemeClr val="tx1">
                  <a:lumMod val="65000"/>
                  <a:lumOff val="35000"/>
                </a:schemeClr>
              </a:solidFill>
            </a:endParaRPr>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solidFill>
                  <a:schemeClr val="tx1">
                    <a:lumMod val="65000"/>
                    <a:lumOff val="35000"/>
                  </a:schemeClr>
                </a:solidFill>
              </a:defRPr>
            </a:lvl1pPr>
          </a:lstStyle>
          <a:p>
            <a:fld id="{EB5AF9EF-6ADA-4F60-854C-E9FB1C1ACAFF}" type="datetime3">
              <a:rPr lang="en-US" smtClean="0"/>
              <a:pPr/>
              <a:t>22 November 2025</a:t>
            </a:fld>
            <a:endParaRPr lang="en-US" dirty="0"/>
          </a:p>
        </p:txBody>
      </p:sp>
      <p:sp>
        <p:nvSpPr>
          <p:cNvPr id="5" name="Footer Placeholder 4"/>
          <p:cNvSpPr>
            <a:spLocks noGrp="1"/>
          </p:cNvSpPr>
          <p:nvPr>
            <p:ph type="ftr" sz="quarter" idx="11"/>
          </p:nvPr>
        </p:nvSpPr>
        <p:spPr/>
        <p:txBody>
          <a:bodyPr/>
          <a:lstStyle>
            <a:lvl1pPr>
              <a:defRPr>
                <a:solidFill>
                  <a:schemeClr val="tx1">
                    <a:lumMod val="65000"/>
                    <a:lumOff val="35000"/>
                  </a:schemeClr>
                </a:solidFill>
              </a:defRPr>
            </a:lvl1pPr>
          </a:lstStyle>
          <a:p>
            <a:r>
              <a:rPr lang="en-US" dirty="0"/>
              <a:t>York Region Crime Analysis</a:t>
            </a:r>
            <a:endParaRPr lang="en-US" dirty="0">
              <a:solidFill>
                <a:schemeClr val="tx1">
                  <a:lumMod val="65000"/>
                  <a:lumOff val="35000"/>
                </a:schemeClr>
              </a:solidFill>
            </a:endParaRPr>
          </a:p>
        </p:txBody>
      </p:sp>
      <p:sp>
        <p:nvSpPr>
          <p:cNvPr id="6" name="Slide Number Placeholder 5"/>
          <p:cNvSpPr>
            <a:spLocks noGrp="1"/>
          </p:cNvSpPr>
          <p:nvPr>
            <p:ph type="sldNum" sz="quarter" idx="12"/>
          </p:nvPr>
        </p:nvSpPr>
        <p:spPr/>
        <p:txBody>
          <a:bodyPr/>
          <a:lstStyle>
            <a:lvl1pPr>
              <a:defRPr>
                <a:solidFill>
                  <a:schemeClr val="tx1">
                    <a:lumMod val="65000"/>
                    <a:lumOff val="35000"/>
                  </a:schemeClr>
                </a:solidFill>
              </a:defRPr>
            </a:lvl1pPr>
          </a:lstStyle>
          <a:p>
            <a:fld id="{C1FF6DA9-008F-8B48-92A6-B652298478BF}" type="slidenum">
              <a:rPr lang="en-US" smtClean="0"/>
              <a:pPr/>
              <a:t>‹#›</a:t>
            </a:fld>
            <a:endParaRPr lang="en-US" dirty="0"/>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6546119-C893-498C-9D0E-1FED4A71C90C}" type="datetime3">
              <a:rPr lang="en-US" smtClean="0"/>
              <a:t>22 November 2025</a:t>
            </a:fld>
            <a:endParaRPr lang="en-US"/>
          </a:p>
        </p:txBody>
      </p:sp>
      <p:sp>
        <p:nvSpPr>
          <p:cNvPr id="5" name="Footer Placeholder 4"/>
          <p:cNvSpPr>
            <a:spLocks noGrp="1"/>
          </p:cNvSpPr>
          <p:nvPr>
            <p:ph type="ftr" sz="quarter" idx="11"/>
          </p:nvPr>
        </p:nvSpPr>
        <p:spPr/>
        <p:txBody>
          <a:bodyPr/>
          <a:lstStyle/>
          <a:p>
            <a:r>
              <a:rPr lang="en-US"/>
              <a:t>York Region Crime Analysis</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E520D2C-89AD-4BC4-9A24-B26313B0DCB9}" type="datetime3">
              <a:rPr lang="en-US" smtClean="0"/>
              <a:t>22 November 2025</a:t>
            </a:fld>
            <a:endParaRPr lang="en-US"/>
          </a:p>
        </p:txBody>
      </p:sp>
      <p:sp>
        <p:nvSpPr>
          <p:cNvPr id="6" name="Footer Placeholder 5"/>
          <p:cNvSpPr>
            <a:spLocks noGrp="1"/>
          </p:cNvSpPr>
          <p:nvPr>
            <p:ph type="ftr" sz="quarter" idx="11"/>
          </p:nvPr>
        </p:nvSpPr>
        <p:spPr/>
        <p:txBody>
          <a:bodyPr/>
          <a:lstStyle/>
          <a:p>
            <a:r>
              <a:rPr lang="en-US"/>
              <a:t>York Region Crime Analysis</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ADC46CA-2787-45EE-A4E5-1A72CC227786}" type="datetime3">
              <a:rPr lang="en-US" smtClean="0"/>
              <a:t>22 November 2025</a:t>
            </a:fld>
            <a:endParaRPr lang="en-US"/>
          </a:p>
        </p:txBody>
      </p:sp>
      <p:sp>
        <p:nvSpPr>
          <p:cNvPr id="8" name="Footer Placeholder 7"/>
          <p:cNvSpPr>
            <a:spLocks noGrp="1"/>
          </p:cNvSpPr>
          <p:nvPr>
            <p:ph type="ftr" sz="quarter" idx="11"/>
          </p:nvPr>
        </p:nvSpPr>
        <p:spPr/>
        <p:txBody>
          <a:bodyPr/>
          <a:lstStyle/>
          <a:p>
            <a:r>
              <a:rPr lang="en-US"/>
              <a:t>York Region Crime Analysis</a:t>
            </a:r>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CBA8526B-5913-4A31-BD69-2065E4B8809B}" type="datetime3">
              <a:rPr lang="en-US" smtClean="0"/>
              <a:t>22 November 2025</a:t>
            </a:fld>
            <a:endParaRPr lang="en-US"/>
          </a:p>
        </p:txBody>
      </p:sp>
      <p:sp>
        <p:nvSpPr>
          <p:cNvPr id="4" name="Footer Placeholder 3"/>
          <p:cNvSpPr>
            <a:spLocks noGrp="1"/>
          </p:cNvSpPr>
          <p:nvPr>
            <p:ph type="ftr" sz="quarter" idx="11"/>
          </p:nvPr>
        </p:nvSpPr>
        <p:spPr/>
        <p:txBody>
          <a:bodyPr/>
          <a:lstStyle/>
          <a:p>
            <a:r>
              <a:rPr lang="en-US"/>
              <a:t>York Region Crime Analysis</a:t>
            </a:r>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02D7722-7447-447D-A250-A2689617305A}" type="datetime3">
              <a:rPr lang="en-US" smtClean="0"/>
              <a:t>22 November 2025</a:t>
            </a:fld>
            <a:endParaRPr lang="en-US"/>
          </a:p>
        </p:txBody>
      </p:sp>
      <p:sp>
        <p:nvSpPr>
          <p:cNvPr id="3" name="Footer Placeholder 2"/>
          <p:cNvSpPr>
            <a:spLocks noGrp="1"/>
          </p:cNvSpPr>
          <p:nvPr>
            <p:ph type="ftr" sz="quarter" idx="11"/>
          </p:nvPr>
        </p:nvSpPr>
        <p:spPr/>
        <p:txBody>
          <a:bodyPr/>
          <a:lstStyle/>
          <a:p>
            <a:r>
              <a:rPr lang="en-US"/>
              <a:t>York Region Crime Analysis</a:t>
            </a:r>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A2BF359-877E-4B39-989F-5DE3896EB032}" type="datetime3">
              <a:rPr lang="en-US" smtClean="0"/>
              <a:t>22 November 2025</a:t>
            </a:fld>
            <a:endParaRPr lang="en-US"/>
          </a:p>
        </p:txBody>
      </p:sp>
      <p:sp>
        <p:nvSpPr>
          <p:cNvPr id="6" name="Footer Placeholder 5"/>
          <p:cNvSpPr>
            <a:spLocks noGrp="1"/>
          </p:cNvSpPr>
          <p:nvPr>
            <p:ph type="ftr" sz="quarter" idx="11"/>
          </p:nvPr>
        </p:nvSpPr>
        <p:spPr/>
        <p:txBody>
          <a:bodyPr/>
          <a:lstStyle/>
          <a:p>
            <a:r>
              <a:rPr lang="en-US"/>
              <a:t>York Region Crime Analysis</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2764952-7DF7-4A84-9308-2205B598FB52}" type="datetime3">
              <a:rPr lang="en-US" smtClean="0"/>
              <a:t>22 November 2025</a:t>
            </a:fld>
            <a:endParaRPr lang="en-US"/>
          </a:p>
        </p:txBody>
      </p:sp>
      <p:sp>
        <p:nvSpPr>
          <p:cNvPr id="6" name="Footer Placeholder 5"/>
          <p:cNvSpPr>
            <a:spLocks noGrp="1"/>
          </p:cNvSpPr>
          <p:nvPr>
            <p:ph type="ftr" sz="quarter" idx="11"/>
          </p:nvPr>
        </p:nvSpPr>
        <p:spPr/>
        <p:txBody>
          <a:bodyPr/>
          <a:lstStyle/>
          <a:p>
            <a:r>
              <a:rPr lang="en-US"/>
              <a:t>York Region Crime Analysis</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A4BA20F-C345-4B13-8D50-AF8D3C7AE326}" type="datetime3">
              <a:rPr lang="en-US" smtClean="0"/>
              <a:t>22 November 2025</a:t>
            </a:fld>
            <a:endParaRPr lang="en-US"/>
          </a:p>
        </p:txBody>
      </p:sp>
      <p:sp>
        <p:nvSpPr>
          <p:cNvPr id="5" name="Footer Placeholder 4"/>
          <p:cNvSpPr>
            <a:spLocks noGrp="1"/>
          </p:cNvSpPr>
          <p:nvPr>
            <p:ph type="ftr" sz="quarter" idx="11"/>
          </p:nvPr>
        </p:nvSpPr>
        <p:spPr/>
        <p:txBody>
          <a:bodyPr/>
          <a:lstStyle/>
          <a:p>
            <a:r>
              <a:rPr lang="en-US"/>
              <a:t>York Region Crime Analysis</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C80F348-B7E0-44CC-A938-3905BDF7D764}" type="datetime3">
              <a:rPr lang="en-US" smtClean="0"/>
              <a:t>22 November 2025</a:t>
            </a:fld>
            <a:endParaRPr lang="en-US"/>
          </a:p>
        </p:txBody>
      </p:sp>
      <p:sp>
        <p:nvSpPr>
          <p:cNvPr id="5" name="Footer Placeholder 4"/>
          <p:cNvSpPr>
            <a:spLocks noGrp="1"/>
          </p:cNvSpPr>
          <p:nvPr>
            <p:ph type="ftr" sz="quarter" idx="11"/>
          </p:nvPr>
        </p:nvSpPr>
        <p:spPr/>
        <p:txBody>
          <a:bodyPr/>
          <a:lstStyle/>
          <a:p>
            <a:r>
              <a:rPr lang="en-US"/>
              <a:t>York Region Crime Analysis</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09600" y="1600201"/>
            <a:ext cx="10972800" cy="4525963"/>
          </a:xfrm>
          <a:prstGeom prst="rect">
            <a:avLst/>
          </a:prstGeom>
          <a:solidFill>
            <a:schemeClr val="bg2"/>
          </a:solidFill>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049832-F83F-49E8-9854-52B245B32CC0}" type="datetime3">
              <a:rPr lang="en-US" smtClean="0"/>
              <a:t>22 November 2025</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York Region Crime Analysis</a:t>
            </a: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9.png"/><Relationship Id="rId4" Type="http://schemas.openxmlformats.org/officeDocument/2006/relationships/image" Target="../media/image4.png"/><Relationship Id="rId9"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6.xml"/><Relationship Id="rId5" Type="http://schemas.openxmlformats.org/officeDocument/2006/relationships/image" Target="../media/image2.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6.xml"/><Relationship Id="rId5" Type="http://schemas.openxmlformats.org/officeDocument/2006/relationships/image" Target="../media/image19.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09EAB9D5-AE06-18BA-9513-5206519C5797}"/>
              </a:ext>
            </a:extLst>
          </p:cNvPr>
          <p:cNvSpPr>
            <a:spLocks noGrp="1"/>
          </p:cNvSpPr>
          <p:nvPr>
            <p:ph type="ctrTitle"/>
          </p:nvPr>
        </p:nvSpPr>
        <p:spPr>
          <a:xfrm>
            <a:off x="2209800" y="2130426"/>
            <a:ext cx="7772400" cy="1470025"/>
          </a:xfrm>
        </p:spPr>
        <p:txBody>
          <a:bodyPr>
            <a:normAutofit/>
          </a:bodyPr>
          <a:lstStyle/>
          <a:p>
            <a:pPr>
              <a:defRPr sz="3600" b="1">
                <a:solidFill>
                  <a:srgbClr val="FFFFFF"/>
                </a:solidFill>
              </a:defRPr>
            </a:pPr>
            <a:r>
              <a:rPr lang="en-CA" sz="3600" b="1" dirty="0">
                <a:solidFill>
                  <a:schemeClr val="tx1">
                    <a:lumMod val="65000"/>
                    <a:lumOff val="35000"/>
                  </a:schemeClr>
                </a:solidFill>
                <a:latin typeface="Times New Roman" panose="02020603050405020304" pitchFamily="18" charset="0"/>
                <a:cs typeface="Times New Roman" panose="02020603050405020304" pitchFamily="18" charset="0"/>
              </a:rPr>
              <a:t>Strategic Crime Reduction</a:t>
            </a:r>
            <a:br>
              <a:rPr lang="en-CA" sz="3600" b="1" dirty="0">
                <a:solidFill>
                  <a:schemeClr val="tx1">
                    <a:lumMod val="65000"/>
                    <a:lumOff val="35000"/>
                  </a:schemeClr>
                </a:solidFill>
                <a:latin typeface="Times New Roman" panose="02020603050405020304" pitchFamily="18" charset="0"/>
                <a:cs typeface="Times New Roman" panose="02020603050405020304" pitchFamily="18" charset="0"/>
              </a:rPr>
            </a:br>
            <a:r>
              <a:rPr lang="en-CA" sz="3600" b="1" dirty="0">
                <a:solidFill>
                  <a:schemeClr val="tx1">
                    <a:lumMod val="65000"/>
                    <a:lumOff val="35000"/>
                  </a:schemeClr>
                </a:solidFill>
                <a:latin typeface="Times New Roman" panose="02020603050405020304" pitchFamily="18" charset="0"/>
                <a:cs typeface="Times New Roman" panose="02020603050405020304" pitchFamily="18" charset="0"/>
              </a:rPr>
              <a:t> A Data-Driven Plan for York Region</a:t>
            </a:r>
            <a:endParaRPr sz="3600" b="1" dirty="0">
              <a:solidFill>
                <a:schemeClr val="tx1">
                  <a:lumMod val="65000"/>
                  <a:lumOff val="35000"/>
                </a:schemeClr>
              </a:solidFill>
              <a:latin typeface="Times New Roman" panose="02020603050405020304" pitchFamily="18" charset="0"/>
              <a:cs typeface="Times New Roman" panose="02020603050405020304" pitchFamily="18" charset="0"/>
            </a:endParaRPr>
          </a:p>
        </p:txBody>
      </p:sp>
      <p:pic>
        <p:nvPicPr>
          <p:cNvPr id="2" name="Picture 2" descr="York Regional Police Graphic Logo">
            <a:extLst>
              <a:ext uri="{FF2B5EF4-FFF2-40B4-BE49-F238E27FC236}">
                <a16:creationId xmlns:a16="http://schemas.microsoft.com/office/drawing/2014/main" id="{2C59C761-584B-4A32-1A1E-24E3FAA248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4863"/>
            <a:ext cx="709766" cy="100012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8107154-E37E-27FC-65D3-C402FDDDA0D7}"/>
              </a:ext>
            </a:extLst>
          </p:cNvPr>
          <p:cNvSpPr txBox="1"/>
          <p:nvPr/>
        </p:nvSpPr>
        <p:spPr>
          <a:xfrm>
            <a:off x="3042920" y="4034135"/>
            <a:ext cx="6106160" cy="923330"/>
          </a:xfrm>
          <a:prstGeom prst="rect">
            <a:avLst/>
          </a:prstGeom>
          <a:noFill/>
        </p:spPr>
        <p:txBody>
          <a:bodyPr wrap="square">
            <a:spAutoFit/>
          </a:bodyPr>
          <a:lstStyle/>
          <a:p>
            <a:pPr algn="ctr">
              <a:defRPr sz="1800">
                <a:solidFill>
                  <a:srgbClr val="C8C8C8"/>
                </a:solidFill>
              </a:defRPr>
            </a:pPr>
            <a:r>
              <a:rPr lang="en-CA" dirty="0">
                <a:solidFill>
                  <a:schemeClr val="tx1">
                    <a:lumMod val="50000"/>
                    <a:lumOff val="50000"/>
                  </a:schemeClr>
                </a:solidFill>
                <a:latin typeface="Times New Roman" panose="02020603050405020304" pitchFamily="18" charset="0"/>
                <a:cs typeface="Times New Roman" panose="02020603050405020304" pitchFamily="18" charset="0"/>
              </a:rPr>
              <a:t>Crime Trends, Forecasting &amp; Strategic Insights</a:t>
            </a:r>
            <a:endParaRPr lang="en-CA" sz="1800" dirty="0">
              <a:solidFill>
                <a:schemeClr val="tx1">
                  <a:lumMod val="50000"/>
                  <a:lumOff val="50000"/>
                </a:schemeClr>
              </a:solidFill>
              <a:latin typeface="Times New Roman" panose="02020603050405020304" pitchFamily="18" charset="0"/>
              <a:cs typeface="Times New Roman" panose="02020603050405020304" pitchFamily="18" charset="0"/>
            </a:endParaRPr>
          </a:p>
          <a:p>
            <a:pPr algn="ctr">
              <a:defRPr sz="1800">
                <a:solidFill>
                  <a:srgbClr val="C8C8C8"/>
                </a:solidFill>
              </a:defRPr>
            </a:pPr>
            <a:endParaRPr lang="en-CA" sz="1800" dirty="0">
              <a:solidFill>
                <a:schemeClr val="tx1">
                  <a:lumMod val="50000"/>
                  <a:lumOff val="50000"/>
                </a:schemeClr>
              </a:solidFill>
              <a:latin typeface="Times New Roman" panose="02020603050405020304" pitchFamily="18" charset="0"/>
              <a:cs typeface="Times New Roman" panose="02020603050405020304" pitchFamily="18" charset="0"/>
            </a:endParaRPr>
          </a:p>
          <a:p>
            <a:pPr algn="ctr">
              <a:defRPr sz="1800">
                <a:solidFill>
                  <a:srgbClr val="C8C8C8"/>
                </a:solidFill>
              </a:defRPr>
            </a:pPr>
            <a:r>
              <a:rPr lang="en-CA" dirty="0">
                <a:solidFill>
                  <a:schemeClr val="tx1">
                    <a:lumMod val="50000"/>
                    <a:lumOff val="50000"/>
                  </a:schemeClr>
                </a:solidFill>
                <a:latin typeface="Times New Roman" panose="02020603050405020304" pitchFamily="18" charset="0"/>
                <a:cs typeface="Times New Roman" panose="02020603050405020304" pitchFamily="18" charset="0"/>
              </a:rPr>
              <a:t>2020-2027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176F3-5049-70FE-73E0-6ACF8E27E3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B2ECC9-297B-202D-3845-57BBECC0DFB4}"/>
              </a:ext>
            </a:extLst>
          </p:cNvPr>
          <p:cNvSpPr>
            <a:spLocks noGrp="1"/>
          </p:cNvSpPr>
          <p:nvPr>
            <p:ph type="title"/>
          </p:nvPr>
        </p:nvSpPr>
        <p:spPr/>
        <p:txBody>
          <a:bodyPr>
            <a:normAutofit/>
          </a:bodyPr>
          <a:lstStyle/>
          <a:p>
            <a:r>
              <a:rPr lang="en-CA" b="1" dirty="0">
                <a:latin typeface="Times New Roman" panose="02020603050405020304" pitchFamily="18" charset="0"/>
                <a:cs typeface="Times New Roman" panose="02020603050405020304" pitchFamily="18" charset="0"/>
              </a:rPr>
              <a:t>Executive Summary</a:t>
            </a:r>
            <a:endParaRPr b="1" dirty="0">
              <a:latin typeface="Times New Roman" panose="02020603050405020304" pitchFamily="18" charset="0"/>
              <a:cs typeface="Times New Roman" panose="02020603050405020304" pitchFamily="18" charset="0"/>
            </a:endParaRPr>
          </a:p>
        </p:txBody>
      </p:sp>
      <p:sp>
        <p:nvSpPr>
          <p:cNvPr id="10" name="Date Placeholder 9">
            <a:extLst>
              <a:ext uri="{FF2B5EF4-FFF2-40B4-BE49-F238E27FC236}">
                <a16:creationId xmlns:a16="http://schemas.microsoft.com/office/drawing/2014/main" id="{F9F7887A-DD9B-168F-BAEA-8474312423C4}"/>
              </a:ext>
            </a:extLst>
          </p:cNvPr>
          <p:cNvSpPr>
            <a:spLocks noGrp="1"/>
          </p:cNvSpPr>
          <p:nvPr>
            <p:ph type="dt" sz="half" idx="10"/>
          </p:nvPr>
        </p:nvSpPr>
        <p:spPr/>
        <p:txBody>
          <a:bodyPr/>
          <a:lstStyle/>
          <a:p>
            <a:fld id="{CB4B2DA2-86C1-44C5-9A0D-B40797B26F99}" type="datetime3">
              <a:rPr lang="en-US" smtClean="0"/>
              <a:t>22 November 2025</a:t>
            </a:fld>
            <a:endParaRPr lang="en-US"/>
          </a:p>
        </p:txBody>
      </p:sp>
      <p:sp>
        <p:nvSpPr>
          <p:cNvPr id="11" name="Footer Placeholder 10">
            <a:extLst>
              <a:ext uri="{FF2B5EF4-FFF2-40B4-BE49-F238E27FC236}">
                <a16:creationId xmlns:a16="http://schemas.microsoft.com/office/drawing/2014/main" id="{AB8699E9-AEF1-9DBD-A660-940F945B53C2}"/>
              </a:ext>
            </a:extLst>
          </p:cNvPr>
          <p:cNvSpPr>
            <a:spLocks noGrp="1"/>
          </p:cNvSpPr>
          <p:nvPr>
            <p:ph type="ftr" sz="quarter" idx="11"/>
          </p:nvPr>
        </p:nvSpPr>
        <p:spPr/>
        <p:txBody>
          <a:bodyPr/>
          <a:lstStyle/>
          <a:p>
            <a:r>
              <a:rPr lang="en-US"/>
              <a:t>York Region Crime Analysis</a:t>
            </a:r>
          </a:p>
        </p:txBody>
      </p:sp>
      <p:sp>
        <p:nvSpPr>
          <p:cNvPr id="12" name="Slide Number Placeholder 11">
            <a:extLst>
              <a:ext uri="{FF2B5EF4-FFF2-40B4-BE49-F238E27FC236}">
                <a16:creationId xmlns:a16="http://schemas.microsoft.com/office/drawing/2014/main" id="{A7013070-17FF-0BF4-0104-F148D5568DE1}"/>
              </a:ext>
            </a:extLst>
          </p:cNvPr>
          <p:cNvSpPr>
            <a:spLocks noGrp="1"/>
          </p:cNvSpPr>
          <p:nvPr>
            <p:ph type="sldNum" sz="quarter" idx="12"/>
          </p:nvPr>
        </p:nvSpPr>
        <p:spPr/>
        <p:txBody>
          <a:bodyPr/>
          <a:lstStyle/>
          <a:p>
            <a:fld id="{C1FF6DA9-008F-8B48-92A6-B652298478BF}" type="slidenum">
              <a:rPr lang="en-US" smtClean="0"/>
              <a:t>2</a:t>
            </a:fld>
            <a:endParaRPr lang="en-US"/>
          </a:p>
        </p:txBody>
      </p:sp>
      <p:sp>
        <p:nvSpPr>
          <p:cNvPr id="3" name="TextBox 2">
            <a:extLst>
              <a:ext uri="{FF2B5EF4-FFF2-40B4-BE49-F238E27FC236}">
                <a16:creationId xmlns:a16="http://schemas.microsoft.com/office/drawing/2014/main" id="{8DC3FBC2-02B0-B714-E2C2-58C29BDC8CD9}"/>
              </a:ext>
            </a:extLst>
          </p:cNvPr>
          <p:cNvSpPr txBox="1"/>
          <p:nvPr/>
        </p:nvSpPr>
        <p:spPr>
          <a:xfrm>
            <a:off x="482600" y="1386986"/>
            <a:ext cx="11226800" cy="3697166"/>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CA" sz="3200" b="1" dirty="0">
                <a:latin typeface="Times New Roman" panose="02020603050405020304" pitchFamily="18" charset="0"/>
                <a:cs typeface="Times New Roman" panose="02020603050405020304" pitchFamily="18" charset="0"/>
              </a:rPr>
              <a:t>299,984</a:t>
            </a:r>
            <a:r>
              <a:rPr lang="en-CA" sz="3200" dirty="0">
                <a:latin typeface="Times New Roman" panose="02020603050405020304" pitchFamily="18" charset="0"/>
                <a:cs typeface="Times New Roman" panose="02020603050405020304" pitchFamily="18" charset="0"/>
              </a:rPr>
              <a:t> Crime Records Analyzed</a:t>
            </a:r>
          </a:p>
          <a:p>
            <a:pPr marL="457200" indent="-457200">
              <a:lnSpc>
                <a:spcPct val="150000"/>
              </a:lnSpc>
              <a:buFont typeface="Arial" panose="020B0604020202020204" pitchFamily="34" charset="0"/>
              <a:buChar char="•"/>
            </a:pPr>
            <a:r>
              <a:rPr lang="en-CA" sz="3200" b="1" dirty="0">
                <a:latin typeface="Times New Roman" panose="02020603050405020304" pitchFamily="18" charset="0"/>
                <a:cs typeface="Times New Roman" panose="02020603050405020304" pitchFamily="18" charset="0"/>
              </a:rPr>
              <a:t>95,150</a:t>
            </a:r>
            <a:r>
              <a:rPr lang="en-CA" sz="3200" dirty="0">
                <a:latin typeface="Times New Roman" panose="02020603050405020304" pitchFamily="18" charset="0"/>
                <a:cs typeface="Times New Roman" panose="02020603050405020304" pitchFamily="18" charset="0"/>
              </a:rPr>
              <a:t> Peak Crimes in 2024 (</a:t>
            </a:r>
            <a:r>
              <a:rPr lang="en-CA" sz="3200" b="1" dirty="0">
                <a:latin typeface="Times New Roman" panose="02020603050405020304" pitchFamily="18" charset="0"/>
                <a:cs typeface="Times New Roman" panose="02020603050405020304" pitchFamily="18" charset="0"/>
              </a:rPr>
              <a:t>89.5% Spike</a:t>
            </a:r>
            <a:r>
              <a:rPr lang="en-CA" sz="3200" dirty="0">
                <a:latin typeface="Times New Roman" panose="02020603050405020304" pitchFamily="18" charset="0"/>
                <a:cs typeface="Times New Roman" panose="02020603050405020304" pitchFamily="18" charset="0"/>
              </a:rPr>
              <a:t>)</a:t>
            </a:r>
          </a:p>
          <a:p>
            <a:pPr marL="457200" indent="-457200">
              <a:lnSpc>
                <a:spcPct val="150000"/>
              </a:lnSpc>
              <a:buFont typeface="Arial" panose="020B0604020202020204" pitchFamily="34" charset="0"/>
              <a:buChar char="•"/>
            </a:pPr>
            <a:r>
              <a:rPr lang="en-CA" sz="3200" dirty="0">
                <a:latin typeface="Times New Roman" panose="02020603050405020304" pitchFamily="18" charset="0"/>
                <a:cs typeface="Times New Roman" panose="02020603050405020304" pitchFamily="18" charset="0"/>
              </a:rPr>
              <a:t>Projected </a:t>
            </a:r>
            <a:r>
              <a:rPr lang="en-CA" sz="3200" b="1" dirty="0">
                <a:latin typeface="Times New Roman" panose="02020603050405020304" pitchFamily="18" charset="0"/>
                <a:cs typeface="Times New Roman" panose="02020603050405020304" pitchFamily="18" charset="0"/>
              </a:rPr>
              <a:t>56.7%</a:t>
            </a:r>
            <a:r>
              <a:rPr lang="en-CA" sz="3200" dirty="0">
                <a:latin typeface="Times New Roman" panose="02020603050405020304" pitchFamily="18" charset="0"/>
                <a:cs typeface="Times New Roman" panose="02020603050405020304" pitchFamily="18" charset="0"/>
              </a:rPr>
              <a:t> Decrease in 2025</a:t>
            </a:r>
          </a:p>
          <a:p>
            <a:pPr marL="457200" indent="-457200">
              <a:lnSpc>
                <a:spcPct val="150000"/>
              </a:lnSpc>
              <a:buFont typeface="Arial" panose="020B0604020202020204" pitchFamily="34" charset="0"/>
              <a:buChar char="•"/>
            </a:pPr>
            <a:r>
              <a:rPr lang="en-CA" sz="3200" b="1" dirty="0">
                <a:latin typeface="Times New Roman" panose="02020603050405020304" pitchFamily="18" charset="0"/>
                <a:cs typeface="Times New Roman" panose="02020603050405020304" pitchFamily="18" charset="0"/>
              </a:rPr>
              <a:t>District 1 (North)</a:t>
            </a:r>
            <a:r>
              <a:rPr lang="en-CA" sz="3200" dirty="0">
                <a:latin typeface="Times New Roman" panose="02020603050405020304" pitchFamily="18" charset="0"/>
                <a:cs typeface="Times New Roman" panose="02020603050405020304" pitchFamily="18" charset="0"/>
              </a:rPr>
              <a:t> Highest Risk (85/100)</a:t>
            </a:r>
          </a:p>
          <a:p>
            <a:pPr marL="457200" indent="-457200">
              <a:lnSpc>
                <a:spcPct val="150000"/>
              </a:lnSpc>
              <a:buFont typeface="Arial" panose="020B0604020202020204" pitchFamily="34" charset="0"/>
              <a:buChar char="•"/>
            </a:pPr>
            <a:r>
              <a:rPr lang="en-CA" sz="3200" b="1" dirty="0">
                <a:latin typeface="Times New Roman" panose="02020603050405020304" pitchFamily="18" charset="0"/>
                <a:cs typeface="Times New Roman" panose="02020603050405020304" pitchFamily="18" charset="0"/>
              </a:rPr>
              <a:t>District 4</a:t>
            </a:r>
            <a:r>
              <a:rPr lang="en-CA" sz="3200" dirty="0">
                <a:latin typeface="Times New Roman" panose="02020603050405020304" pitchFamily="18" charset="0"/>
                <a:cs typeface="Times New Roman" panose="02020603050405020304" pitchFamily="18" charset="0"/>
              </a:rPr>
              <a:t> Emergency Priority (544% Crime Growth 2019-2022)</a:t>
            </a:r>
          </a:p>
        </p:txBody>
      </p:sp>
      <p:pic>
        <p:nvPicPr>
          <p:cNvPr id="5" name="Picture 2" descr="York Regional Police Graphic Logo">
            <a:extLst>
              <a:ext uri="{FF2B5EF4-FFF2-40B4-BE49-F238E27FC236}">
                <a16:creationId xmlns:a16="http://schemas.microsoft.com/office/drawing/2014/main" id="{6A91C8E6-9AB4-A607-004E-79F94369A7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4863"/>
            <a:ext cx="709766" cy="100012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87686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b="1" dirty="0">
                <a:latin typeface="Times New Roman" panose="02020603050405020304" pitchFamily="18" charset="0"/>
                <a:cs typeface="Times New Roman" panose="02020603050405020304" pitchFamily="18" charset="0"/>
              </a:rPr>
              <a:t>Table of Contents</a:t>
            </a:r>
            <a:endParaRPr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07B3AD52-C838-ABE1-6B61-E843AA11CF4E}"/>
              </a:ext>
            </a:extLst>
          </p:cNvPr>
          <p:cNvSpPr txBox="1"/>
          <p:nvPr/>
        </p:nvSpPr>
        <p:spPr>
          <a:xfrm>
            <a:off x="2168013" y="1112849"/>
            <a:ext cx="7855974" cy="5486117"/>
          </a:xfrm>
          <a:prstGeom prst="rect">
            <a:avLst/>
          </a:prstGeom>
          <a:noFill/>
        </p:spPr>
        <p:txBody>
          <a:bodyPr wrap="square">
            <a:spAutoFit/>
          </a:bodyPr>
          <a:lstStyle/>
          <a:p>
            <a:pPr marL="285750" indent="-285750" algn="l">
              <a:spcBef>
                <a:spcPts val="900"/>
              </a:spcBef>
              <a:spcAft>
                <a:spcPts val="300"/>
              </a:spcAft>
              <a:buFont typeface="Arial" panose="020B0604020202020204" pitchFamily="34" charset="0"/>
              <a:buChar char="•"/>
            </a:pPr>
            <a:r>
              <a:rPr lang="en-CA" sz="2000" b="1" i="0" dirty="0">
                <a:solidFill>
                  <a:srgbClr val="0F1115"/>
                </a:solidFill>
                <a:effectLst/>
                <a:latin typeface="Times New Roman" panose="02020603050405020304" pitchFamily="18" charset="0"/>
                <a:cs typeface="Times New Roman" panose="02020603050405020304" pitchFamily="18" charset="0"/>
              </a:rPr>
              <a:t>Data Overview &amp; Key Findings</a:t>
            </a:r>
            <a:endParaRPr lang="en-CA" sz="2000" b="0" i="0" dirty="0">
              <a:solidFill>
                <a:srgbClr val="0F1115"/>
              </a:solidFill>
              <a:effectLst/>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CA" sz="1600" dirty="0">
                <a:solidFill>
                  <a:srgbClr val="0F1115"/>
                </a:solidFill>
                <a:latin typeface="Times New Roman" panose="02020603050405020304" pitchFamily="18" charset="0"/>
                <a:cs typeface="Times New Roman" panose="02020603050405020304" pitchFamily="18" charset="0"/>
              </a:rPr>
              <a:t>2024 Anomaly &amp; High-Risk Zones</a:t>
            </a:r>
          </a:p>
          <a:p>
            <a:pPr marL="742950" lvl="1" indent="-285750">
              <a:buFont typeface="Arial" panose="020B0604020202020204" pitchFamily="34" charset="0"/>
              <a:buChar char="•"/>
            </a:pPr>
            <a:r>
              <a:rPr lang="en-CA" sz="1600" b="0" i="0" dirty="0">
                <a:solidFill>
                  <a:srgbClr val="0F1115"/>
                </a:solidFill>
                <a:effectLst/>
                <a:latin typeface="Times New Roman" panose="02020603050405020304" pitchFamily="18" charset="0"/>
                <a:cs typeface="Times New Roman" panose="02020603050405020304" pitchFamily="18" charset="0"/>
              </a:rPr>
              <a:t>Peak of 95,150 crimes in 2024; 56.7% correction in 2025</a:t>
            </a:r>
          </a:p>
          <a:p>
            <a:pPr marL="742950" lvl="1" indent="-285750" algn="l">
              <a:buFont typeface="Arial" panose="020B0604020202020204" pitchFamily="34" charset="0"/>
              <a:buChar char="•"/>
            </a:pPr>
            <a:r>
              <a:rPr lang="en-CA" sz="1600" b="0" i="0" dirty="0">
                <a:solidFill>
                  <a:srgbClr val="0F1115"/>
                </a:solidFill>
                <a:effectLst/>
                <a:latin typeface="Times New Roman" panose="02020603050405020304" pitchFamily="18" charset="0"/>
                <a:cs typeface="Times New Roman" panose="02020603050405020304" pitchFamily="18" charset="0"/>
              </a:rPr>
              <a:t>District 1 (North) identified as highest risk (85/100</a:t>
            </a:r>
            <a:r>
              <a:rPr lang="en-CA" sz="1400" b="0" i="0" dirty="0">
                <a:solidFill>
                  <a:srgbClr val="0F1115"/>
                </a:solidFill>
                <a:effectLst/>
                <a:latin typeface="Times New Roman" panose="02020603050405020304" pitchFamily="18" charset="0"/>
                <a:cs typeface="Times New Roman" panose="02020603050405020304" pitchFamily="18" charset="0"/>
              </a:rPr>
              <a:t>)</a:t>
            </a:r>
          </a:p>
          <a:p>
            <a:pPr marL="285750" indent="-285750" algn="l">
              <a:spcBef>
                <a:spcPts val="900"/>
              </a:spcBef>
              <a:spcAft>
                <a:spcPts val="300"/>
              </a:spcAft>
              <a:buFont typeface="Arial" panose="020B0604020202020204" pitchFamily="34" charset="0"/>
              <a:buChar char="•"/>
            </a:pPr>
            <a:r>
              <a:rPr lang="en-CA" sz="2000" b="1" i="0" dirty="0">
                <a:solidFill>
                  <a:srgbClr val="0F1115"/>
                </a:solidFill>
                <a:effectLst/>
                <a:latin typeface="Times New Roman" panose="02020603050405020304" pitchFamily="18" charset="0"/>
                <a:cs typeface="Times New Roman" panose="02020603050405020304" pitchFamily="18" charset="0"/>
              </a:rPr>
              <a:t>Analysis Methodology</a:t>
            </a:r>
            <a:endParaRPr lang="en-CA" sz="2000" b="0" i="0" dirty="0">
              <a:solidFill>
                <a:srgbClr val="0F1115"/>
              </a:solidFill>
              <a:effectLst/>
              <a:latin typeface="Times New Roman" panose="02020603050405020304" pitchFamily="18" charset="0"/>
              <a:cs typeface="Times New Roman" panose="02020603050405020304" pitchFamily="18" charset="0"/>
            </a:endParaRPr>
          </a:p>
          <a:p>
            <a:pPr marL="742950" lvl="1" indent="-285750" algn="l">
              <a:buFont typeface="Arial" panose="020B0604020202020204" pitchFamily="34" charset="0"/>
              <a:buChar char="•"/>
            </a:pPr>
            <a:r>
              <a:rPr lang="en-CA" sz="1600" b="0" i="0" dirty="0">
                <a:solidFill>
                  <a:srgbClr val="0F1115"/>
                </a:solidFill>
                <a:effectLst/>
                <a:latin typeface="Times New Roman" panose="02020603050405020304" pitchFamily="18" charset="0"/>
                <a:cs typeface="Times New Roman" panose="02020603050405020304" pitchFamily="18" charset="0"/>
              </a:rPr>
              <a:t>Integrated data from 299,984 crimes, 476k+ service calls, and staffing records</a:t>
            </a:r>
          </a:p>
          <a:p>
            <a:pPr marL="742950" lvl="1" indent="-285750" algn="l">
              <a:buFont typeface="Arial" panose="020B0604020202020204" pitchFamily="34" charset="0"/>
              <a:buChar char="•"/>
            </a:pPr>
            <a:r>
              <a:rPr lang="en-CA" sz="1600" b="0" i="0" dirty="0">
                <a:solidFill>
                  <a:srgbClr val="0F1115"/>
                </a:solidFill>
                <a:effectLst/>
                <a:latin typeface="Times New Roman" panose="02020603050405020304" pitchFamily="18" charset="0"/>
                <a:cs typeface="Times New Roman" panose="02020603050405020304" pitchFamily="18" charset="0"/>
              </a:rPr>
              <a:t>Robust forecasting model with 2024 outlier excluded</a:t>
            </a:r>
          </a:p>
          <a:p>
            <a:pPr marL="342900" indent="-342900" algn="l">
              <a:spcBef>
                <a:spcPts val="900"/>
              </a:spcBef>
              <a:spcAft>
                <a:spcPts val="300"/>
              </a:spcAft>
              <a:buFont typeface="Arial" panose="020B0604020202020204" pitchFamily="34" charset="0"/>
              <a:buChar char="•"/>
            </a:pPr>
            <a:r>
              <a:rPr lang="en-CA" sz="2000" b="1" dirty="0">
                <a:solidFill>
                  <a:srgbClr val="0F1115"/>
                </a:solidFill>
                <a:latin typeface="Times New Roman" panose="02020603050405020304" pitchFamily="18" charset="0"/>
                <a:cs typeface="Times New Roman" panose="02020603050405020304" pitchFamily="18" charset="0"/>
              </a:rPr>
              <a:t>Crime Trends &amp; Forecasting (2025-2027)</a:t>
            </a:r>
          </a:p>
          <a:p>
            <a:pPr marL="742950" lvl="1" indent="-285750" algn="l">
              <a:buFont typeface="Arial" panose="020B0604020202020204" pitchFamily="34" charset="0"/>
              <a:buChar char="•"/>
            </a:pPr>
            <a:r>
              <a:rPr lang="en-CA" sz="1600" b="0" i="0" dirty="0">
                <a:solidFill>
                  <a:srgbClr val="0F1115"/>
                </a:solidFill>
                <a:effectLst/>
                <a:latin typeface="Times New Roman" panose="02020603050405020304" pitchFamily="18" charset="0"/>
                <a:cs typeface="Times New Roman" panose="02020603050405020304" pitchFamily="18" charset="0"/>
              </a:rPr>
              <a:t>Strategic outlook and implications of the post-2024 decline</a:t>
            </a:r>
          </a:p>
          <a:p>
            <a:pPr marL="285750" indent="-285750" algn="l">
              <a:spcBef>
                <a:spcPts val="900"/>
              </a:spcBef>
              <a:spcAft>
                <a:spcPts val="300"/>
              </a:spcAft>
              <a:buFont typeface="Arial" panose="020B0604020202020204" pitchFamily="34" charset="0"/>
              <a:buChar char="•"/>
            </a:pPr>
            <a:r>
              <a:rPr lang="en-CA" sz="2000" b="1" i="0" dirty="0">
                <a:solidFill>
                  <a:srgbClr val="0F1115"/>
                </a:solidFill>
                <a:effectLst/>
                <a:latin typeface="Times New Roman" panose="02020603050405020304" pitchFamily="18" charset="0"/>
                <a:cs typeface="Times New Roman" panose="02020603050405020304" pitchFamily="18" charset="0"/>
              </a:rPr>
              <a:t>District-Level Risk Assessment</a:t>
            </a:r>
            <a:endParaRPr lang="en-CA" sz="2000" b="0" i="0" dirty="0">
              <a:solidFill>
                <a:srgbClr val="0F1115"/>
              </a:solidFill>
              <a:effectLst/>
              <a:latin typeface="Times New Roman" panose="02020603050405020304" pitchFamily="18" charset="0"/>
              <a:cs typeface="Times New Roman" panose="02020603050405020304" pitchFamily="18" charset="0"/>
            </a:endParaRPr>
          </a:p>
          <a:p>
            <a:pPr marL="742950" lvl="1" indent="-285750" algn="l">
              <a:buFont typeface="Arial" panose="020B0604020202020204" pitchFamily="34" charset="0"/>
              <a:buChar char="•"/>
            </a:pPr>
            <a:r>
              <a:rPr lang="en-CA" sz="1600" b="0" i="0" dirty="0">
                <a:solidFill>
                  <a:srgbClr val="0F1115"/>
                </a:solidFill>
                <a:effectLst/>
                <a:latin typeface="Times New Roman" panose="02020603050405020304" pitchFamily="18" charset="0"/>
                <a:cs typeface="Times New Roman" panose="02020603050405020304" pitchFamily="18" charset="0"/>
              </a:rPr>
              <a:t>Emergency priority: District 4 (544% historical growth)</a:t>
            </a:r>
          </a:p>
          <a:p>
            <a:pPr marL="742950" lvl="1" indent="-285750" algn="l">
              <a:buFont typeface="Arial" panose="020B0604020202020204" pitchFamily="34" charset="0"/>
              <a:buChar char="•"/>
            </a:pPr>
            <a:r>
              <a:rPr lang="en-CA" sz="1600" b="0" i="0" dirty="0">
                <a:solidFill>
                  <a:srgbClr val="0F1115"/>
                </a:solidFill>
                <a:effectLst/>
                <a:latin typeface="Times New Roman" panose="02020603050405020304" pitchFamily="18" charset="0"/>
                <a:cs typeface="Times New Roman" panose="02020603050405020304" pitchFamily="18" charset="0"/>
              </a:rPr>
              <a:t>Full breakdown of all district risk scores and priorities</a:t>
            </a:r>
          </a:p>
          <a:p>
            <a:pPr marL="285750" indent="-285750" algn="l">
              <a:spcBef>
                <a:spcPts val="900"/>
              </a:spcBef>
              <a:spcAft>
                <a:spcPts val="300"/>
              </a:spcAft>
              <a:buFont typeface="Arial" panose="020B0604020202020204" pitchFamily="34" charset="0"/>
              <a:buChar char="•"/>
            </a:pPr>
            <a:r>
              <a:rPr lang="en-CA" sz="2000" b="1" i="0" dirty="0">
                <a:solidFill>
                  <a:srgbClr val="0F1115"/>
                </a:solidFill>
                <a:effectLst/>
                <a:latin typeface="Times New Roman" panose="02020603050405020304" pitchFamily="18" charset="0"/>
                <a:cs typeface="Times New Roman" panose="02020603050405020304" pitchFamily="18" charset="0"/>
              </a:rPr>
              <a:t>Strategic Recommendations &amp; Implementation</a:t>
            </a:r>
            <a:endParaRPr lang="en-CA" sz="2000" b="0" i="0" dirty="0">
              <a:solidFill>
                <a:srgbClr val="0F1115"/>
              </a:solidFill>
              <a:effectLst/>
              <a:latin typeface="Times New Roman" panose="02020603050405020304" pitchFamily="18" charset="0"/>
              <a:cs typeface="Times New Roman" panose="02020603050405020304" pitchFamily="18" charset="0"/>
            </a:endParaRPr>
          </a:p>
          <a:p>
            <a:pPr marL="742950" lvl="1" indent="-285750" algn="l">
              <a:buFont typeface="Arial" panose="020B0604020202020204" pitchFamily="34" charset="0"/>
              <a:buChar char="•"/>
            </a:pPr>
            <a:r>
              <a:rPr lang="en-CA" sz="1600" b="0" i="0" dirty="0">
                <a:solidFill>
                  <a:srgbClr val="0F1115"/>
                </a:solidFill>
                <a:effectLst/>
                <a:latin typeface="Times New Roman" panose="02020603050405020304" pitchFamily="18" charset="0"/>
                <a:cs typeface="Times New Roman" panose="02020603050405020304" pitchFamily="18" charset="0"/>
              </a:rPr>
              <a:t>Emergency response, prevention, and resource optimization plans</a:t>
            </a:r>
          </a:p>
          <a:p>
            <a:pPr marL="742950" lvl="1" indent="-285750" algn="l">
              <a:buFont typeface="Arial" panose="020B0604020202020204" pitchFamily="34" charset="0"/>
              <a:buChar char="•"/>
            </a:pPr>
            <a:r>
              <a:rPr lang="en-CA" sz="1600" dirty="0">
                <a:solidFill>
                  <a:srgbClr val="0F1115"/>
                </a:solidFill>
                <a:latin typeface="Times New Roman" panose="02020603050405020304" pitchFamily="18" charset="0"/>
                <a:cs typeface="Times New Roman" panose="02020603050405020304" pitchFamily="18" charset="0"/>
              </a:rPr>
              <a:t>Phased timeline and resource allocation model</a:t>
            </a:r>
          </a:p>
          <a:p>
            <a:pPr marL="285750" indent="-285750" algn="l">
              <a:spcBef>
                <a:spcPts val="900"/>
              </a:spcBef>
              <a:spcAft>
                <a:spcPts val="300"/>
              </a:spcAft>
              <a:buFont typeface="Arial" panose="020B0604020202020204" pitchFamily="34" charset="0"/>
              <a:buChar char="•"/>
            </a:pPr>
            <a:r>
              <a:rPr lang="en-CA" sz="2000" b="1" i="0" dirty="0">
                <a:solidFill>
                  <a:srgbClr val="0F1115"/>
                </a:solidFill>
                <a:effectLst/>
                <a:latin typeface="Times New Roman" panose="02020603050405020304" pitchFamily="18" charset="0"/>
                <a:cs typeface="Times New Roman" panose="02020603050405020304" pitchFamily="18" charset="0"/>
              </a:rPr>
              <a:t>Conclusion &amp; Path Forward</a:t>
            </a:r>
            <a:endParaRPr lang="en-CA" sz="2000" b="0" i="0" dirty="0">
              <a:solidFill>
                <a:srgbClr val="0F1115"/>
              </a:solidFill>
              <a:effectLst/>
              <a:latin typeface="Times New Roman" panose="02020603050405020304" pitchFamily="18" charset="0"/>
              <a:cs typeface="Times New Roman" panose="02020603050405020304" pitchFamily="18" charset="0"/>
            </a:endParaRPr>
          </a:p>
          <a:p>
            <a:pPr marL="742950" lvl="1" indent="-285750" algn="l">
              <a:buFont typeface="Arial" panose="020B0604020202020204" pitchFamily="34" charset="0"/>
              <a:buChar char="•"/>
            </a:pPr>
            <a:r>
              <a:rPr lang="en-CA" sz="1600" b="0" i="0" dirty="0">
                <a:solidFill>
                  <a:srgbClr val="0F1115"/>
                </a:solidFill>
                <a:effectLst/>
                <a:latin typeface="Times New Roman" panose="02020603050405020304" pitchFamily="18" charset="0"/>
                <a:cs typeface="Times New Roman" panose="02020603050405020304" pitchFamily="18" charset="0"/>
              </a:rPr>
              <a:t>Strategic priorities and immediate next steps</a:t>
            </a:r>
          </a:p>
        </p:txBody>
      </p:sp>
      <p:sp>
        <p:nvSpPr>
          <p:cNvPr id="10" name="Date Placeholder 9">
            <a:extLst>
              <a:ext uri="{FF2B5EF4-FFF2-40B4-BE49-F238E27FC236}">
                <a16:creationId xmlns:a16="http://schemas.microsoft.com/office/drawing/2014/main" id="{65E4D7AC-74F5-53A4-15D9-D71F961A5769}"/>
              </a:ext>
            </a:extLst>
          </p:cNvPr>
          <p:cNvSpPr>
            <a:spLocks noGrp="1"/>
          </p:cNvSpPr>
          <p:nvPr>
            <p:ph type="dt" sz="half" idx="10"/>
          </p:nvPr>
        </p:nvSpPr>
        <p:spPr/>
        <p:txBody>
          <a:bodyPr/>
          <a:lstStyle/>
          <a:p>
            <a:fld id="{2EC6F790-6FF3-446A-870A-D3E7CFED8F65}" type="datetime3">
              <a:rPr lang="en-US" smtClean="0"/>
              <a:t>22 November 2025</a:t>
            </a:fld>
            <a:endParaRPr lang="en-US"/>
          </a:p>
        </p:txBody>
      </p:sp>
      <p:sp>
        <p:nvSpPr>
          <p:cNvPr id="11" name="Footer Placeholder 10">
            <a:extLst>
              <a:ext uri="{FF2B5EF4-FFF2-40B4-BE49-F238E27FC236}">
                <a16:creationId xmlns:a16="http://schemas.microsoft.com/office/drawing/2014/main" id="{E4693392-E5C7-DF8D-8C11-8658817EC4FA}"/>
              </a:ext>
            </a:extLst>
          </p:cNvPr>
          <p:cNvSpPr>
            <a:spLocks noGrp="1"/>
          </p:cNvSpPr>
          <p:nvPr>
            <p:ph type="ftr" sz="quarter" idx="11"/>
          </p:nvPr>
        </p:nvSpPr>
        <p:spPr/>
        <p:txBody>
          <a:bodyPr/>
          <a:lstStyle/>
          <a:p>
            <a:r>
              <a:rPr lang="en-US"/>
              <a:t>York Region Crime Analysis</a:t>
            </a:r>
          </a:p>
        </p:txBody>
      </p:sp>
      <p:sp>
        <p:nvSpPr>
          <p:cNvPr id="12" name="Slide Number Placeholder 11">
            <a:extLst>
              <a:ext uri="{FF2B5EF4-FFF2-40B4-BE49-F238E27FC236}">
                <a16:creationId xmlns:a16="http://schemas.microsoft.com/office/drawing/2014/main" id="{4D7AE776-78FB-7408-892C-85F4B6D74367}"/>
              </a:ext>
            </a:extLst>
          </p:cNvPr>
          <p:cNvSpPr>
            <a:spLocks noGrp="1"/>
          </p:cNvSpPr>
          <p:nvPr>
            <p:ph type="sldNum" sz="quarter" idx="12"/>
          </p:nvPr>
        </p:nvSpPr>
        <p:spPr/>
        <p:txBody>
          <a:bodyPr/>
          <a:lstStyle/>
          <a:p>
            <a:fld id="{C1FF6DA9-008F-8B48-92A6-B652298478BF}" type="slidenum">
              <a:rPr lang="en-US" smtClean="0"/>
              <a:t>3</a:t>
            </a:fld>
            <a:endParaRPr lang="en-US"/>
          </a:p>
        </p:txBody>
      </p:sp>
      <p:pic>
        <p:nvPicPr>
          <p:cNvPr id="3" name="Picture 2" descr="York Regional Police Graphic Logo">
            <a:extLst>
              <a:ext uri="{FF2B5EF4-FFF2-40B4-BE49-F238E27FC236}">
                <a16:creationId xmlns:a16="http://schemas.microsoft.com/office/drawing/2014/main" id="{98440ECB-8840-3818-DE31-C82F9701AA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4863"/>
            <a:ext cx="709766" cy="100012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6346B2-4E18-969D-6D18-7DC12E07E3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F62D8C-BB7F-1332-342B-C59800B8B8A9}"/>
              </a:ext>
            </a:extLst>
          </p:cNvPr>
          <p:cNvSpPr>
            <a:spLocks noGrp="1"/>
          </p:cNvSpPr>
          <p:nvPr>
            <p:ph type="title"/>
          </p:nvPr>
        </p:nvSpPr>
        <p:spPr/>
        <p:txBody>
          <a:bodyPr/>
          <a:lstStyle/>
          <a:p>
            <a:r>
              <a:rPr lang="en-CA" b="1" dirty="0">
                <a:solidFill>
                  <a:srgbClr val="0F1115"/>
                </a:solidFill>
                <a:latin typeface="Times New Roman" panose="02020603050405020304" pitchFamily="18" charset="0"/>
                <a:cs typeface="Times New Roman" panose="02020603050405020304" pitchFamily="18" charset="0"/>
              </a:rPr>
              <a:t>Analysis Methodology</a:t>
            </a:r>
            <a:endParaRPr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D823B585-F208-8EF4-7D59-57DF60B3D6EB}"/>
              </a:ext>
            </a:extLst>
          </p:cNvPr>
          <p:cNvSpPr txBox="1"/>
          <p:nvPr/>
        </p:nvSpPr>
        <p:spPr>
          <a:xfrm>
            <a:off x="2908300" y="1373553"/>
            <a:ext cx="2485272" cy="4224233"/>
          </a:xfrm>
          <a:prstGeom prst="rect">
            <a:avLst/>
          </a:prstGeom>
          <a:noFill/>
        </p:spPr>
        <p:txBody>
          <a:bodyPr wrap="square">
            <a:spAutoFit/>
          </a:bodyPr>
          <a:lstStyle/>
          <a:p>
            <a:pPr marL="36000" algn="ctr">
              <a:spcBef>
                <a:spcPts val="600"/>
              </a:spcBef>
              <a:spcAft>
                <a:spcPts val="600"/>
              </a:spcAft>
            </a:pPr>
            <a:r>
              <a:rPr lang="en-CA" sz="2400" b="1" dirty="0">
                <a:solidFill>
                  <a:srgbClr val="0F1115"/>
                </a:solidFill>
                <a:latin typeface="Times New Roman" panose="02020603050405020304" pitchFamily="18" charset="0"/>
                <a:cs typeface="Times New Roman" panose="02020603050405020304" pitchFamily="18" charset="0"/>
              </a:rPr>
              <a:t>Analytical Approach</a:t>
            </a:r>
          </a:p>
          <a:p>
            <a:pPr marL="321750" indent="-285750">
              <a:spcBef>
                <a:spcPts val="300"/>
              </a:spcBef>
              <a:spcAft>
                <a:spcPts val="300"/>
              </a:spcAft>
              <a:buFont typeface="Arial" panose="020B0604020202020204" pitchFamily="34" charset="0"/>
              <a:buChar char="•"/>
            </a:pPr>
            <a:r>
              <a:rPr lang="en-CA" dirty="0">
                <a:solidFill>
                  <a:srgbClr val="0F1115"/>
                </a:solidFill>
                <a:latin typeface="Times New Roman" panose="02020603050405020304" pitchFamily="18" charset="0"/>
                <a:cs typeface="Times New Roman" panose="02020603050405020304" pitchFamily="18" charset="0"/>
              </a:rPr>
              <a:t>Trend &amp; anomaly detection (e.g., 2024: +89.5% spike)</a:t>
            </a:r>
          </a:p>
          <a:p>
            <a:pPr marL="321750" indent="-285750">
              <a:spcBef>
                <a:spcPts val="300"/>
              </a:spcBef>
              <a:spcAft>
                <a:spcPts val="300"/>
              </a:spcAft>
              <a:buFont typeface="Arial" panose="020B0604020202020204" pitchFamily="34" charset="0"/>
              <a:buChar char="•"/>
            </a:pPr>
            <a:r>
              <a:rPr lang="en-CA" dirty="0">
                <a:solidFill>
                  <a:srgbClr val="0F1115"/>
                </a:solidFill>
                <a:latin typeface="Times New Roman" panose="02020603050405020304" pitchFamily="18" charset="0"/>
                <a:cs typeface="Times New Roman" panose="02020603050405020304" pitchFamily="18" charset="0"/>
              </a:rPr>
              <a:t>District-level benchmarking</a:t>
            </a:r>
          </a:p>
          <a:p>
            <a:pPr marL="321750" indent="-285750">
              <a:spcBef>
                <a:spcPts val="300"/>
              </a:spcBef>
              <a:spcAft>
                <a:spcPts val="300"/>
              </a:spcAft>
              <a:buFont typeface="Arial" panose="020B0604020202020204" pitchFamily="34" charset="0"/>
              <a:buChar char="•"/>
            </a:pPr>
            <a:r>
              <a:rPr lang="en-CA" dirty="0">
                <a:solidFill>
                  <a:srgbClr val="0F1115"/>
                </a:solidFill>
                <a:latin typeface="Times New Roman" panose="02020603050405020304" pitchFamily="18" charset="0"/>
                <a:cs typeface="Times New Roman" panose="02020603050405020304" pitchFamily="18" charset="0"/>
              </a:rPr>
              <a:t>Temporal analysis (hourly, seasonal patterns)</a:t>
            </a:r>
          </a:p>
          <a:p>
            <a:pPr marL="321750" indent="-285750">
              <a:spcBef>
                <a:spcPts val="300"/>
              </a:spcBef>
              <a:spcAft>
                <a:spcPts val="300"/>
              </a:spcAft>
              <a:buFont typeface="Arial" panose="020B0604020202020204" pitchFamily="34" charset="0"/>
              <a:buChar char="•"/>
            </a:pPr>
            <a:r>
              <a:rPr lang="en-CA" dirty="0">
                <a:solidFill>
                  <a:srgbClr val="0F1115"/>
                </a:solidFill>
                <a:latin typeface="Times New Roman" panose="02020603050405020304" pitchFamily="18" charset="0"/>
                <a:cs typeface="Times New Roman" panose="02020603050405020304" pitchFamily="18" charset="0"/>
              </a:rPr>
              <a:t>Analysis of crime, calls, and staffing impact</a:t>
            </a:r>
          </a:p>
        </p:txBody>
      </p:sp>
      <p:sp>
        <p:nvSpPr>
          <p:cNvPr id="8" name="TextBox 7">
            <a:extLst>
              <a:ext uri="{FF2B5EF4-FFF2-40B4-BE49-F238E27FC236}">
                <a16:creationId xmlns:a16="http://schemas.microsoft.com/office/drawing/2014/main" id="{651EBE5E-5288-741E-5F52-B7BC5836EA2A}"/>
              </a:ext>
            </a:extLst>
          </p:cNvPr>
          <p:cNvSpPr txBox="1"/>
          <p:nvPr/>
        </p:nvSpPr>
        <p:spPr>
          <a:xfrm>
            <a:off x="10134600" y="1348615"/>
            <a:ext cx="1793240" cy="2685351"/>
          </a:xfrm>
          <a:prstGeom prst="rect">
            <a:avLst/>
          </a:prstGeom>
          <a:noFill/>
        </p:spPr>
        <p:txBody>
          <a:bodyPr wrap="square">
            <a:spAutoFit/>
          </a:bodyPr>
          <a:lstStyle/>
          <a:p>
            <a:pPr marL="36000" algn="ctr">
              <a:spcBef>
                <a:spcPts val="600"/>
              </a:spcBef>
              <a:spcAft>
                <a:spcPts val="600"/>
              </a:spcAft>
            </a:pPr>
            <a:r>
              <a:rPr lang="en-CA" sz="2400" b="1" dirty="0">
                <a:solidFill>
                  <a:srgbClr val="0F1115"/>
                </a:solidFill>
                <a:latin typeface="Times New Roman" panose="02020603050405020304" pitchFamily="18" charset="0"/>
                <a:cs typeface="Times New Roman" panose="02020603050405020304" pitchFamily="18" charset="0"/>
              </a:rPr>
              <a:t>Strategic Application</a:t>
            </a:r>
          </a:p>
          <a:p>
            <a:pPr marL="321750" indent="-285750">
              <a:spcBef>
                <a:spcPts val="300"/>
              </a:spcBef>
              <a:spcAft>
                <a:spcPts val="300"/>
              </a:spcAft>
              <a:buFont typeface="Arial" panose="020B0604020202020204" pitchFamily="34" charset="0"/>
              <a:buChar char="•"/>
            </a:pPr>
            <a:r>
              <a:rPr lang="en-CA" dirty="0">
                <a:solidFill>
                  <a:srgbClr val="0F1115"/>
                </a:solidFill>
                <a:latin typeface="Times New Roman" panose="02020603050405020304" pitchFamily="18" charset="0"/>
                <a:cs typeface="Times New Roman" panose="02020603050405020304" pitchFamily="18" charset="0"/>
              </a:rPr>
              <a:t>Data-driven resource allocation</a:t>
            </a:r>
          </a:p>
          <a:p>
            <a:pPr marL="321750" indent="-285750">
              <a:spcBef>
                <a:spcPts val="300"/>
              </a:spcBef>
              <a:spcAft>
                <a:spcPts val="300"/>
              </a:spcAft>
              <a:buFont typeface="Arial" panose="020B0604020202020204" pitchFamily="34" charset="0"/>
              <a:buChar char="•"/>
            </a:pPr>
            <a:r>
              <a:rPr lang="en-CA" dirty="0">
                <a:solidFill>
                  <a:srgbClr val="0F1115"/>
                </a:solidFill>
                <a:latin typeface="Times New Roman" panose="02020603050405020304" pitchFamily="18" charset="0"/>
                <a:cs typeface="Times New Roman" panose="02020603050405020304" pitchFamily="18" charset="0"/>
              </a:rPr>
              <a:t>Risk-based intervention planning</a:t>
            </a:r>
          </a:p>
        </p:txBody>
      </p:sp>
      <p:sp>
        <p:nvSpPr>
          <p:cNvPr id="10" name="Date Placeholder 9">
            <a:extLst>
              <a:ext uri="{FF2B5EF4-FFF2-40B4-BE49-F238E27FC236}">
                <a16:creationId xmlns:a16="http://schemas.microsoft.com/office/drawing/2014/main" id="{0CE27BBC-13CF-F098-7768-0AC8A7B466C7}"/>
              </a:ext>
            </a:extLst>
          </p:cNvPr>
          <p:cNvSpPr>
            <a:spLocks noGrp="1"/>
          </p:cNvSpPr>
          <p:nvPr>
            <p:ph type="dt" sz="half" idx="10"/>
          </p:nvPr>
        </p:nvSpPr>
        <p:spPr/>
        <p:txBody>
          <a:bodyPr/>
          <a:lstStyle/>
          <a:p>
            <a:fld id="{8E99C372-669C-479C-AE20-4B4AC775D79D}" type="datetime3">
              <a:rPr lang="en-US" smtClean="0"/>
              <a:t>22 November 2025</a:t>
            </a:fld>
            <a:endParaRPr lang="en-US"/>
          </a:p>
        </p:txBody>
      </p:sp>
      <p:sp>
        <p:nvSpPr>
          <p:cNvPr id="11" name="Footer Placeholder 10">
            <a:extLst>
              <a:ext uri="{FF2B5EF4-FFF2-40B4-BE49-F238E27FC236}">
                <a16:creationId xmlns:a16="http://schemas.microsoft.com/office/drawing/2014/main" id="{76EAECC0-2B04-DACB-5141-7641DCF12E56}"/>
              </a:ext>
            </a:extLst>
          </p:cNvPr>
          <p:cNvSpPr>
            <a:spLocks noGrp="1"/>
          </p:cNvSpPr>
          <p:nvPr>
            <p:ph type="ftr" sz="quarter" idx="11"/>
          </p:nvPr>
        </p:nvSpPr>
        <p:spPr/>
        <p:txBody>
          <a:bodyPr/>
          <a:lstStyle/>
          <a:p>
            <a:r>
              <a:rPr lang="en-US" dirty="0"/>
              <a:t>York Region Crime Analysis</a:t>
            </a:r>
          </a:p>
        </p:txBody>
      </p:sp>
      <p:sp>
        <p:nvSpPr>
          <p:cNvPr id="12" name="Slide Number Placeholder 11">
            <a:extLst>
              <a:ext uri="{FF2B5EF4-FFF2-40B4-BE49-F238E27FC236}">
                <a16:creationId xmlns:a16="http://schemas.microsoft.com/office/drawing/2014/main" id="{FEBB3907-D309-D7EB-36C6-C267C5A63763}"/>
              </a:ext>
            </a:extLst>
          </p:cNvPr>
          <p:cNvSpPr>
            <a:spLocks noGrp="1"/>
          </p:cNvSpPr>
          <p:nvPr>
            <p:ph type="sldNum" sz="quarter" idx="12"/>
          </p:nvPr>
        </p:nvSpPr>
        <p:spPr/>
        <p:txBody>
          <a:bodyPr/>
          <a:lstStyle/>
          <a:p>
            <a:fld id="{C1FF6DA9-008F-8B48-92A6-B652298478BF}" type="slidenum">
              <a:rPr lang="en-US" smtClean="0"/>
              <a:t>4</a:t>
            </a:fld>
            <a:endParaRPr lang="en-US"/>
          </a:p>
        </p:txBody>
      </p:sp>
      <p:sp>
        <p:nvSpPr>
          <p:cNvPr id="13" name="TextBox 12">
            <a:extLst>
              <a:ext uri="{FF2B5EF4-FFF2-40B4-BE49-F238E27FC236}">
                <a16:creationId xmlns:a16="http://schemas.microsoft.com/office/drawing/2014/main" id="{E8F72CDC-44FD-EF45-3222-0222AB5D1D78}"/>
              </a:ext>
            </a:extLst>
          </p:cNvPr>
          <p:cNvSpPr txBox="1"/>
          <p:nvPr/>
        </p:nvSpPr>
        <p:spPr>
          <a:xfrm>
            <a:off x="609600" y="1399415"/>
            <a:ext cx="2298700" cy="4408899"/>
          </a:xfrm>
          <a:prstGeom prst="rect">
            <a:avLst/>
          </a:prstGeom>
          <a:noFill/>
        </p:spPr>
        <p:txBody>
          <a:bodyPr wrap="square">
            <a:spAutoFit/>
          </a:bodyPr>
          <a:lstStyle/>
          <a:p>
            <a:pPr marL="36000" algn="ctr">
              <a:spcBef>
                <a:spcPts val="600"/>
              </a:spcBef>
              <a:spcAft>
                <a:spcPts val="600"/>
              </a:spcAft>
            </a:pPr>
            <a:r>
              <a:rPr lang="en-CA" sz="2400" b="1" dirty="0">
                <a:solidFill>
                  <a:srgbClr val="0F1115"/>
                </a:solidFill>
                <a:latin typeface="Times New Roman" panose="02020603050405020304" pitchFamily="18" charset="0"/>
                <a:cs typeface="Times New Roman" panose="02020603050405020304" pitchFamily="18" charset="0"/>
              </a:rPr>
              <a:t>Data Collection</a:t>
            </a:r>
          </a:p>
          <a:p>
            <a:pPr marL="285750" lvl="1" indent="-285750">
              <a:spcBef>
                <a:spcPts val="300"/>
              </a:spcBef>
              <a:spcAft>
                <a:spcPts val="300"/>
              </a:spcAft>
              <a:buFont typeface="Arial" panose="020B0604020202020204" pitchFamily="34" charset="0"/>
              <a:buChar char="•"/>
            </a:pPr>
            <a:r>
              <a:rPr lang="en-CA" dirty="0">
                <a:solidFill>
                  <a:srgbClr val="0F1115"/>
                </a:solidFill>
                <a:latin typeface="Times New Roman" panose="02020603050405020304" pitchFamily="18" charset="0"/>
                <a:cs typeface="Times New Roman" panose="02020603050405020304" pitchFamily="18" charset="0"/>
              </a:rPr>
              <a:t>476,329 calls for service</a:t>
            </a:r>
          </a:p>
          <a:p>
            <a:pPr marL="285750" lvl="1" indent="-285750">
              <a:spcBef>
                <a:spcPts val="300"/>
              </a:spcBef>
              <a:spcAft>
                <a:spcPts val="300"/>
              </a:spcAft>
              <a:buFont typeface="Arial" panose="020B0604020202020204" pitchFamily="34" charset="0"/>
              <a:buChar char="•"/>
            </a:pPr>
            <a:r>
              <a:rPr lang="en-CA" dirty="0">
                <a:solidFill>
                  <a:srgbClr val="0F1115"/>
                </a:solidFill>
                <a:latin typeface="Times New Roman" panose="02020603050405020304" pitchFamily="18" charset="0"/>
                <a:cs typeface="Times New Roman" panose="02020603050405020304" pitchFamily="18" charset="0"/>
              </a:rPr>
              <a:t>29,388 staff overtime/shortage records</a:t>
            </a:r>
          </a:p>
          <a:p>
            <a:pPr marL="285750" lvl="1" indent="-285750">
              <a:spcBef>
                <a:spcPts val="300"/>
              </a:spcBef>
              <a:spcAft>
                <a:spcPts val="300"/>
              </a:spcAft>
              <a:buFont typeface="Arial" panose="020B0604020202020204" pitchFamily="34" charset="0"/>
              <a:buChar char="•"/>
            </a:pPr>
            <a:r>
              <a:rPr lang="en-CA" dirty="0">
                <a:solidFill>
                  <a:srgbClr val="0F1115"/>
                </a:solidFill>
                <a:latin typeface="Times New Roman" panose="02020603050405020304" pitchFamily="18" charset="0"/>
                <a:cs typeface="Times New Roman" panose="02020603050405020304" pitchFamily="18" charset="0"/>
              </a:rPr>
              <a:t>Historical data (2016–present)</a:t>
            </a:r>
          </a:p>
          <a:p>
            <a:pPr marL="285750" lvl="1" indent="-285750">
              <a:spcBef>
                <a:spcPts val="300"/>
              </a:spcBef>
              <a:spcAft>
                <a:spcPts val="300"/>
              </a:spcAft>
              <a:buFont typeface="Arial" panose="020B0604020202020204" pitchFamily="34" charset="0"/>
              <a:buChar char="•"/>
            </a:pPr>
            <a:r>
              <a:rPr lang="en-CA" dirty="0">
                <a:solidFill>
                  <a:srgbClr val="0F1115"/>
                </a:solidFill>
                <a:latin typeface="Times New Roman" panose="02020603050405020304" pitchFamily="18" charset="0"/>
                <a:cs typeface="Times New Roman" panose="02020603050405020304" pitchFamily="18" charset="0"/>
              </a:rPr>
              <a:t>Risk factor data: traffic, geographic, demographic, economic, weather, unemployment, youth population</a:t>
            </a:r>
          </a:p>
        </p:txBody>
      </p:sp>
      <p:sp>
        <p:nvSpPr>
          <p:cNvPr id="15" name="TextBox 14">
            <a:extLst>
              <a:ext uri="{FF2B5EF4-FFF2-40B4-BE49-F238E27FC236}">
                <a16:creationId xmlns:a16="http://schemas.microsoft.com/office/drawing/2014/main" id="{30017530-611A-AE77-6127-1158193BDEA6}"/>
              </a:ext>
            </a:extLst>
          </p:cNvPr>
          <p:cNvSpPr txBox="1"/>
          <p:nvPr/>
        </p:nvSpPr>
        <p:spPr>
          <a:xfrm>
            <a:off x="7539008" y="1345952"/>
            <a:ext cx="2631440" cy="3670236"/>
          </a:xfrm>
          <a:prstGeom prst="rect">
            <a:avLst/>
          </a:prstGeom>
          <a:noFill/>
        </p:spPr>
        <p:txBody>
          <a:bodyPr wrap="square">
            <a:spAutoFit/>
          </a:bodyPr>
          <a:lstStyle/>
          <a:p>
            <a:pPr marL="36000" algn="ctr">
              <a:spcBef>
                <a:spcPts val="600"/>
              </a:spcBef>
              <a:spcAft>
                <a:spcPts val="600"/>
              </a:spcAft>
            </a:pPr>
            <a:r>
              <a:rPr lang="en-CA" sz="2400" b="1" dirty="0">
                <a:solidFill>
                  <a:srgbClr val="0F1115"/>
                </a:solidFill>
                <a:latin typeface="Times New Roman" panose="02020603050405020304" pitchFamily="18" charset="0"/>
                <a:cs typeface="Times New Roman" panose="02020603050405020304" pitchFamily="18" charset="0"/>
              </a:rPr>
              <a:t>Forecasting Model</a:t>
            </a:r>
          </a:p>
          <a:p>
            <a:pPr marL="321750" indent="-285750">
              <a:spcBef>
                <a:spcPts val="300"/>
              </a:spcBef>
              <a:spcAft>
                <a:spcPts val="300"/>
              </a:spcAft>
              <a:buFont typeface="Arial" panose="020B0604020202020204" pitchFamily="34" charset="0"/>
              <a:buChar char="•"/>
            </a:pPr>
            <a:r>
              <a:rPr lang="en-CA" dirty="0">
                <a:solidFill>
                  <a:srgbClr val="0F1115"/>
                </a:solidFill>
                <a:latin typeface="Times New Roman" panose="02020603050405020304" pitchFamily="18" charset="0"/>
                <a:cs typeface="Times New Roman" panose="02020603050405020304" pitchFamily="18" charset="0"/>
              </a:rPr>
              <a:t>Forecast Period: 2025–2027</a:t>
            </a:r>
          </a:p>
          <a:p>
            <a:pPr marL="321750" indent="-285750">
              <a:spcBef>
                <a:spcPts val="300"/>
              </a:spcBef>
              <a:spcAft>
                <a:spcPts val="300"/>
              </a:spcAft>
              <a:buFont typeface="Arial" panose="020B0604020202020204" pitchFamily="34" charset="0"/>
              <a:buChar char="•"/>
            </a:pPr>
            <a:r>
              <a:rPr lang="en-CA" dirty="0">
                <a:solidFill>
                  <a:srgbClr val="0F1115"/>
                </a:solidFill>
                <a:latin typeface="Times New Roman" panose="02020603050405020304" pitchFamily="18" charset="0"/>
                <a:cs typeface="Times New Roman" panose="02020603050405020304" pitchFamily="18" charset="0"/>
              </a:rPr>
              <a:t>Time-series analysis &amp; regression</a:t>
            </a:r>
          </a:p>
          <a:p>
            <a:pPr marL="321750" indent="-285750">
              <a:spcBef>
                <a:spcPts val="300"/>
              </a:spcBef>
              <a:spcAft>
                <a:spcPts val="300"/>
              </a:spcAft>
              <a:buFont typeface="Arial" panose="020B0604020202020204" pitchFamily="34" charset="0"/>
              <a:buChar char="•"/>
            </a:pPr>
            <a:r>
              <a:rPr lang="en-CA" dirty="0">
                <a:solidFill>
                  <a:srgbClr val="0F1115"/>
                </a:solidFill>
                <a:latin typeface="Times New Roman" panose="02020603050405020304" pitchFamily="18" charset="0"/>
                <a:cs typeface="Times New Roman" panose="02020603050405020304" pitchFamily="18" charset="0"/>
              </a:rPr>
              <a:t>2024 outlier excluded for accuracy</a:t>
            </a:r>
          </a:p>
          <a:p>
            <a:pPr marL="321750" indent="-285750">
              <a:spcBef>
                <a:spcPts val="300"/>
              </a:spcBef>
              <a:spcAft>
                <a:spcPts val="300"/>
              </a:spcAft>
              <a:buFont typeface="Arial" panose="020B0604020202020204" pitchFamily="34" charset="0"/>
              <a:buChar char="•"/>
            </a:pPr>
            <a:r>
              <a:rPr lang="en-CA" dirty="0">
                <a:solidFill>
                  <a:srgbClr val="0F1115"/>
                </a:solidFill>
                <a:latin typeface="Times New Roman" panose="02020603050405020304" pitchFamily="18" charset="0"/>
                <a:cs typeface="Times New Roman" panose="02020603050405020304" pitchFamily="18" charset="0"/>
              </a:rPr>
              <a:t>High confidence (based on 299,984 records)</a:t>
            </a:r>
          </a:p>
        </p:txBody>
      </p:sp>
      <p:sp>
        <p:nvSpPr>
          <p:cNvPr id="17" name="TextBox 16">
            <a:extLst>
              <a:ext uri="{FF2B5EF4-FFF2-40B4-BE49-F238E27FC236}">
                <a16:creationId xmlns:a16="http://schemas.microsoft.com/office/drawing/2014/main" id="{13222826-487D-D379-0D66-CD41C11EE4F3}"/>
              </a:ext>
            </a:extLst>
          </p:cNvPr>
          <p:cNvSpPr txBox="1"/>
          <p:nvPr/>
        </p:nvSpPr>
        <p:spPr>
          <a:xfrm>
            <a:off x="5276156" y="1373553"/>
            <a:ext cx="2298700" cy="4539704"/>
          </a:xfrm>
          <a:prstGeom prst="rect">
            <a:avLst/>
          </a:prstGeom>
          <a:noFill/>
        </p:spPr>
        <p:txBody>
          <a:bodyPr wrap="square">
            <a:spAutoFit/>
          </a:bodyPr>
          <a:lstStyle/>
          <a:p>
            <a:pPr marL="36000" algn="ctr">
              <a:spcBef>
                <a:spcPts val="600"/>
              </a:spcBef>
              <a:spcAft>
                <a:spcPts val="600"/>
              </a:spcAft>
            </a:pPr>
            <a:r>
              <a:rPr lang="en-CA" sz="2400" b="1" dirty="0">
                <a:solidFill>
                  <a:srgbClr val="0F1115"/>
                </a:solidFill>
                <a:latin typeface="Times New Roman" panose="02020603050405020304" pitchFamily="18" charset="0"/>
                <a:cs typeface="Times New Roman" panose="02020603050405020304" pitchFamily="18" charset="0"/>
              </a:rPr>
              <a:t>Risk Assessment</a:t>
            </a:r>
          </a:p>
          <a:p>
            <a:pPr marL="321750" indent="-285750">
              <a:spcBef>
                <a:spcPts val="300"/>
              </a:spcBef>
              <a:spcAft>
                <a:spcPts val="300"/>
              </a:spcAft>
              <a:buFont typeface="Arial" panose="020B0604020202020204" pitchFamily="34" charset="0"/>
              <a:buChar char="•"/>
            </a:pPr>
            <a:r>
              <a:rPr lang="en-CA" dirty="0">
                <a:solidFill>
                  <a:srgbClr val="0F1115"/>
                </a:solidFill>
                <a:latin typeface="Times New Roman" panose="02020603050405020304" pitchFamily="18" charset="0"/>
                <a:cs typeface="Times New Roman" panose="02020603050405020304" pitchFamily="18" charset="0"/>
              </a:rPr>
              <a:t>100-point scale evaluating:</a:t>
            </a:r>
          </a:p>
          <a:p>
            <a:pPr marL="321750" lvl="1" indent="-285750">
              <a:spcBef>
                <a:spcPts val="300"/>
              </a:spcBef>
              <a:spcAft>
                <a:spcPts val="300"/>
              </a:spcAft>
              <a:buFont typeface="Arial" panose="020B0604020202020204" pitchFamily="34" charset="0"/>
              <a:buChar char="•"/>
            </a:pPr>
            <a:r>
              <a:rPr lang="en-CA" dirty="0">
                <a:solidFill>
                  <a:srgbClr val="0F1115"/>
                </a:solidFill>
                <a:latin typeface="Times New Roman" panose="02020603050405020304" pitchFamily="18" charset="0"/>
                <a:cs typeface="Times New Roman" panose="02020603050405020304" pitchFamily="18" charset="0"/>
              </a:rPr>
              <a:t>Crime growth &amp; volume</a:t>
            </a:r>
          </a:p>
          <a:p>
            <a:pPr marL="321750" lvl="1" indent="-285750">
              <a:spcBef>
                <a:spcPts val="300"/>
              </a:spcBef>
              <a:spcAft>
                <a:spcPts val="300"/>
              </a:spcAft>
              <a:buFont typeface="Arial" panose="020B0604020202020204" pitchFamily="34" charset="0"/>
              <a:buChar char="•"/>
            </a:pPr>
            <a:r>
              <a:rPr lang="en-CA" dirty="0">
                <a:solidFill>
                  <a:srgbClr val="0F1115"/>
                </a:solidFill>
                <a:latin typeface="Times New Roman" panose="02020603050405020304" pitchFamily="18" charset="0"/>
                <a:cs typeface="Times New Roman" panose="02020603050405020304" pitchFamily="18" charset="0"/>
              </a:rPr>
              <a:t>Type severity &amp; temporal concentration</a:t>
            </a:r>
          </a:p>
          <a:p>
            <a:pPr marL="321750" lvl="1" indent="-285750">
              <a:spcBef>
                <a:spcPts val="300"/>
              </a:spcBef>
              <a:spcAft>
                <a:spcPts val="300"/>
              </a:spcAft>
              <a:buFont typeface="Arial" panose="020B0604020202020204" pitchFamily="34" charset="0"/>
              <a:buChar char="•"/>
            </a:pPr>
            <a:r>
              <a:rPr lang="en-CA" dirty="0">
                <a:solidFill>
                  <a:srgbClr val="0F1115"/>
                </a:solidFill>
                <a:latin typeface="Times New Roman" panose="02020603050405020304" pitchFamily="18" charset="0"/>
                <a:cs typeface="Times New Roman" panose="02020603050405020304" pitchFamily="18" charset="0"/>
              </a:rPr>
              <a:t>Call-for-service load</a:t>
            </a:r>
          </a:p>
          <a:p>
            <a:pPr marL="321750" lvl="1" indent="-285750">
              <a:spcBef>
                <a:spcPts val="300"/>
              </a:spcBef>
              <a:spcAft>
                <a:spcPts val="300"/>
              </a:spcAft>
              <a:buFont typeface="Arial" panose="020B0604020202020204" pitchFamily="34" charset="0"/>
              <a:buChar char="•"/>
            </a:pPr>
            <a:r>
              <a:rPr lang="en-CA" dirty="0">
                <a:solidFill>
                  <a:srgbClr val="0F1115"/>
                </a:solidFill>
                <a:latin typeface="Times New Roman" panose="02020603050405020304" pitchFamily="18" charset="0"/>
                <a:cs typeface="Times New Roman" panose="02020603050405020304" pitchFamily="18" charset="0"/>
              </a:rPr>
              <a:t>Priority Tiers: High (70+), Medium (60-69), Low (&lt;60)</a:t>
            </a:r>
          </a:p>
        </p:txBody>
      </p:sp>
      <p:pic>
        <p:nvPicPr>
          <p:cNvPr id="18" name="Picture 2" descr="York Regional Police Graphic Logo">
            <a:extLst>
              <a:ext uri="{FF2B5EF4-FFF2-40B4-BE49-F238E27FC236}">
                <a16:creationId xmlns:a16="http://schemas.microsoft.com/office/drawing/2014/main" id="{1669753B-9AD3-2A32-08E6-77881FCAAD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4863"/>
            <a:ext cx="709766" cy="100012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02711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629B8-68B7-A86B-E04F-986CEEEA9F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02BEF9-D1FE-70DB-4E41-C580A7C8A371}"/>
              </a:ext>
            </a:extLst>
          </p:cNvPr>
          <p:cNvSpPr>
            <a:spLocks noGrp="1"/>
          </p:cNvSpPr>
          <p:nvPr>
            <p:ph type="title"/>
          </p:nvPr>
        </p:nvSpPr>
        <p:spPr/>
        <p:txBody>
          <a:bodyPr>
            <a:normAutofit/>
          </a:bodyPr>
          <a:lstStyle/>
          <a:p>
            <a:r>
              <a:rPr lang="en-CA" b="1" dirty="0">
                <a:latin typeface="Times New Roman" panose="02020603050405020304" pitchFamily="18" charset="0"/>
                <a:cs typeface="Times New Roman" panose="02020603050405020304" pitchFamily="18" charset="0"/>
              </a:rPr>
              <a:t>Data Overview</a:t>
            </a:r>
            <a:endParaRPr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21F59AC-B815-CA8B-4984-567DC57E8907}"/>
              </a:ext>
            </a:extLst>
          </p:cNvPr>
          <p:cNvSpPr txBox="1"/>
          <p:nvPr/>
        </p:nvSpPr>
        <p:spPr>
          <a:xfrm>
            <a:off x="1157646" y="1417638"/>
            <a:ext cx="9876708" cy="4475584"/>
          </a:xfrm>
          <a:prstGeom prst="rect">
            <a:avLst/>
          </a:prstGeom>
          <a:noFill/>
        </p:spPr>
        <p:txBody>
          <a:bodyPr wrap="square">
            <a:spAutoFit/>
          </a:bodyPr>
          <a:lstStyle/>
          <a:p>
            <a:pPr algn="l">
              <a:spcBef>
                <a:spcPts val="1200"/>
              </a:spcBef>
              <a:spcAft>
                <a:spcPts val="600"/>
              </a:spcAft>
              <a:buNone/>
            </a:pPr>
            <a:r>
              <a:rPr lang="en-CA" sz="2400" b="1" dirty="0">
                <a:solidFill>
                  <a:srgbClr val="0F1115"/>
                </a:solidFill>
                <a:effectLst/>
                <a:latin typeface="Times New Roman" panose="02020603050405020304" pitchFamily="18" charset="0"/>
                <a:cs typeface="Times New Roman" panose="02020603050405020304" pitchFamily="18" charset="0"/>
              </a:rPr>
              <a:t>Crime Data Summary</a:t>
            </a:r>
          </a:p>
          <a:p>
            <a:pPr marL="285750" indent="-285750" algn="l">
              <a:spcBef>
                <a:spcPts val="600"/>
              </a:spcBef>
              <a:spcAft>
                <a:spcPts val="1200"/>
              </a:spcAft>
              <a:buFont typeface="Arial" panose="020B0604020202020204" pitchFamily="34" charset="0"/>
              <a:buChar char="•"/>
            </a:pPr>
            <a:r>
              <a:rPr lang="en-CA" b="1" i="0" dirty="0">
                <a:solidFill>
                  <a:srgbClr val="0F1115"/>
                </a:solidFill>
                <a:effectLst/>
                <a:latin typeface="Times New Roman" panose="02020603050405020304" pitchFamily="18" charset="0"/>
                <a:cs typeface="Times New Roman" panose="02020603050405020304" pitchFamily="18" charset="0"/>
              </a:rPr>
              <a:t>Total Records Analyzed:</a:t>
            </a:r>
            <a:r>
              <a:rPr lang="en-CA" b="0" i="0" dirty="0">
                <a:solidFill>
                  <a:srgbClr val="0F1115"/>
                </a:solidFill>
                <a:effectLst/>
                <a:latin typeface="Times New Roman" panose="02020603050405020304" pitchFamily="18" charset="0"/>
                <a:cs typeface="Times New Roman" panose="02020603050405020304" pitchFamily="18" charset="0"/>
              </a:rPr>
              <a:t> 299,984</a:t>
            </a:r>
          </a:p>
          <a:p>
            <a:pPr marL="285750" indent="-285750" algn="l">
              <a:spcBef>
                <a:spcPts val="450"/>
              </a:spcBef>
              <a:spcAft>
                <a:spcPts val="1200"/>
              </a:spcAft>
              <a:buFont typeface="Arial" panose="020B0604020202020204" pitchFamily="34" charset="0"/>
              <a:buChar char="•"/>
            </a:pPr>
            <a:r>
              <a:rPr lang="en-CA" b="1" i="0" dirty="0">
                <a:solidFill>
                  <a:srgbClr val="0F1115"/>
                </a:solidFill>
                <a:effectLst/>
                <a:latin typeface="Times New Roman" panose="02020603050405020304" pitchFamily="18" charset="0"/>
                <a:cs typeface="Times New Roman" panose="02020603050405020304" pitchFamily="18" charset="0"/>
              </a:rPr>
              <a:t>Peak Crime Year:</a:t>
            </a:r>
            <a:r>
              <a:rPr lang="en-CA" b="0" i="0" dirty="0">
                <a:solidFill>
                  <a:srgbClr val="0F1115"/>
                </a:solidFill>
                <a:effectLst/>
                <a:latin typeface="Times New Roman" panose="02020603050405020304" pitchFamily="18" charset="0"/>
                <a:cs typeface="Times New Roman" panose="02020603050405020304" pitchFamily="18" charset="0"/>
              </a:rPr>
              <a:t> 2024 (95,150 incidents)</a:t>
            </a:r>
          </a:p>
          <a:p>
            <a:pPr marL="285750" indent="-285750" algn="l">
              <a:spcBef>
                <a:spcPts val="450"/>
              </a:spcBef>
              <a:spcAft>
                <a:spcPts val="1200"/>
              </a:spcAft>
              <a:buFont typeface="Arial" panose="020B0604020202020204" pitchFamily="34" charset="0"/>
              <a:buChar char="•"/>
            </a:pPr>
            <a:r>
              <a:rPr lang="en-CA" b="1" i="0" dirty="0">
                <a:solidFill>
                  <a:srgbClr val="0F1115"/>
                </a:solidFill>
                <a:effectLst/>
                <a:latin typeface="Times New Roman" panose="02020603050405020304" pitchFamily="18" charset="0"/>
                <a:cs typeface="Times New Roman" panose="02020603050405020304" pitchFamily="18" charset="0"/>
              </a:rPr>
              <a:t>2024 Anomaly:</a:t>
            </a:r>
            <a:r>
              <a:rPr lang="en-CA" b="0" i="0" dirty="0">
                <a:solidFill>
                  <a:srgbClr val="0F1115"/>
                </a:solidFill>
                <a:effectLst/>
                <a:latin typeface="Times New Roman" panose="02020603050405020304" pitchFamily="18" charset="0"/>
                <a:cs typeface="Times New Roman" panose="02020603050405020304" pitchFamily="18" charset="0"/>
              </a:rPr>
              <a:t> 89.5% spike</a:t>
            </a:r>
          </a:p>
          <a:p>
            <a:pPr marL="285750" indent="-285750">
              <a:spcBef>
                <a:spcPts val="450"/>
              </a:spcBef>
              <a:spcAft>
                <a:spcPts val="1200"/>
              </a:spcAft>
              <a:buFont typeface="Arial" panose="020B0604020202020204" pitchFamily="34" charset="0"/>
              <a:buChar char="•"/>
            </a:pPr>
            <a:r>
              <a:rPr lang="en-CA" b="1" i="0" dirty="0">
                <a:solidFill>
                  <a:srgbClr val="0F1115"/>
                </a:solidFill>
                <a:effectLst/>
                <a:latin typeface="Times New Roman" panose="02020603050405020304" pitchFamily="18" charset="0"/>
                <a:cs typeface="Times New Roman" panose="02020603050405020304" pitchFamily="18" charset="0"/>
              </a:rPr>
              <a:t>2025 Correction:</a:t>
            </a:r>
            <a:r>
              <a:rPr lang="en-CA" b="0" i="0" dirty="0">
                <a:solidFill>
                  <a:srgbClr val="0F1115"/>
                </a:solidFill>
                <a:effectLst/>
                <a:latin typeface="Times New Roman" panose="02020603050405020304" pitchFamily="18" charset="0"/>
                <a:cs typeface="Times New Roman" panose="02020603050405020304" pitchFamily="18" charset="0"/>
              </a:rPr>
              <a:t> </a:t>
            </a:r>
            <a:r>
              <a:rPr lang="en-CA" dirty="0">
                <a:solidFill>
                  <a:srgbClr val="0F1115"/>
                </a:solidFill>
                <a:latin typeface="Times New Roman" panose="02020603050405020304" pitchFamily="18" charset="0"/>
                <a:cs typeface="Times New Roman" panose="02020603050405020304" pitchFamily="18" charset="0"/>
              </a:rPr>
              <a:t>Forecasted Reversion to Pre-2024 Levels</a:t>
            </a:r>
          </a:p>
          <a:p>
            <a:pPr marL="285750" indent="-285750" algn="l">
              <a:spcBef>
                <a:spcPts val="450"/>
              </a:spcBef>
              <a:spcAft>
                <a:spcPts val="1200"/>
              </a:spcAft>
              <a:buFont typeface="Arial" panose="020B0604020202020204" pitchFamily="34" charset="0"/>
              <a:buChar char="•"/>
            </a:pPr>
            <a:r>
              <a:rPr lang="en-CA" b="1" i="0" dirty="0">
                <a:solidFill>
                  <a:srgbClr val="0F1115"/>
                </a:solidFill>
                <a:effectLst/>
                <a:latin typeface="Times New Roman" panose="02020603050405020304" pitchFamily="18" charset="0"/>
                <a:cs typeface="Times New Roman" panose="02020603050405020304" pitchFamily="18" charset="0"/>
              </a:rPr>
              <a:t>Data Confidence:</a:t>
            </a:r>
            <a:r>
              <a:rPr lang="en-CA" b="0" i="0" dirty="0">
                <a:solidFill>
                  <a:srgbClr val="0F1115"/>
                </a:solidFill>
                <a:effectLst/>
                <a:latin typeface="Times New Roman" panose="02020603050405020304" pitchFamily="18" charset="0"/>
                <a:cs typeface="Times New Roman" panose="02020603050405020304" pitchFamily="18" charset="0"/>
              </a:rPr>
              <a:t> High (excluding 2024 outlier for forecasting)</a:t>
            </a:r>
            <a:endParaRPr lang="en-CA" dirty="0">
              <a:solidFill>
                <a:srgbClr val="0F1115"/>
              </a:solidFill>
              <a:latin typeface="Times New Roman" panose="02020603050405020304" pitchFamily="18" charset="0"/>
              <a:cs typeface="Times New Roman" panose="02020603050405020304" pitchFamily="18" charset="0"/>
            </a:endParaRPr>
          </a:p>
          <a:p>
            <a:pPr>
              <a:spcBef>
                <a:spcPts val="1200"/>
              </a:spcBef>
              <a:spcAft>
                <a:spcPts val="600"/>
              </a:spcAft>
              <a:buNone/>
            </a:pPr>
            <a:r>
              <a:rPr lang="en-CA" sz="2400" b="1" dirty="0">
                <a:solidFill>
                  <a:srgbClr val="0F1115"/>
                </a:solidFill>
                <a:latin typeface="Times New Roman" panose="02020603050405020304" pitchFamily="18" charset="0"/>
                <a:cs typeface="Times New Roman" panose="02020603050405020304" pitchFamily="18" charset="0"/>
              </a:rPr>
              <a:t>Geographical Data</a:t>
            </a:r>
          </a:p>
          <a:p>
            <a:pPr marL="285750" indent="-285750">
              <a:spcBef>
                <a:spcPts val="600"/>
              </a:spcBef>
              <a:spcAft>
                <a:spcPts val="1200"/>
              </a:spcAft>
              <a:buFont typeface="Arial" panose="020B0604020202020204" pitchFamily="34" charset="0"/>
              <a:buChar char="•"/>
            </a:pPr>
            <a:r>
              <a:rPr lang="en-CA" b="1" dirty="0">
                <a:solidFill>
                  <a:srgbClr val="0F1115"/>
                </a:solidFill>
                <a:latin typeface="Times New Roman" panose="02020603050405020304" pitchFamily="18" charset="0"/>
                <a:cs typeface="Times New Roman" panose="02020603050405020304" pitchFamily="18" charset="0"/>
              </a:rPr>
              <a:t>Highest Risk District:</a:t>
            </a:r>
            <a:r>
              <a:rPr lang="en-CA" dirty="0">
                <a:solidFill>
                  <a:srgbClr val="0F1115"/>
                </a:solidFill>
                <a:latin typeface="Times New Roman" panose="02020603050405020304" pitchFamily="18" charset="0"/>
                <a:cs typeface="Times New Roman" panose="02020603050405020304" pitchFamily="18" charset="0"/>
              </a:rPr>
              <a:t> District 1 (North) – 85/100 risk score</a:t>
            </a:r>
          </a:p>
          <a:p>
            <a:pPr marL="285750" indent="-285750">
              <a:spcBef>
                <a:spcPts val="450"/>
              </a:spcBef>
              <a:spcAft>
                <a:spcPts val="1200"/>
              </a:spcAft>
              <a:buFont typeface="Arial" panose="020B0604020202020204" pitchFamily="34" charset="0"/>
              <a:buChar char="•"/>
            </a:pPr>
            <a:r>
              <a:rPr lang="en-CA" b="1" dirty="0">
                <a:solidFill>
                  <a:srgbClr val="0F1115"/>
                </a:solidFill>
                <a:latin typeface="Times New Roman" panose="02020603050405020304" pitchFamily="18" charset="0"/>
                <a:cs typeface="Times New Roman" panose="02020603050405020304" pitchFamily="18" charset="0"/>
              </a:rPr>
              <a:t>Emergency Priority:</a:t>
            </a:r>
            <a:r>
              <a:rPr lang="en-CA" dirty="0">
                <a:solidFill>
                  <a:srgbClr val="0F1115"/>
                </a:solidFill>
                <a:latin typeface="Times New Roman" panose="02020603050405020304" pitchFamily="18" charset="0"/>
                <a:cs typeface="Times New Roman" panose="02020603050405020304" pitchFamily="18" charset="0"/>
              </a:rPr>
              <a:t> District 4 (Vaughan Station) – 544% growth in reported incidents  (2019–2022)</a:t>
            </a:r>
          </a:p>
        </p:txBody>
      </p:sp>
      <p:sp>
        <p:nvSpPr>
          <p:cNvPr id="18" name="Date Placeholder 17">
            <a:extLst>
              <a:ext uri="{FF2B5EF4-FFF2-40B4-BE49-F238E27FC236}">
                <a16:creationId xmlns:a16="http://schemas.microsoft.com/office/drawing/2014/main" id="{97B8A718-28E1-93B7-DDFD-964BD61E3DE4}"/>
              </a:ext>
            </a:extLst>
          </p:cNvPr>
          <p:cNvSpPr>
            <a:spLocks noGrp="1"/>
          </p:cNvSpPr>
          <p:nvPr>
            <p:ph type="dt" sz="half" idx="10"/>
          </p:nvPr>
        </p:nvSpPr>
        <p:spPr/>
        <p:txBody>
          <a:bodyPr/>
          <a:lstStyle/>
          <a:p>
            <a:fld id="{D571984F-CCA3-45DF-A81E-9CF0A8A78606}" type="datetime3">
              <a:rPr lang="en-US" smtClean="0"/>
              <a:t>22 November 2025</a:t>
            </a:fld>
            <a:endParaRPr lang="en-US"/>
          </a:p>
        </p:txBody>
      </p:sp>
      <p:sp>
        <p:nvSpPr>
          <p:cNvPr id="19" name="Footer Placeholder 18">
            <a:extLst>
              <a:ext uri="{FF2B5EF4-FFF2-40B4-BE49-F238E27FC236}">
                <a16:creationId xmlns:a16="http://schemas.microsoft.com/office/drawing/2014/main" id="{AD7457FD-3757-FE36-0573-33DF3A0C59DD}"/>
              </a:ext>
            </a:extLst>
          </p:cNvPr>
          <p:cNvSpPr>
            <a:spLocks noGrp="1"/>
          </p:cNvSpPr>
          <p:nvPr>
            <p:ph type="ftr" sz="quarter" idx="11"/>
          </p:nvPr>
        </p:nvSpPr>
        <p:spPr>
          <a:xfrm>
            <a:off x="4074160" y="6356351"/>
            <a:ext cx="4185920" cy="365125"/>
          </a:xfrm>
        </p:spPr>
        <p:txBody>
          <a:bodyPr/>
          <a:lstStyle/>
          <a:p>
            <a:r>
              <a:rPr lang="en-US" dirty="0"/>
              <a:t>York Region Crime Analysis</a:t>
            </a:r>
          </a:p>
        </p:txBody>
      </p:sp>
      <p:sp>
        <p:nvSpPr>
          <p:cNvPr id="20" name="Slide Number Placeholder 19">
            <a:extLst>
              <a:ext uri="{FF2B5EF4-FFF2-40B4-BE49-F238E27FC236}">
                <a16:creationId xmlns:a16="http://schemas.microsoft.com/office/drawing/2014/main" id="{B8F01B1E-D92C-B701-4541-1E8AC7354D05}"/>
              </a:ext>
            </a:extLst>
          </p:cNvPr>
          <p:cNvSpPr>
            <a:spLocks noGrp="1"/>
          </p:cNvSpPr>
          <p:nvPr>
            <p:ph type="sldNum" sz="quarter" idx="12"/>
          </p:nvPr>
        </p:nvSpPr>
        <p:spPr/>
        <p:txBody>
          <a:bodyPr/>
          <a:lstStyle/>
          <a:p>
            <a:fld id="{C1FF6DA9-008F-8B48-92A6-B652298478BF}" type="slidenum">
              <a:rPr lang="en-US" smtClean="0"/>
              <a:t>5</a:t>
            </a:fld>
            <a:endParaRPr lang="en-US"/>
          </a:p>
        </p:txBody>
      </p:sp>
      <p:pic>
        <p:nvPicPr>
          <p:cNvPr id="3" name="Picture 2" descr="York Regional Police Graphic Logo">
            <a:extLst>
              <a:ext uri="{FF2B5EF4-FFF2-40B4-BE49-F238E27FC236}">
                <a16:creationId xmlns:a16="http://schemas.microsoft.com/office/drawing/2014/main" id="{CD5D1ADF-5322-B3C0-EE0E-700E2FBC9B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4863"/>
            <a:ext cx="709766" cy="100012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57278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44970-F7E0-141B-F524-BF6FE45048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61F08F-2D16-6E8B-529C-F7A8CDB25CD6}"/>
              </a:ext>
            </a:extLst>
          </p:cNvPr>
          <p:cNvSpPr>
            <a:spLocks noGrp="1"/>
          </p:cNvSpPr>
          <p:nvPr>
            <p:ph type="title"/>
          </p:nvPr>
        </p:nvSpPr>
        <p:spPr/>
        <p:txBody>
          <a:bodyPr>
            <a:normAutofit/>
          </a:bodyPr>
          <a:lstStyle/>
          <a:p>
            <a:r>
              <a:rPr lang="en-CA" b="1" dirty="0">
                <a:latin typeface="Times New Roman" panose="02020603050405020304" pitchFamily="18" charset="0"/>
                <a:cs typeface="Times New Roman" panose="02020603050405020304" pitchFamily="18" charset="0"/>
              </a:rPr>
              <a:t>The Crime-Staffing Feedback Loop</a:t>
            </a:r>
            <a:endParaRPr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14928B4C-95F8-71CC-5C2F-670916A788FA}"/>
              </a:ext>
            </a:extLst>
          </p:cNvPr>
          <p:cNvPicPr>
            <a:picLocks noChangeAspect="1"/>
          </p:cNvPicPr>
          <p:nvPr/>
        </p:nvPicPr>
        <p:blipFill>
          <a:blip r:embed="rId3"/>
          <a:stretch>
            <a:fillRect/>
          </a:stretch>
        </p:blipFill>
        <p:spPr>
          <a:xfrm>
            <a:off x="3596640" y="1276819"/>
            <a:ext cx="2824419" cy="2618294"/>
          </a:xfrm>
          <a:prstGeom prst="rect">
            <a:avLst/>
          </a:prstGeom>
        </p:spPr>
      </p:pic>
      <p:pic>
        <p:nvPicPr>
          <p:cNvPr id="9" name="Picture 8">
            <a:extLst>
              <a:ext uri="{FF2B5EF4-FFF2-40B4-BE49-F238E27FC236}">
                <a16:creationId xmlns:a16="http://schemas.microsoft.com/office/drawing/2014/main" id="{746C5DE6-08AD-307E-A741-7893F385336F}"/>
              </a:ext>
            </a:extLst>
          </p:cNvPr>
          <p:cNvPicPr>
            <a:picLocks noChangeAspect="1"/>
          </p:cNvPicPr>
          <p:nvPr/>
        </p:nvPicPr>
        <p:blipFill>
          <a:blip r:embed="rId4"/>
          <a:stretch>
            <a:fillRect/>
          </a:stretch>
        </p:blipFill>
        <p:spPr>
          <a:xfrm>
            <a:off x="6421060" y="3878876"/>
            <a:ext cx="3047462" cy="2477476"/>
          </a:xfrm>
          <a:prstGeom prst="rect">
            <a:avLst/>
          </a:prstGeom>
        </p:spPr>
      </p:pic>
      <p:pic>
        <p:nvPicPr>
          <p:cNvPr id="11" name="Picture 10">
            <a:extLst>
              <a:ext uri="{FF2B5EF4-FFF2-40B4-BE49-F238E27FC236}">
                <a16:creationId xmlns:a16="http://schemas.microsoft.com/office/drawing/2014/main" id="{F80E489C-7108-3321-DDFD-9DB58B914471}"/>
              </a:ext>
            </a:extLst>
          </p:cNvPr>
          <p:cNvPicPr>
            <a:picLocks noChangeAspect="1"/>
          </p:cNvPicPr>
          <p:nvPr/>
        </p:nvPicPr>
        <p:blipFill>
          <a:blip r:embed="rId5"/>
          <a:stretch>
            <a:fillRect/>
          </a:stretch>
        </p:blipFill>
        <p:spPr>
          <a:xfrm>
            <a:off x="6421060" y="1276820"/>
            <a:ext cx="2946747" cy="2602056"/>
          </a:xfrm>
          <a:prstGeom prst="rect">
            <a:avLst/>
          </a:prstGeom>
        </p:spPr>
      </p:pic>
      <p:pic>
        <p:nvPicPr>
          <p:cNvPr id="13" name="Picture 12">
            <a:extLst>
              <a:ext uri="{FF2B5EF4-FFF2-40B4-BE49-F238E27FC236}">
                <a16:creationId xmlns:a16="http://schemas.microsoft.com/office/drawing/2014/main" id="{A5663ED2-3FA2-FD86-1776-AA056DE52D0D}"/>
              </a:ext>
            </a:extLst>
          </p:cNvPr>
          <p:cNvPicPr>
            <a:picLocks noChangeAspect="1"/>
          </p:cNvPicPr>
          <p:nvPr/>
        </p:nvPicPr>
        <p:blipFill>
          <a:blip r:embed="rId6"/>
          <a:stretch>
            <a:fillRect/>
          </a:stretch>
        </p:blipFill>
        <p:spPr>
          <a:xfrm>
            <a:off x="9367808" y="1276819"/>
            <a:ext cx="2742912" cy="2618293"/>
          </a:xfrm>
          <a:prstGeom prst="rect">
            <a:avLst/>
          </a:prstGeom>
        </p:spPr>
      </p:pic>
      <p:sp>
        <p:nvSpPr>
          <p:cNvPr id="3" name="TextBox 2">
            <a:extLst>
              <a:ext uri="{FF2B5EF4-FFF2-40B4-BE49-F238E27FC236}">
                <a16:creationId xmlns:a16="http://schemas.microsoft.com/office/drawing/2014/main" id="{10E15174-B8D1-1AF3-41D6-AC62E784F62A}"/>
              </a:ext>
            </a:extLst>
          </p:cNvPr>
          <p:cNvSpPr txBox="1"/>
          <p:nvPr/>
        </p:nvSpPr>
        <p:spPr>
          <a:xfrm>
            <a:off x="4193220" y="1469305"/>
            <a:ext cx="918066" cy="342401"/>
          </a:xfrm>
          <a:prstGeom prst="rect">
            <a:avLst/>
          </a:prstGeom>
          <a:noFill/>
        </p:spPr>
        <p:txBody>
          <a:bodyPr wrap="square">
            <a:spAutoFit/>
          </a:bodyPr>
          <a:lstStyle/>
          <a:p>
            <a:pPr algn="l">
              <a:lnSpc>
                <a:spcPts val="2100"/>
              </a:lnSpc>
              <a:spcBef>
                <a:spcPts val="1200"/>
              </a:spcBef>
              <a:spcAft>
                <a:spcPts val="600"/>
              </a:spcAft>
              <a:buNone/>
            </a:pPr>
            <a:r>
              <a:rPr lang="en-CA" sz="1400" b="1" dirty="0">
                <a:solidFill>
                  <a:srgbClr val="0F1115"/>
                </a:solidFill>
                <a:latin typeface="Times New Roman" panose="02020603050405020304" pitchFamily="18" charset="0"/>
                <a:cs typeface="Times New Roman" panose="02020603050405020304" pitchFamily="18" charset="0"/>
              </a:rPr>
              <a:t>Crime</a:t>
            </a:r>
          </a:p>
        </p:txBody>
      </p:sp>
      <p:sp>
        <p:nvSpPr>
          <p:cNvPr id="6" name="TextBox 5">
            <a:extLst>
              <a:ext uri="{FF2B5EF4-FFF2-40B4-BE49-F238E27FC236}">
                <a16:creationId xmlns:a16="http://schemas.microsoft.com/office/drawing/2014/main" id="{02157F9D-C7CC-8383-23C8-A38AACFB8D5C}"/>
              </a:ext>
            </a:extLst>
          </p:cNvPr>
          <p:cNvSpPr txBox="1"/>
          <p:nvPr/>
        </p:nvSpPr>
        <p:spPr>
          <a:xfrm>
            <a:off x="8124400" y="1432433"/>
            <a:ext cx="1036112" cy="342401"/>
          </a:xfrm>
          <a:prstGeom prst="rect">
            <a:avLst/>
          </a:prstGeom>
          <a:noFill/>
        </p:spPr>
        <p:txBody>
          <a:bodyPr wrap="square">
            <a:spAutoFit/>
          </a:bodyPr>
          <a:lstStyle/>
          <a:p>
            <a:pPr algn="l">
              <a:lnSpc>
                <a:spcPts val="2100"/>
              </a:lnSpc>
              <a:spcBef>
                <a:spcPts val="1200"/>
              </a:spcBef>
              <a:spcAft>
                <a:spcPts val="600"/>
              </a:spcAft>
              <a:buNone/>
            </a:pPr>
            <a:r>
              <a:rPr lang="en-CA" sz="1400" b="1" dirty="0">
                <a:solidFill>
                  <a:srgbClr val="0F1115"/>
                </a:solidFill>
                <a:latin typeface="Times New Roman" panose="02020603050405020304" pitchFamily="18" charset="0"/>
                <a:cs typeface="Times New Roman" panose="02020603050405020304" pitchFamily="18" charset="0"/>
              </a:rPr>
              <a:t>911</a:t>
            </a:r>
            <a:r>
              <a:rPr lang="en-CA" sz="1600" b="1" dirty="0">
                <a:solidFill>
                  <a:srgbClr val="0F1115"/>
                </a:solidFill>
                <a:effectLst/>
                <a:latin typeface="Times New Roman" panose="02020603050405020304" pitchFamily="18" charset="0"/>
                <a:cs typeface="Times New Roman" panose="02020603050405020304" pitchFamily="18" charset="0"/>
              </a:rPr>
              <a:t> </a:t>
            </a:r>
            <a:r>
              <a:rPr lang="en-CA" sz="1400" b="1" dirty="0">
                <a:solidFill>
                  <a:srgbClr val="0F1115"/>
                </a:solidFill>
                <a:latin typeface="Times New Roman" panose="02020603050405020304" pitchFamily="18" charset="0"/>
                <a:cs typeface="Times New Roman" panose="02020603050405020304" pitchFamily="18" charset="0"/>
              </a:rPr>
              <a:t>Call</a:t>
            </a:r>
          </a:p>
        </p:txBody>
      </p:sp>
      <p:sp>
        <p:nvSpPr>
          <p:cNvPr id="7" name="TextBox 6">
            <a:extLst>
              <a:ext uri="{FF2B5EF4-FFF2-40B4-BE49-F238E27FC236}">
                <a16:creationId xmlns:a16="http://schemas.microsoft.com/office/drawing/2014/main" id="{446FDC63-F64C-4320-70EB-2CFD7A9F58AE}"/>
              </a:ext>
            </a:extLst>
          </p:cNvPr>
          <p:cNvSpPr txBox="1"/>
          <p:nvPr/>
        </p:nvSpPr>
        <p:spPr>
          <a:xfrm>
            <a:off x="9613015" y="1360700"/>
            <a:ext cx="2120413" cy="336439"/>
          </a:xfrm>
          <a:prstGeom prst="rect">
            <a:avLst/>
          </a:prstGeom>
          <a:noFill/>
        </p:spPr>
        <p:txBody>
          <a:bodyPr wrap="square">
            <a:spAutoFit/>
          </a:bodyPr>
          <a:lstStyle/>
          <a:p>
            <a:pPr algn="l">
              <a:lnSpc>
                <a:spcPts val="2100"/>
              </a:lnSpc>
              <a:spcBef>
                <a:spcPts val="1200"/>
              </a:spcBef>
              <a:spcAft>
                <a:spcPts val="600"/>
              </a:spcAft>
              <a:buNone/>
            </a:pPr>
            <a:r>
              <a:rPr lang="en-CA" sz="1400" b="1" dirty="0">
                <a:solidFill>
                  <a:srgbClr val="0F1115"/>
                </a:solidFill>
                <a:effectLst/>
                <a:latin typeface="Times New Roman" panose="02020603050405020304" pitchFamily="18" charset="0"/>
                <a:cs typeface="Times New Roman" panose="02020603050405020304" pitchFamily="18" charset="0"/>
              </a:rPr>
              <a:t>Staff Overtime/Shortage</a:t>
            </a:r>
            <a:endParaRPr lang="en-CA" sz="1100" b="0" i="0" dirty="0">
              <a:solidFill>
                <a:srgbClr val="0F1115"/>
              </a:solidFill>
              <a:effectLst/>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D74061EA-2D17-5C07-C270-438526F9C044}"/>
              </a:ext>
            </a:extLst>
          </p:cNvPr>
          <p:cNvSpPr txBox="1"/>
          <p:nvPr/>
        </p:nvSpPr>
        <p:spPr>
          <a:xfrm>
            <a:off x="7317441" y="4077024"/>
            <a:ext cx="1613918" cy="342401"/>
          </a:xfrm>
          <a:prstGeom prst="rect">
            <a:avLst/>
          </a:prstGeom>
          <a:noFill/>
        </p:spPr>
        <p:txBody>
          <a:bodyPr wrap="square">
            <a:spAutoFit/>
          </a:bodyPr>
          <a:lstStyle/>
          <a:p>
            <a:pPr>
              <a:lnSpc>
                <a:spcPts val="2100"/>
              </a:lnSpc>
              <a:spcBef>
                <a:spcPts val="1200"/>
              </a:spcBef>
              <a:spcAft>
                <a:spcPts val="600"/>
              </a:spcAft>
            </a:pPr>
            <a:r>
              <a:rPr lang="en-CA" sz="1400" b="1" dirty="0">
                <a:solidFill>
                  <a:srgbClr val="0F1115"/>
                </a:solidFill>
                <a:latin typeface="Times New Roman" panose="02020603050405020304" pitchFamily="18" charset="0"/>
                <a:cs typeface="Times New Roman" panose="02020603050405020304" pitchFamily="18" charset="0"/>
              </a:rPr>
              <a:t>Combined Impact</a:t>
            </a:r>
          </a:p>
        </p:txBody>
      </p:sp>
      <p:pic>
        <p:nvPicPr>
          <p:cNvPr id="12" name="Picture 11">
            <a:extLst>
              <a:ext uri="{FF2B5EF4-FFF2-40B4-BE49-F238E27FC236}">
                <a16:creationId xmlns:a16="http://schemas.microsoft.com/office/drawing/2014/main" id="{6E284B49-ED9D-5BDB-99BD-D82E59D60C7C}"/>
              </a:ext>
            </a:extLst>
          </p:cNvPr>
          <p:cNvPicPr>
            <a:picLocks noChangeAspect="1"/>
          </p:cNvPicPr>
          <p:nvPr/>
        </p:nvPicPr>
        <p:blipFill>
          <a:blip r:embed="rId7"/>
          <a:stretch>
            <a:fillRect/>
          </a:stretch>
        </p:blipFill>
        <p:spPr>
          <a:xfrm>
            <a:off x="3713794" y="3895112"/>
            <a:ext cx="2707266" cy="2461239"/>
          </a:xfrm>
          <a:prstGeom prst="rect">
            <a:avLst/>
          </a:prstGeom>
        </p:spPr>
      </p:pic>
      <p:pic>
        <p:nvPicPr>
          <p:cNvPr id="15" name="Picture 14">
            <a:extLst>
              <a:ext uri="{FF2B5EF4-FFF2-40B4-BE49-F238E27FC236}">
                <a16:creationId xmlns:a16="http://schemas.microsoft.com/office/drawing/2014/main" id="{A3D44076-C396-AB6C-9EDF-ACD98F133FDB}"/>
              </a:ext>
            </a:extLst>
          </p:cNvPr>
          <p:cNvPicPr>
            <a:picLocks noChangeAspect="1"/>
          </p:cNvPicPr>
          <p:nvPr/>
        </p:nvPicPr>
        <p:blipFill>
          <a:blip r:embed="rId8"/>
          <a:stretch>
            <a:fillRect/>
          </a:stretch>
        </p:blipFill>
        <p:spPr>
          <a:xfrm>
            <a:off x="9434422" y="3895113"/>
            <a:ext cx="2676298" cy="2461239"/>
          </a:xfrm>
          <a:prstGeom prst="rect">
            <a:avLst/>
          </a:prstGeom>
        </p:spPr>
      </p:pic>
      <p:sp>
        <p:nvSpPr>
          <p:cNvPr id="16" name="TextBox 15">
            <a:extLst>
              <a:ext uri="{FF2B5EF4-FFF2-40B4-BE49-F238E27FC236}">
                <a16:creationId xmlns:a16="http://schemas.microsoft.com/office/drawing/2014/main" id="{EDD81E2F-C5F6-60EE-A86E-8E2E0A38C5A1}"/>
              </a:ext>
            </a:extLst>
          </p:cNvPr>
          <p:cNvSpPr txBox="1"/>
          <p:nvPr/>
        </p:nvSpPr>
        <p:spPr>
          <a:xfrm>
            <a:off x="10905530" y="3978993"/>
            <a:ext cx="827898" cy="342401"/>
          </a:xfrm>
          <a:prstGeom prst="rect">
            <a:avLst/>
          </a:prstGeom>
          <a:noFill/>
        </p:spPr>
        <p:txBody>
          <a:bodyPr wrap="square">
            <a:spAutoFit/>
          </a:bodyPr>
          <a:lstStyle/>
          <a:p>
            <a:pPr>
              <a:lnSpc>
                <a:spcPts val="2100"/>
              </a:lnSpc>
              <a:spcBef>
                <a:spcPts val="1200"/>
              </a:spcBef>
              <a:spcAft>
                <a:spcPts val="600"/>
              </a:spcAft>
              <a:buNone/>
            </a:pPr>
            <a:r>
              <a:rPr lang="en-CA" sz="1400" b="1" dirty="0">
                <a:solidFill>
                  <a:srgbClr val="0F1115"/>
                </a:solidFill>
                <a:latin typeface="Times New Roman" panose="02020603050405020304" pitchFamily="18" charset="0"/>
                <a:cs typeface="Times New Roman" panose="02020603050405020304" pitchFamily="18" charset="0"/>
              </a:rPr>
              <a:t>Staffing</a:t>
            </a:r>
          </a:p>
        </p:txBody>
      </p:sp>
      <p:sp>
        <p:nvSpPr>
          <p:cNvPr id="17" name="TextBox 16">
            <a:extLst>
              <a:ext uri="{FF2B5EF4-FFF2-40B4-BE49-F238E27FC236}">
                <a16:creationId xmlns:a16="http://schemas.microsoft.com/office/drawing/2014/main" id="{2196403B-A17A-2E79-AE78-E519BB03FB30}"/>
              </a:ext>
            </a:extLst>
          </p:cNvPr>
          <p:cNvSpPr txBox="1"/>
          <p:nvPr/>
        </p:nvSpPr>
        <p:spPr>
          <a:xfrm>
            <a:off x="4770550" y="3946780"/>
            <a:ext cx="1460628" cy="342401"/>
          </a:xfrm>
          <a:prstGeom prst="rect">
            <a:avLst/>
          </a:prstGeom>
          <a:noFill/>
        </p:spPr>
        <p:txBody>
          <a:bodyPr wrap="square">
            <a:spAutoFit/>
          </a:bodyPr>
          <a:lstStyle/>
          <a:p>
            <a:pPr algn="l">
              <a:lnSpc>
                <a:spcPts val="2100"/>
              </a:lnSpc>
              <a:spcBef>
                <a:spcPts val="1200"/>
              </a:spcBef>
              <a:spcAft>
                <a:spcPts val="600"/>
              </a:spcAft>
              <a:buNone/>
            </a:pPr>
            <a:r>
              <a:rPr lang="en-CA" sz="1400" b="1" dirty="0">
                <a:solidFill>
                  <a:srgbClr val="0F1115"/>
                </a:solidFill>
                <a:latin typeface="Times New Roman" panose="02020603050405020304" pitchFamily="18" charset="0"/>
                <a:cs typeface="Times New Roman" panose="02020603050405020304" pitchFamily="18" charset="0"/>
              </a:rPr>
              <a:t>Risk Factors</a:t>
            </a:r>
          </a:p>
        </p:txBody>
      </p:sp>
      <p:sp>
        <p:nvSpPr>
          <p:cNvPr id="10" name="Date Placeholder 9">
            <a:extLst>
              <a:ext uri="{FF2B5EF4-FFF2-40B4-BE49-F238E27FC236}">
                <a16:creationId xmlns:a16="http://schemas.microsoft.com/office/drawing/2014/main" id="{ECC17358-0BE1-1307-4F8C-84EC149EEAF1}"/>
              </a:ext>
            </a:extLst>
          </p:cNvPr>
          <p:cNvSpPr>
            <a:spLocks noGrp="1"/>
          </p:cNvSpPr>
          <p:nvPr>
            <p:ph type="dt" sz="half" idx="10"/>
          </p:nvPr>
        </p:nvSpPr>
        <p:spPr>
          <a:xfrm>
            <a:off x="1306422" y="6356351"/>
            <a:ext cx="2147978" cy="365125"/>
          </a:xfrm>
        </p:spPr>
        <p:txBody>
          <a:bodyPr/>
          <a:lstStyle/>
          <a:p>
            <a:fld id="{F0D9266A-34D5-49FE-BC9B-420F9F433C3C}" type="datetime3">
              <a:rPr lang="en-US" smtClean="0"/>
              <a:t>22 November 2025</a:t>
            </a:fld>
            <a:endParaRPr lang="en-US"/>
          </a:p>
        </p:txBody>
      </p:sp>
      <p:sp>
        <p:nvSpPr>
          <p:cNvPr id="14" name="Footer Placeholder 13">
            <a:extLst>
              <a:ext uri="{FF2B5EF4-FFF2-40B4-BE49-F238E27FC236}">
                <a16:creationId xmlns:a16="http://schemas.microsoft.com/office/drawing/2014/main" id="{2A5FFE5B-1CD4-500F-4912-F687891E6BA1}"/>
              </a:ext>
            </a:extLst>
          </p:cNvPr>
          <p:cNvSpPr>
            <a:spLocks noGrp="1"/>
          </p:cNvSpPr>
          <p:nvPr>
            <p:ph type="ftr" sz="quarter" idx="11"/>
          </p:nvPr>
        </p:nvSpPr>
        <p:spPr>
          <a:xfrm>
            <a:off x="5111286" y="6356351"/>
            <a:ext cx="2915113" cy="365125"/>
          </a:xfrm>
        </p:spPr>
        <p:txBody>
          <a:bodyPr/>
          <a:lstStyle/>
          <a:p>
            <a:r>
              <a:rPr lang="en-US"/>
              <a:t>York Region Crime Analysis</a:t>
            </a:r>
          </a:p>
        </p:txBody>
      </p:sp>
      <p:sp>
        <p:nvSpPr>
          <p:cNvPr id="18" name="Slide Number Placeholder 17">
            <a:extLst>
              <a:ext uri="{FF2B5EF4-FFF2-40B4-BE49-F238E27FC236}">
                <a16:creationId xmlns:a16="http://schemas.microsoft.com/office/drawing/2014/main" id="{978B59BA-9DDC-737D-CBB6-5C6C1F544D9F}"/>
              </a:ext>
            </a:extLst>
          </p:cNvPr>
          <p:cNvSpPr>
            <a:spLocks noGrp="1"/>
          </p:cNvSpPr>
          <p:nvPr>
            <p:ph type="sldNum" sz="quarter" idx="12"/>
          </p:nvPr>
        </p:nvSpPr>
        <p:spPr>
          <a:xfrm>
            <a:off x="9434422" y="6356351"/>
            <a:ext cx="2147978" cy="365125"/>
          </a:xfrm>
        </p:spPr>
        <p:txBody>
          <a:bodyPr/>
          <a:lstStyle/>
          <a:p>
            <a:fld id="{C1FF6DA9-008F-8B48-92A6-B652298478BF}" type="slidenum">
              <a:rPr lang="en-US" smtClean="0"/>
              <a:t>6</a:t>
            </a:fld>
            <a:endParaRPr lang="en-US"/>
          </a:p>
        </p:txBody>
      </p:sp>
      <p:pic>
        <p:nvPicPr>
          <p:cNvPr id="4" name="Picture 2" descr="York Regional Police Graphic Logo">
            <a:extLst>
              <a:ext uri="{FF2B5EF4-FFF2-40B4-BE49-F238E27FC236}">
                <a16:creationId xmlns:a16="http://schemas.microsoft.com/office/drawing/2014/main" id="{48525E9E-6999-E6D1-9151-5F77873EE07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 y="-4863"/>
            <a:ext cx="709766" cy="100012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909E8E84-426E-40DD-AFC4-6F175D3DCCD1}">
              <a14:hiddenFill xmlns:a14="http://schemas.microsoft.com/office/drawing/2010/main">
                <a:solidFill>
                  <a:srgbClr val="FFFFFF"/>
                </a:solidFill>
              </a14:hiddenFill>
            </a:ext>
          </a:extLst>
        </p:spPr>
      </p:pic>
      <p:pic>
        <p:nvPicPr>
          <p:cNvPr id="23" name="Picture 22" descr="A diagram of a process&#10;&#10;AI-generated content may be incorrect.">
            <a:extLst>
              <a:ext uri="{FF2B5EF4-FFF2-40B4-BE49-F238E27FC236}">
                <a16:creationId xmlns:a16="http://schemas.microsoft.com/office/drawing/2014/main" id="{48214B72-70DE-5F54-7688-C7B95E3E0074}"/>
              </a:ext>
            </a:extLst>
          </p:cNvPr>
          <p:cNvPicPr>
            <a:picLocks noChangeAspect="1"/>
          </p:cNvPicPr>
          <p:nvPr/>
        </p:nvPicPr>
        <p:blipFill>
          <a:blip r:embed="rId10"/>
          <a:stretch>
            <a:fillRect/>
          </a:stretch>
        </p:blipFill>
        <p:spPr>
          <a:xfrm>
            <a:off x="81280" y="1276821"/>
            <a:ext cx="3675525" cy="5079530"/>
          </a:xfrm>
          <a:prstGeom prst="rect">
            <a:avLst/>
          </a:prstGeom>
        </p:spPr>
      </p:pic>
    </p:spTree>
    <p:extLst>
      <p:ext uri="{BB962C8B-B14F-4D97-AF65-F5344CB8AC3E}">
        <p14:creationId xmlns:p14="http://schemas.microsoft.com/office/powerpoint/2010/main" val="5258097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b="1">
                <a:latin typeface="Times New Roman" panose="02020603050405020304" pitchFamily="18" charset="0"/>
                <a:cs typeface="Times New Roman" panose="02020603050405020304" pitchFamily="18" charset="0"/>
              </a:rPr>
              <a:t>Crime Category Distribution</a:t>
            </a:r>
            <a:endParaRPr lang="en-CA" b="1" dirty="0">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8CF1D1CE-04D4-F7FF-6044-8CA09E98C21E}"/>
              </a:ext>
            </a:extLst>
          </p:cNvPr>
          <p:cNvSpPr>
            <a:spLocks noGrp="1"/>
          </p:cNvSpPr>
          <p:nvPr>
            <p:ph type="dt" sz="half" idx="10"/>
          </p:nvPr>
        </p:nvSpPr>
        <p:spPr/>
        <p:txBody>
          <a:bodyPr/>
          <a:lstStyle/>
          <a:p>
            <a:fld id="{F43757BF-2F7E-46E5-9A4E-50D85FE8A8F5}" type="datetime3">
              <a:rPr lang="en-US" smtClean="0"/>
              <a:t>22 November 2025</a:t>
            </a:fld>
            <a:endParaRPr lang="en-US"/>
          </a:p>
        </p:txBody>
      </p:sp>
      <p:sp>
        <p:nvSpPr>
          <p:cNvPr id="6" name="Footer Placeholder 5">
            <a:extLst>
              <a:ext uri="{FF2B5EF4-FFF2-40B4-BE49-F238E27FC236}">
                <a16:creationId xmlns:a16="http://schemas.microsoft.com/office/drawing/2014/main" id="{D6A9DCC6-84C6-5BFD-EFD1-611BA0031CB6}"/>
              </a:ext>
            </a:extLst>
          </p:cNvPr>
          <p:cNvSpPr>
            <a:spLocks noGrp="1"/>
          </p:cNvSpPr>
          <p:nvPr>
            <p:ph type="ftr" sz="quarter" idx="11"/>
          </p:nvPr>
        </p:nvSpPr>
        <p:spPr/>
        <p:txBody>
          <a:bodyPr/>
          <a:lstStyle/>
          <a:p>
            <a:r>
              <a:rPr lang="en-US"/>
              <a:t>York Region Crime Analysis</a:t>
            </a:r>
          </a:p>
        </p:txBody>
      </p:sp>
      <p:sp>
        <p:nvSpPr>
          <p:cNvPr id="7" name="Slide Number Placeholder 6">
            <a:extLst>
              <a:ext uri="{FF2B5EF4-FFF2-40B4-BE49-F238E27FC236}">
                <a16:creationId xmlns:a16="http://schemas.microsoft.com/office/drawing/2014/main" id="{3EF37F04-11D2-B959-BE62-CF46FF456F7C}"/>
              </a:ext>
            </a:extLst>
          </p:cNvPr>
          <p:cNvSpPr>
            <a:spLocks noGrp="1"/>
          </p:cNvSpPr>
          <p:nvPr>
            <p:ph type="sldNum" sz="quarter" idx="12"/>
          </p:nvPr>
        </p:nvSpPr>
        <p:spPr/>
        <p:txBody>
          <a:bodyPr/>
          <a:lstStyle/>
          <a:p>
            <a:fld id="{C1FF6DA9-008F-8B48-92A6-B652298478BF}" type="slidenum">
              <a:rPr lang="en-US" smtClean="0"/>
              <a:t>7</a:t>
            </a:fld>
            <a:endParaRPr lang="en-US"/>
          </a:p>
        </p:txBody>
      </p:sp>
      <p:pic>
        <p:nvPicPr>
          <p:cNvPr id="9" name="Picture 8">
            <a:extLst>
              <a:ext uri="{FF2B5EF4-FFF2-40B4-BE49-F238E27FC236}">
                <a16:creationId xmlns:a16="http://schemas.microsoft.com/office/drawing/2014/main" id="{99C184BB-F912-CD08-207E-E7CDE49BEAD3}"/>
              </a:ext>
            </a:extLst>
          </p:cNvPr>
          <p:cNvPicPr>
            <a:picLocks noChangeAspect="1"/>
          </p:cNvPicPr>
          <p:nvPr/>
        </p:nvPicPr>
        <p:blipFill>
          <a:blip r:embed="rId3"/>
          <a:stretch>
            <a:fillRect/>
          </a:stretch>
        </p:blipFill>
        <p:spPr>
          <a:xfrm>
            <a:off x="508000" y="1697139"/>
            <a:ext cx="11264900" cy="4489084"/>
          </a:xfrm>
          <a:prstGeom prst="rect">
            <a:avLst/>
          </a:prstGeom>
        </p:spPr>
      </p:pic>
      <p:pic>
        <p:nvPicPr>
          <p:cNvPr id="4" name="Picture 2" descr="York Regional Police Graphic Logo">
            <a:extLst>
              <a:ext uri="{FF2B5EF4-FFF2-40B4-BE49-F238E27FC236}">
                <a16:creationId xmlns:a16="http://schemas.microsoft.com/office/drawing/2014/main" id="{9D8E24D0-D091-C436-4436-D36C6CCE8F8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 y="-4863"/>
            <a:ext cx="709766" cy="100012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latin typeface="Times New Roman" panose="02020603050405020304" pitchFamily="18" charset="0"/>
                <a:cs typeface="Times New Roman" panose="02020603050405020304" pitchFamily="18" charset="0"/>
              </a:rPr>
              <a:t>Temporal Crime Patterns</a:t>
            </a:r>
          </a:p>
        </p:txBody>
      </p:sp>
      <p:pic>
        <p:nvPicPr>
          <p:cNvPr id="3" name="Picture 2" descr="image.png"/>
          <p:cNvPicPr>
            <a:picLocks noChangeAspect="1"/>
          </p:cNvPicPr>
          <p:nvPr/>
        </p:nvPicPr>
        <p:blipFill>
          <a:blip r:embed="rId2"/>
          <a:stretch>
            <a:fillRect/>
          </a:stretch>
        </p:blipFill>
        <p:spPr>
          <a:xfrm>
            <a:off x="1981200" y="1215548"/>
            <a:ext cx="8229600" cy="5140803"/>
          </a:xfrm>
          <a:prstGeom prst="rect">
            <a:avLst/>
          </a:prstGeom>
        </p:spPr>
      </p:pic>
      <p:sp>
        <p:nvSpPr>
          <p:cNvPr id="4" name="Date Placeholder 3">
            <a:extLst>
              <a:ext uri="{FF2B5EF4-FFF2-40B4-BE49-F238E27FC236}">
                <a16:creationId xmlns:a16="http://schemas.microsoft.com/office/drawing/2014/main" id="{CBF4823F-2900-5614-C3C9-887253DD0968}"/>
              </a:ext>
            </a:extLst>
          </p:cNvPr>
          <p:cNvSpPr>
            <a:spLocks noGrp="1"/>
          </p:cNvSpPr>
          <p:nvPr>
            <p:ph type="dt" sz="half" idx="10"/>
          </p:nvPr>
        </p:nvSpPr>
        <p:spPr/>
        <p:txBody>
          <a:bodyPr/>
          <a:lstStyle/>
          <a:p>
            <a:fld id="{BD8BE879-8D6E-4DDC-AA59-A3B9F8BFCBCD}" type="datetime3">
              <a:rPr lang="en-US" smtClean="0"/>
              <a:t>22 November 2025</a:t>
            </a:fld>
            <a:endParaRPr lang="en-US"/>
          </a:p>
        </p:txBody>
      </p:sp>
      <p:sp>
        <p:nvSpPr>
          <p:cNvPr id="5" name="Footer Placeholder 4">
            <a:extLst>
              <a:ext uri="{FF2B5EF4-FFF2-40B4-BE49-F238E27FC236}">
                <a16:creationId xmlns:a16="http://schemas.microsoft.com/office/drawing/2014/main" id="{9C5F7A1D-EA37-4EF9-0305-3256E57819CA}"/>
              </a:ext>
            </a:extLst>
          </p:cNvPr>
          <p:cNvSpPr>
            <a:spLocks noGrp="1"/>
          </p:cNvSpPr>
          <p:nvPr>
            <p:ph type="ftr" sz="quarter" idx="11"/>
          </p:nvPr>
        </p:nvSpPr>
        <p:spPr/>
        <p:txBody>
          <a:bodyPr/>
          <a:lstStyle/>
          <a:p>
            <a:r>
              <a:rPr lang="en-US"/>
              <a:t>York Region Crime Analysis</a:t>
            </a:r>
          </a:p>
        </p:txBody>
      </p:sp>
      <p:sp>
        <p:nvSpPr>
          <p:cNvPr id="6" name="Slide Number Placeholder 5">
            <a:extLst>
              <a:ext uri="{FF2B5EF4-FFF2-40B4-BE49-F238E27FC236}">
                <a16:creationId xmlns:a16="http://schemas.microsoft.com/office/drawing/2014/main" id="{28A119E3-EFD2-5206-B5E5-B2EBA2CA2071}"/>
              </a:ext>
            </a:extLst>
          </p:cNvPr>
          <p:cNvSpPr>
            <a:spLocks noGrp="1"/>
          </p:cNvSpPr>
          <p:nvPr>
            <p:ph type="sldNum" sz="quarter" idx="12"/>
          </p:nvPr>
        </p:nvSpPr>
        <p:spPr/>
        <p:txBody>
          <a:bodyPr/>
          <a:lstStyle/>
          <a:p>
            <a:fld id="{C1FF6DA9-008F-8B48-92A6-B652298478BF}" type="slidenum">
              <a:rPr lang="en-US" smtClean="0"/>
              <a:t>8</a:t>
            </a:fld>
            <a:endParaRPr lang="en-US"/>
          </a:p>
        </p:txBody>
      </p:sp>
      <p:pic>
        <p:nvPicPr>
          <p:cNvPr id="8" name="Picture 2" descr="York Regional Police Graphic Logo">
            <a:extLst>
              <a:ext uri="{FF2B5EF4-FFF2-40B4-BE49-F238E27FC236}">
                <a16:creationId xmlns:a16="http://schemas.microsoft.com/office/drawing/2014/main" id="{8EE0E29D-1913-0A68-CFF8-2873111076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4863"/>
            <a:ext cx="709766" cy="100012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2932" y="274321"/>
            <a:ext cx="10486140" cy="769441"/>
          </a:xfrm>
          <a:prstGeom prst="rect">
            <a:avLst/>
          </a:prstGeom>
          <a:noFill/>
        </p:spPr>
        <p:txBody>
          <a:bodyPr wrap="none">
            <a:spAutoFit/>
          </a:bodyPr>
          <a:lstStyle/>
          <a:p>
            <a:pPr algn="ctr">
              <a:defRPr sz="2400" b="1"/>
            </a:pPr>
            <a:r>
              <a:rPr sz="4400" dirty="0">
                <a:latin typeface="Times New Roman" panose="02020603050405020304" pitchFamily="18" charset="0"/>
                <a:cs typeface="Times New Roman" panose="02020603050405020304" pitchFamily="18" charset="0"/>
              </a:rPr>
              <a:t>Yearly Crime Trends &amp; The 2024 Anomaly</a:t>
            </a:r>
          </a:p>
        </p:txBody>
      </p:sp>
      <p:pic>
        <p:nvPicPr>
          <p:cNvPr id="4" name="Picture 3" descr="image.png"/>
          <p:cNvPicPr>
            <a:picLocks noChangeAspect="1"/>
          </p:cNvPicPr>
          <p:nvPr/>
        </p:nvPicPr>
        <p:blipFill>
          <a:blip r:embed="rId3"/>
          <a:stretch>
            <a:fillRect/>
          </a:stretch>
        </p:blipFill>
        <p:spPr>
          <a:xfrm>
            <a:off x="585786" y="1185823"/>
            <a:ext cx="5657697" cy="3306486"/>
          </a:xfrm>
          <a:prstGeom prst="rect">
            <a:avLst/>
          </a:prstGeom>
        </p:spPr>
      </p:pic>
      <p:pic>
        <p:nvPicPr>
          <p:cNvPr id="5" name="Picture 4" descr="image.png"/>
          <p:cNvPicPr>
            <a:picLocks noChangeAspect="1"/>
          </p:cNvPicPr>
          <p:nvPr/>
        </p:nvPicPr>
        <p:blipFill>
          <a:blip r:embed="rId4"/>
          <a:stretch>
            <a:fillRect/>
          </a:stretch>
        </p:blipFill>
        <p:spPr>
          <a:xfrm>
            <a:off x="5785930" y="1185823"/>
            <a:ext cx="5796470" cy="3306486"/>
          </a:xfrm>
          <a:prstGeom prst="rect">
            <a:avLst/>
          </a:prstGeom>
        </p:spPr>
      </p:pic>
      <p:sp>
        <p:nvSpPr>
          <p:cNvPr id="6" name="TextBox 5"/>
          <p:cNvSpPr txBox="1"/>
          <p:nvPr/>
        </p:nvSpPr>
        <p:spPr>
          <a:xfrm>
            <a:off x="2860121" y="4685690"/>
            <a:ext cx="6471757" cy="1703030"/>
          </a:xfrm>
          <a:prstGeom prst="rect">
            <a:avLst/>
          </a:prstGeom>
          <a:noFill/>
        </p:spPr>
        <p:txBody>
          <a:bodyPr wrap="square">
            <a:spAutoFit/>
          </a:bodyPr>
          <a:lstStyle/>
          <a:p>
            <a:pPr>
              <a:spcAft>
                <a:spcPts val="800"/>
              </a:spcAft>
              <a:defRPr sz="1400" b="1"/>
            </a:pPr>
            <a:r>
              <a:rPr sz="2400" dirty="0">
                <a:latin typeface="Times New Roman" panose="02020603050405020304" pitchFamily="18" charset="0"/>
                <a:cs typeface="Times New Roman" panose="02020603050405020304" pitchFamily="18" charset="0"/>
              </a:rPr>
              <a:t>Key Insights</a:t>
            </a:r>
          </a:p>
          <a:p>
            <a:pPr marL="285750" indent="-285750">
              <a:spcAft>
                <a:spcPts val="400"/>
              </a:spcAft>
              <a:buFont typeface="Arial" panose="020B0604020202020204" pitchFamily="34" charset="0"/>
              <a:buChar char="•"/>
              <a:defRPr sz="1000" b="1">
                <a:solidFill>
                  <a:srgbClr val="B22222"/>
                </a:solidFill>
              </a:defRPr>
            </a:pPr>
            <a:r>
              <a:rPr sz="1600" dirty="0">
                <a:latin typeface="Times New Roman" panose="02020603050405020304" pitchFamily="18" charset="0"/>
                <a:cs typeface="Times New Roman" panose="02020603050405020304" pitchFamily="18" charset="0"/>
              </a:rPr>
              <a:t>2024 ANOMALY: 89.5% spike (9</a:t>
            </a:r>
            <a:r>
              <a:rPr lang="en-CA" sz="1600" dirty="0">
                <a:latin typeface="Times New Roman" panose="02020603050405020304" pitchFamily="18" charset="0"/>
                <a:cs typeface="Times New Roman" panose="02020603050405020304" pitchFamily="18" charset="0"/>
              </a:rPr>
              <a:t>5</a:t>
            </a:r>
            <a:r>
              <a:rPr sz="1600" dirty="0">
                <a:latin typeface="Times New Roman" panose="02020603050405020304" pitchFamily="18" charset="0"/>
                <a:cs typeface="Times New Roman" panose="02020603050405020304" pitchFamily="18" charset="0"/>
              </a:rPr>
              <a:t>,150 crimes) requires investigation</a:t>
            </a:r>
          </a:p>
          <a:p>
            <a:pPr marL="285750" indent="-285750">
              <a:spcAft>
                <a:spcPts val="400"/>
              </a:spcAft>
              <a:buFont typeface="Arial" panose="020B0604020202020204" pitchFamily="34" charset="0"/>
              <a:buChar char="•"/>
              <a:defRPr sz="1000"/>
            </a:pPr>
            <a:r>
              <a:rPr sz="1600" dirty="0">
                <a:latin typeface="Times New Roman" panose="02020603050405020304" pitchFamily="18" charset="0"/>
                <a:cs typeface="Times New Roman" panose="02020603050405020304" pitchFamily="18" charset="0"/>
              </a:rPr>
              <a:t>2025 shows 56.7% correction, suggesting 2024 may be outlier</a:t>
            </a:r>
          </a:p>
          <a:p>
            <a:pPr marL="285750" indent="-285750">
              <a:spcAft>
                <a:spcPts val="400"/>
              </a:spcAft>
              <a:buFont typeface="Arial" panose="020B0604020202020204" pitchFamily="34" charset="0"/>
              <a:buChar char="•"/>
              <a:defRPr sz="1000"/>
            </a:pPr>
            <a:r>
              <a:rPr sz="1600" dirty="0">
                <a:latin typeface="Times New Roman" panose="02020603050405020304" pitchFamily="18" charset="0"/>
                <a:cs typeface="Times New Roman" panose="02020603050405020304" pitchFamily="18" charset="0"/>
              </a:rPr>
              <a:t>Different crime types show varying growth patterns</a:t>
            </a:r>
          </a:p>
          <a:p>
            <a:pPr marL="285750" indent="-285750">
              <a:spcAft>
                <a:spcPts val="400"/>
              </a:spcAft>
              <a:buFont typeface="Arial" panose="020B0604020202020204" pitchFamily="34" charset="0"/>
              <a:buChar char="•"/>
              <a:defRPr sz="1000"/>
            </a:pPr>
            <a:r>
              <a:rPr sz="1600" dirty="0">
                <a:latin typeface="Times New Roman" panose="02020603050405020304" pitchFamily="18" charset="0"/>
                <a:cs typeface="Times New Roman" panose="02020603050405020304" pitchFamily="18" charset="0"/>
              </a:rPr>
              <a:t>Property crimes dominate but all categories need monitoring</a:t>
            </a:r>
          </a:p>
        </p:txBody>
      </p:sp>
      <p:sp>
        <p:nvSpPr>
          <p:cNvPr id="2" name="Date Placeholder 1">
            <a:extLst>
              <a:ext uri="{FF2B5EF4-FFF2-40B4-BE49-F238E27FC236}">
                <a16:creationId xmlns:a16="http://schemas.microsoft.com/office/drawing/2014/main" id="{C7492FD9-C143-8FF3-0DD7-703F00C3D869}"/>
              </a:ext>
            </a:extLst>
          </p:cNvPr>
          <p:cNvSpPr>
            <a:spLocks noGrp="1"/>
          </p:cNvSpPr>
          <p:nvPr>
            <p:ph type="dt" sz="half" idx="10"/>
          </p:nvPr>
        </p:nvSpPr>
        <p:spPr/>
        <p:txBody>
          <a:bodyPr/>
          <a:lstStyle/>
          <a:p>
            <a:fld id="{8F2E84E4-C037-47D5-B6C3-F2E7CB7BC21C}" type="datetime3">
              <a:rPr lang="en-US" smtClean="0"/>
              <a:t>22 November 2025</a:t>
            </a:fld>
            <a:endParaRPr lang="en-US"/>
          </a:p>
        </p:txBody>
      </p:sp>
      <p:sp>
        <p:nvSpPr>
          <p:cNvPr id="8" name="Footer Placeholder 7">
            <a:extLst>
              <a:ext uri="{FF2B5EF4-FFF2-40B4-BE49-F238E27FC236}">
                <a16:creationId xmlns:a16="http://schemas.microsoft.com/office/drawing/2014/main" id="{55D70822-BC97-5D19-4EFB-9B2C4FE4367B}"/>
              </a:ext>
            </a:extLst>
          </p:cNvPr>
          <p:cNvSpPr>
            <a:spLocks noGrp="1"/>
          </p:cNvSpPr>
          <p:nvPr>
            <p:ph type="ftr" sz="quarter" idx="11"/>
          </p:nvPr>
        </p:nvSpPr>
        <p:spPr/>
        <p:txBody>
          <a:bodyPr/>
          <a:lstStyle/>
          <a:p>
            <a:r>
              <a:rPr lang="en-US"/>
              <a:t>York Region Crime Analysis</a:t>
            </a:r>
          </a:p>
        </p:txBody>
      </p:sp>
      <p:sp>
        <p:nvSpPr>
          <p:cNvPr id="9" name="Slide Number Placeholder 8">
            <a:extLst>
              <a:ext uri="{FF2B5EF4-FFF2-40B4-BE49-F238E27FC236}">
                <a16:creationId xmlns:a16="http://schemas.microsoft.com/office/drawing/2014/main" id="{0994362F-C101-E7FB-915B-475FE13676B8}"/>
              </a:ext>
            </a:extLst>
          </p:cNvPr>
          <p:cNvSpPr>
            <a:spLocks noGrp="1"/>
          </p:cNvSpPr>
          <p:nvPr>
            <p:ph type="sldNum" sz="quarter" idx="12"/>
          </p:nvPr>
        </p:nvSpPr>
        <p:spPr/>
        <p:txBody>
          <a:bodyPr/>
          <a:lstStyle/>
          <a:p>
            <a:fld id="{C1FF6DA9-008F-8B48-92A6-B652298478BF}" type="slidenum">
              <a:rPr lang="en-US" smtClean="0"/>
              <a:t>9</a:t>
            </a:fld>
            <a:endParaRPr lang="en-US"/>
          </a:p>
        </p:txBody>
      </p:sp>
      <p:pic>
        <p:nvPicPr>
          <p:cNvPr id="7" name="Picture 2" descr="York Regional Police Graphic Logo">
            <a:extLst>
              <a:ext uri="{FF2B5EF4-FFF2-40B4-BE49-F238E27FC236}">
                <a16:creationId xmlns:a16="http://schemas.microsoft.com/office/drawing/2014/main" id="{C3592371-718C-D738-EE08-FF7E359ABFA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 y="-4863"/>
            <a:ext cx="709766" cy="100012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83608D50-582B-A87C-D2C0-4F8F3EF95280}"/>
              </a:ext>
            </a:extLst>
          </p:cNvPr>
          <p:cNvPicPr>
            <a:picLocks noChangeAspect="1"/>
          </p:cNvPicPr>
          <p:nvPr/>
        </p:nvPicPr>
        <p:blipFill>
          <a:blip r:embed="rId3"/>
          <a:stretch>
            <a:fillRect/>
          </a:stretch>
        </p:blipFill>
        <p:spPr>
          <a:xfrm>
            <a:off x="485139" y="1174238"/>
            <a:ext cx="9060835" cy="5040566"/>
          </a:xfrm>
          <a:prstGeom prst="rect">
            <a:avLst/>
          </a:prstGeom>
        </p:spPr>
      </p:pic>
      <p:sp>
        <p:nvSpPr>
          <p:cNvPr id="3" name="TextBox 2"/>
          <p:cNvSpPr txBox="1"/>
          <p:nvPr/>
        </p:nvSpPr>
        <p:spPr>
          <a:xfrm>
            <a:off x="2043221" y="274321"/>
            <a:ext cx="8105552" cy="769441"/>
          </a:xfrm>
          <a:prstGeom prst="rect">
            <a:avLst/>
          </a:prstGeom>
          <a:noFill/>
        </p:spPr>
        <p:txBody>
          <a:bodyPr wrap="none">
            <a:spAutoFit/>
          </a:bodyPr>
          <a:lstStyle/>
          <a:p>
            <a:pPr algn="ctr">
              <a:defRPr sz="2400" b="1"/>
            </a:pPr>
            <a:r>
              <a:rPr sz="4400" dirty="0">
                <a:latin typeface="Times New Roman" panose="02020603050405020304" pitchFamily="18" charset="0"/>
                <a:cs typeface="Times New Roman" panose="02020603050405020304" pitchFamily="18" charset="0"/>
              </a:rPr>
              <a:t>Crime Forecasting</a:t>
            </a:r>
            <a:r>
              <a:rPr lang="en-CA" sz="4400" dirty="0">
                <a:latin typeface="Times New Roman" panose="02020603050405020304" pitchFamily="18" charset="0"/>
                <a:cs typeface="Times New Roman" panose="02020603050405020304" pitchFamily="18" charset="0"/>
              </a:rPr>
              <a:t> for 2025-2027</a:t>
            </a:r>
            <a:endParaRPr sz="4400"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3FC5F5DC-8931-AB72-AEDF-EC8688959A20}"/>
              </a:ext>
            </a:extLst>
          </p:cNvPr>
          <p:cNvSpPr>
            <a:spLocks noGrp="1"/>
          </p:cNvSpPr>
          <p:nvPr>
            <p:ph type="dt" sz="half" idx="10"/>
          </p:nvPr>
        </p:nvSpPr>
        <p:spPr/>
        <p:txBody>
          <a:bodyPr/>
          <a:lstStyle/>
          <a:p>
            <a:fld id="{CBC9BB95-92BC-4D92-9CE0-8E5213CCDBEE}" type="datetime3">
              <a:rPr lang="en-US" smtClean="0"/>
              <a:t>22 November 2025</a:t>
            </a:fld>
            <a:endParaRPr lang="en-US"/>
          </a:p>
        </p:txBody>
      </p:sp>
      <p:sp>
        <p:nvSpPr>
          <p:cNvPr id="8" name="Footer Placeholder 7">
            <a:extLst>
              <a:ext uri="{FF2B5EF4-FFF2-40B4-BE49-F238E27FC236}">
                <a16:creationId xmlns:a16="http://schemas.microsoft.com/office/drawing/2014/main" id="{0A563893-F4BD-2B2A-0D22-6C033DA46CFC}"/>
              </a:ext>
            </a:extLst>
          </p:cNvPr>
          <p:cNvSpPr>
            <a:spLocks noGrp="1"/>
          </p:cNvSpPr>
          <p:nvPr>
            <p:ph type="ftr" sz="quarter" idx="11"/>
          </p:nvPr>
        </p:nvSpPr>
        <p:spPr/>
        <p:txBody>
          <a:bodyPr/>
          <a:lstStyle/>
          <a:p>
            <a:r>
              <a:rPr lang="en-US"/>
              <a:t>York Region Crime Analysis</a:t>
            </a:r>
          </a:p>
        </p:txBody>
      </p:sp>
      <p:sp>
        <p:nvSpPr>
          <p:cNvPr id="9" name="Slide Number Placeholder 8">
            <a:extLst>
              <a:ext uri="{FF2B5EF4-FFF2-40B4-BE49-F238E27FC236}">
                <a16:creationId xmlns:a16="http://schemas.microsoft.com/office/drawing/2014/main" id="{BCFF3A01-7B57-12E6-FEAA-11E5068A483A}"/>
              </a:ext>
            </a:extLst>
          </p:cNvPr>
          <p:cNvSpPr>
            <a:spLocks noGrp="1"/>
          </p:cNvSpPr>
          <p:nvPr>
            <p:ph type="sldNum" sz="quarter" idx="12"/>
          </p:nvPr>
        </p:nvSpPr>
        <p:spPr/>
        <p:txBody>
          <a:bodyPr/>
          <a:lstStyle/>
          <a:p>
            <a:fld id="{C1FF6DA9-008F-8B48-92A6-B652298478BF}" type="slidenum">
              <a:rPr lang="en-US" smtClean="0"/>
              <a:t>10</a:t>
            </a:fld>
            <a:endParaRPr lang="en-US"/>
          </a:p>
        </p:txBody>
      </p:sp>
      <p:sp>
        <p:nvSpPr>
          <p:cNvPr id="12" name="TextBox 11">
            <a:extLst>
              <a:ext uri="{FF2B5EF4-FFF2-40B4-BE49-F238E27FC236}">
                <a16:creationId xmlns:a16="http://schemas.microsoft.com/office/drawing/2014/main" id="{5EDCC19D-6144-299A-ED37-CAF5E40770CD}"/>
              </a:ext>
            </a:extLst>
          </p:cNvPr>
          <p:cNvSpPr txBox="1"/>
          <p:nvPr/>
        </p:nvSpPr>
        <p:spPr>
          <a:xfrm>
            <a:off x="2014816" y="4697830"/>
            <a:ext cx="7230784" cy="1282402"/>
          </a:xfrm>
          <a:prstGeom prst="rect">
            <a:avLst/>
          </a:prstGeom>
          <a:noFill/>
        </p:spPr>
        <p:txBody>
          <a:bodyPr wrap="square">
            <a:spAutoFit/>
          </a:bodyPr>
          <a:lstStyle/>
          <a:p>
            <a:pPr>
              <a:spcAft>
                <a:spcPts val="800"/>
              </a:spcAft>
              <a:defRPr sz="1400" b="1"/>
            </a:pPr>
            <a:r>
              <a:rPr sz="1600" dirty="0">
                <a:latin typeface="Times New Roman" panose="02020603050405020304" pitchFamily="18" charset="0"/>
                <a:cs typeface="Times New Roman" panose="02020603050405020304" pitchFamily="18" charset="0"/>
              </a:rPr>
              <a:t>Continued decline through 2027 provides opportunity for targeted interventions</a:t>
            </a:r>
          </a:p>
          <a:p>
            <a:pPr>
              <a:spcAft>
                <a:spcPts val="400"/>
              </a:spcAft>
              <a:defRPr sz="1000"/>
            </a:pPr>
            <a:r>
              <a:rPr sz="1600" dirty="0">
                <a:latin typeface="Times New Roman" panose="02020603050405020304" pitchFamily="18" charset="0"/>
                <a:cs typeface="Times New Roman" panose="02020603050405020304" pitchFamily="18" charset="0"/>
              </a:rPr>
              <a:t>Priority: Focus resources on high-risk districts while trend is favorable</a:t>
            </a:r>
          </a:p>
          <a:p>
            <a:pPr>
              <a:spcAft>
                <a:spcPts val="400"/>
              </a:spcAft>
              <a:defRPr sz="1000"/>
            </a:pPr>
            <a:r>
              <a:rPr sz="1600" dirty="0">
                <a:latin typeface="Times New Roman" panose="02020603050405020304" pitchFamily="18" charset="0"/>
                <a:cs typeface="Times New Roman" panose="02020603050405020304" pitchFamily="18" charset="0"/>
              </a:rPr>
              <a:t>Action: Use forecasting to optimize patrol schedules and resource allocation</a:t>
            </a:r>
          </a:p>
          <a:p>
            <a:pPr>
              <a:spcAft>
                <a:spcPts val="400"/>
              </a:spcAft>
              <a:defRPr sz="1000"/>
            </a:pPr>
            <a:r>
              <a:rPr sz="1600" dirty="0">
                <a:latin typeface="Times New Roman" panose="02020603050405020304" pitchFamily="18" charset="0"/>
                <a:cs typeface="Times New Roman" panose="02020603050405020304" pitchFamily="18" charset="0"/>
              </a:rPr>
              <a:t>Confidence: Model based on 299,984 records, excluding 2024 outlier for accuracy</a:t>
            </a:r>
          </a:p>
        </p:txBody>
      </p:sp>
      <p:pic>
        <p:nvPicPr>
          <p:cNvPr id="4" name="Picture 2" descr="York Regional Police Graphic Logo">
            <a:extLst>
              <a:ext uri="{FF2B5EF4-FFF2-40B4-BE49-F238E27FC236}">
                <a16:creationId xmlns:a16="http://schemas.microsoft.com/office/drawing/2014/main" id="{A9BB1AC4-271E-3173-163B-1DB677AEACA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 y="-4863"/>
            <a:ext cx="709766" cy="100012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94AAA83-9ED5-FD08-1E07-70B0F9B10B54}"/>
              </a:ext>
            </a:extLst>
          </p:cNvPr>
          <p:cNvSpPr txBox="1"/>
          <p:nvPr/>
        </p:nvSpPr>
        <p:spPr>
          <a:xfrm>
            <a:off x="9611360" y="2026515"/>
            <a:ext cx="2397760" cy="3508653"/>
          </a:xfrm>
          <a:prstGeom prst="rect">
            <a:avLst/>
          </a:prstGeom>
          <a:noFill/>
        </p:spPr>
        <p:txBody>
          <a:bodyPr wrap="square">
            <a:spAutoFit/>
          </a:bodyPr>
          <a:lstStyle/>
          <a:p>
            <a:r>
              <a:rPr lang="en-CA" sz="2400" b="1" i="0" dirty="0">
                <a:solidFill>
                  <a:srgbClr val="0F1115"/>
                </a:solidFill>
                <a:effectLst/>
                <a:latin typeface="Times New Roman" panose="02020603050405020304" pitchFamily="18" charset="0"/>
                <a:cs typeface="Times New Roman" panose="02020603050405020304" pitchFamily="18" charset="0"/>
              </a:rPr>
              <a:t>Forecast Note:</a:t>
            </a:r>
          </a:p>
          <a:p>
            <a:r>
              <a:rPr lang="en-CA" b="0" i="0" dirty="0">
                <a:solidFill>
                  <a:srgbClr val="0F1115"/>
                </a:solidFill>
                <a:effectLst/>
                <a:latin typeface="Times New Roman" panose="02020603050405020304" pitchFamily="18" charset="0"/>
                <a:cs typeface="Times New Roman" panose="02020603050405020304" pitchFamily="18" charset="0"/>
              </a:rPr>
              <a:t>The 2024 data was excluded as an outlier caused by </a:t>
            </a:r>
            <a:r>
              <a:rPr lang="en-CA" b="1" dirty="0">
                <a:latin typeface="Times New Roman" panose="02020603050405020304" pitchFamily="18" charset="0"/>
                <a:cs typeface="Times New Roman" panose="02020603050405020304" pitchFamily="18" charset="0"/>
              </a:rPr>
              <a:t>a confluence of unique post-pandemic economic and social factors. </a:t>
            </a:r>
            <a:r>
              <a:rPr lang="en-CA" b="0" i="0" dirty="0">
                <a:solidFill>
                  <a:srgbClr val="0F1115"/>
                </a:solidFill>
                <a:effectLst/>
                <a:latin typeface="Times New Roman" panose="02020603050405020304" pitchFamily="18" charset="0"/>
                <a:cs typeface="Times New Roman" panose="02020603050405020304" pitchFamily="18" charset="0"/>
              </a:rPr>
              <a:t>The model is built on the stable 2016-2023 dataset to ensure a reliable strategic outlook.</a:t>
            </a:r>
            <a:endParaRPr lang="en-CA"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AB39E-61E3-6655-CFA3-85983031EF4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EC4D667-BF2D-D87D-0516-6E756AA83C6E}"/>
              </a:ext>
            </a:extLst>
          </p:cNvPr>
          <p:cNvSpPr txBox="1"/>
          <p:nvPr/>
        </p:nvSpPr>
        <p:spPr>
          <a:xfrm>
            <a:off x="1255134" y="274321"/>
            <a:ext cx="9681753" cy="769441"/>
          </a:xfrm>
          <a:prstGeom prst="rect">
            <a:avLst/>
          </a:prstGeom>
          <a:noFill/>
        </p:spPr>
        <p:txBody>
          <a:bodyPr wrap="none">
            <a:spAutoFit/>
          </a:bodyPr>
          <a:lstStyle/>
          <a:p>
            <a:pPr algn="ctr">
              <a:defRPr sz="2400" b="1"/>
            </a:pPr>
            <a:r>
              <a:rPr lang="en-US" sz="4400" b="1" dirty="0">
                <a:latin typeface="Times New Roman" panose="02020603050405020304" pitchFamily="18" charset="0"/>
                <a:cs typeface="Times New Roman" panose="02020603050405020304" pitchFamily="18" charset="0"/>
              </a:rPr>
              <a:t>2024-2025 Crime &amp; Operation Analysis</a:t>
            </a:r>
            <a:endParaRPr sz="44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FF74EA2D-6801-017E-7531-6293EBD2C69F}"/>
              </a:ext>
            </a:extLst>
          </p:cNvPr>
          <p:cNvSpPr>
            <a:spLocks noGrp="1"/>
          </p:cNvSpPr>
          <p:nvPr>
            <p:ph type="dt" sz="half" idx="10"/>
          </p:nvPr>
        </p:nvSpPr>
        <p:spPr/>
        <p:txBody>
          <a:bodyPr/>
          <a:lstStyle/>
          <a:p>
            <a:fld id="{75388C72-DCEA-4F37-A2BC-4ABC9B3FAAC9}" type="datetime3">
              <a:rPr lang="en-US" smtClean="0"/>
              <a:t>22 November 2025</a:t>
            </a:fld>
            <a:endParaRPr lang="en-US"/>
          </a:p>
        </p:txBody>
      </p:sp>
      <p:sp>
        <p:nvSpPr>
          <p:cNvPr id="8" name="Footer Placeholder 7">
            <a:extLst>
              <a:ext uri="{FF2B5EF4-FFF2-40B4-BE49-F238E27FC236}">
                <a16:creationId xmlns:a16="http://schemas.microsoft.com/office/drawing/2014/main" id="{ADE4F33C-E070-6AB7-C34C-4DB550A7B3EC}"/>
              </a:ext>
            </a:extLst>
          </p:cNvPr>
          <p:cNvSpPr>
            <a:spLocks noGrp="1"/>
          </p:cNvSpPr>
          <p:nvPr>
            <p:ph type="ftr" sz="quarter" idx="11"/>
          </p:nvPr>
        </p:nvSpPr>
        <p:spPr/>
        <p:txBody>
          <a:bodyPr/>
          <a:lstStyle/>
          <a:p>
            <a:r>
              <a:rPr lang="en-US"/>
              <a:t>York Region Crime Analysis</a:t>
            </a:r>
          </a:p>
        </p:txBody>
      </p:sp>
      <p:sp>
        <p:nvSpPr>
          <p:cNvPr id="9" name="Slide Number Placeholder 8">
            <a:extLst>
              <a:ext uri="{FF2B5EF4-FFF2-40B4-BE49-F238E27FC236}">
                <a16:creationId xmlns:a16="http://schemas.microsoft.com/office/drawing/2014/main" id="{E3F206A1-8531-597C-0FE4-D5B6D9AAE630}"/>
              </a:ext>
            </a:extLst>
          </p:cNvPr>
          <p:cNvSpPr>
            <a:spLocks noGrp="1"/>
          </p:cNvSpPr>
          <p:nvPr>
            <p:ph type="sldNum" sz="quarter" idx="12"/>
          </p:nvPr>
        </p:nvSpPr>
        <p:spPr/>
        <p:txBody>
          <a:bodyPr/>
          <a:lstStyle/>
          <a:p>
            <a:fld id="{C1FF6DA9-008F-8B48-92A6-B652298478BF}" type="slidenum">
              <a:rPr lang="en-US" smtClean="0"/>
              <a:t>11</a:t>
            </a:fld>
            <a:endParaRPr lang="en-US"/>
          </a:p>
        </p:txBody>
      </p:sp>
      <p:pic>
        <p:nvPicPr>
          <p:cNvPr id="7" name="Picture 2" descr="York Regional Police Graphic Logo">
            <a:extLst>
              <a:ext uri="{FF2B5EF4-FFF2-40B4-BE49-F238E27FC236}">
                <a16:creationId xmlns:a16="http://schemas.microsoft.com/office/drawing/2014/main" id="{36A29D20-6F05-F766-FBEE-F2A2C60C11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4863"/>
            <a:ext cx="709766" cy="100012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1" name="Picture 10">
            <a:extLst>
              <a:ext uri="{FF2B5EF4-FFF2-40B4-BE49-F238E27FC236}">
                <a16:creationId xmlns:a16="http://schemas.microsoft.com/office/drawing/2014/main" id="{4798880E-2AB2-35A0-CAA2-38E319BBDD96}"/>
              </a:ext>
            </a:extLst>
          </p:cNvPr>
          <p:cNvPicPr>
            <a:picLocks noChangeAspect="1"/>
          </p:cNvPicPr>
          <p:nvPr/>
        </p:nvPicPr>
        <p:blipFill>
          <a:blip r:embed="rId4"/>
          <a:stretch>
            <a:fillRect/>
          </a:stretch>
        </p:blipFill>
        <p:spPr>
          <a:xfrm>
            <a:off x="2001533" y="1043762"/>
            <a:ext cx="8188933" cy="5814238"/>
          </a:xfrm>
          <a:prstGeom prst="rect">
            <a:avLst/>
          </a:prstGeom>
        </p:spPr>
      </p:pic>
    </p:spTree>
    <p:extLst>
      <p:ext uri="{BB962C8B-B14F-4D97-AF65-F5344CB8AC3E}">
        <p14:creationId xmlns:p14="http://schemas.microsoft.com/office/powerpoint/2010/main" val="35719903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D4BC3-CCA2-27CF-88B2-9DB63B32CED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152CCE0-ADF1-FA1F-328A-A1C2E33FDD2F}"/>
              </a:ext>
            </a:extLst>
          </p:cNvPr>
          <p:cNvSpPr txBox="1"/>
          <p:nvPr/>
        </p:nvSpPr>
        <p:spPr>
          <a:xfrm>
            <a:off x="2571635" y="274321"/>
            <a:ext cx="7048724" cy="769441"/>
          </a:xfrm>
          <a:prstGeom prst="rect">
            <a:avLst/>
          </a:prstGeom>
          <a:noFill/>
        </p:spPr>
        <p:txBody>
          <a:bodyPr wrap="none">
            <a:spAutoFit/>
          </a:bodyPr>
          <a:lstStyle/>
          <a:p>
            <a:pPr algn="ctr">
              <a:defRPr sz="2400" b="1"/>
            </a:pPr>
            <a:r>
              <a:rPr sz="4400" dirty="0">
                <a:latin typeface="Times New Roman" panose="02020603050405020304" pitchFamily="18" charset="0"/>
                <a:cs typeface="Times New Roman" panose="02020603050405020304" pitchFamily="18" charset="0"/>
              </a:rPr>
              <a:t>Strategic Outlook 2025-2027</a:t>
            </a:r>
          </a:p>
        </p:txBody>
      </p:sp>
      <p:pic>
        <p:nvPicPr>
          <p:cNvPr id="5" name="Picture 4" descr="image.png">
            <a:extLst>
              <a:ext uri="{FF2B5EF4-FFF2-40B4-BE49-F238E27FC236}">
                <a16:creationId xmlns:a16="http://schemas.microsoft.com/office/drawing/2014/main" id="{0FFDC3BD-5B68-8EC1-B910-FCB45FA8216B}"/>
              </a:ext>
            </a:extLst>
          </p:cNvPr>
          <p:cNvPicPr>
            <a:picLocks noChangeAspect="1"/>
          </p:cNvPicPr>
          <p:nvPr/>
        </p:nvPicPr>
        <p:blipFill>
          <a:blip r:embed="rId3"/>
          <a:stretch>
            <a:fillRect/>
          </a:stretch>
        </p:blipFill>
        <p:spPr>
          <a:xfrm>
            <a:off x="2452518" y="1092262"/>
            <a:ext cx="7334994" cy="5312589"/>
          </a:xfrm>
          <a:prstGeom prst="rect">
            <a:avLst/>
          </a:prstGeom>
        </p:spPr>
      </p:pic>
      <p:sp>
        <p:nvSpPr>
          <p:cNvPr id="6" name="TextBox 5">
            <a:extLst>
              <a:ext uri="{FF2B5EF4-FFF2-40B4-BE49-F238E27FC236}">
                <a16:creationId xmlns:a16="http://schemas.microsoft.com/office/drawing/2014/main" id="{A16B85F8-47EF-2855-D07E-D487987260F2}"/>
              </a:ext>
            </a:extLst>
          </p:cNvPr>
          <p:cNvSpPr txBox="1"/>
          <p:nvPr/>
        </p:nvSpPr>
        <p:spPr>
          <a:xfrm>
            <a:off x="5480198" y="2064775"/>
            <a:ext cx="3860800" cy="1446550"/>
          </a:xfrm>
          <a:prstGeom prst="rect">
            <a:avLst/>
          </a:prstGeom>
          <a:noFill/>
        </p:spPr>
        <p:txBody>
          <a:bodyPr wrap="square">
            <a:spAutoFit/>
          </a:bodyPr>
          <a:lstStyle/>
          <a:p>
            <a:pPr>
              <a:spcAft>
                <a:spcPts val="800"/>
              </a:spcAft>
              <a:defRPr sz="1400" b="1"/>
            </a:pPr>
            <a:r>
              <a:rPr lang="en-CA" b="1" dirty="0">
                <a:latin typeface="Times New Roman" panose="02020603050405020304" pitchFamily="18" charset="0"/>
                <a:cs typeface="Times New Roman" panose="02020603050405020304" pitchFamily="18" charset="0"/>
              </a:rPr>
              <a:t>Turning Data into a Strategic Advantage</a:t>
            </a:r>
            <a:endParaRPr sz="1600" dirty="0">
              <a:latin typeface="Times New Roman" panose="02020603050405020304" pitchFamily="18" charset="0"/>
              <a:cs typeface="Times New Roman" panose="02020603050405020304" pitchFamily="18" charset="0"/>
            </a:endParaRPr>
          </a:p>
          <a:p>
            <a:pPr marL="285750" indent="-285750">
              <a:spcAft>
                <a:spcPts val="400"/>
              </a:spcAft>
              <a:buFont typeface="Arial" panose="020B0604020202020204" pitchFamily="34" charset="0"/>
              <a:buChar char="•"/>
              <a:defRPr sz="1000"/>
            </a:pPr>
            <a:r>
              <a:rPr sz="1600" b="1" dirty="0">
                <a:latin typeface="Times New Roman" panose="02020603050405020304" pitchFamily="18" charset="0"/>
                <a:cs typeface="Times New Roman" panose="02020603050405020304" pitchFamily="18" charset="0"/>
              </a:rPr>
              <a:t>Priority: </a:t>
            </a:r>
            <a:r>
              <a:rPr sz="1600" dirty="0">
                <a:latin typeface="Times New Roman" panose="02020603050405020304" pitchFamily="18" charset="0"/>
                <a:cs typeface="Times New Roman" panose="02020603050405020304" pitchFamily="18" charset="0"/>
              </a:rPr>
              <a:t>Focus resources on high-risk districts while trend is favorable</a:t>
            </a:r>
          </a:p>
          <a:p>
            <a:pPr marL="285750" indent="-285750">
              <a:spcAft>
                <a:spcPts val="400"/>
              </a:spcAft>
              <a:buFont typeface="Arial" panose="020B0604020202020204" pitchFamily="34" charset="0"/>
              <a:buChar char="•"/>
              <a:defRPr sz="1000"/>
            </a:pPr>
            <a:r>
              <a:rPr sz="1600" b="1" dirty="0">
                <a:latin typeface="Times New Roman" panose="02020603050405020304" pitchFamily="18" charset="0"/>
                <a:cs typeface="Times New Roman" panose="02020603050405020304" pitchFamily="18" charset="0"/>
              </a:rPr>
              <a:t>Action: </a:t>
            </a:r>
            <a:r>
              <a:rPr sz="1600" dirty="0">
                <a:latin typeface="Times New Roman" panose="02020603050405020304" pitchFamily="18" charset="0"/>
                <a:cs typeface="Times New Roman" panose="02020603050405020304" pitchFamily="18" charset="0"/>
              </a:rPr>
              <a:t>Use forecasting to optimize patrol schedules and resource allocation</a:t>
            </a:r>
          </a:p>
        </p:txBody>
      </p:sp>
      <p:sp>
        <p:nvSpPr>
          <p:cNvPr id="2" name="Date Placeholder 1">
            <a:extLst>
              <a:ext uri="{FF2B5EF4-FFF2-40B4-BE49-F238E27FC236}">
                <a16:creationId xmlns:a16="http://schemas.microsoft.com/office/drawing/2014/main" id="{604AD745-399B-0E06-346A-A04F90C0D188}"/>
              </a:ext>
            </a:extLst>
          </p:cNvPr>
          <p:cNvSpPr>
            <a:spLocks noGrp="1"/>
          </p:cNvSpPr>
          <p:nvPr>
            <p:ph type="dt" sz="half" idx="10"/>
          </p:nvPr>
        </p:nvSpPr>
        <p:spPr/>
        <p:txBody>
          <a:bodyPr/>
          <a:lstStyle/>
          <a:p>
            <a:fld id="{CF0160F9-68E2-47DE-BD2D-9F8B2C0C2841}" type="datetime3">
              <a:rPr lang="en-US" smtClean="0"/>
              <a:t>22 November 2025</a:t>
            </a:fld>
            <a:endParaRPr lang="en-US"/>
          </a:p>
        </p:txBody>
      </p:sp>
      <p:sp>
        <p:nvSpPr>
          <p:cNvPr id="8" name="Footer Placeholder 7">
            <a:extLst>
              <a:ext uri="{FF2B5EF4-FFF2-40B4-BE49-F238E27FC236}">
                <a16:creationId xmlns:a16="http://schemas.microsoft.com/office/drawing/2014/main" id="{EE1190D1-4271-59EE-4EFD-5D9B96321D6A}"/>
              </a:ext>
            </a:extLst>
          </p:cNvPr>
          <p:cNvSpPr>
            <a:spLocks noGrp="1"/>
          </p:cNvSpPr>
          <p:nvPr>
            <p:ph type="ftr" sz="quarter" idx="11"/>
          </p:nvPr>
        </p:nvSpPr>
        <p:spPr/>
        <p:txBody>
          <a:bodyPr/>
          <a:lstStyle/>
          <a:p>
            <a:r>
              <a:rPr lang="en-US"/>
              <a:t>York Region Crime Analysis</a:t>
            </a:r>
          </a:p>
        </p:txBody>
      </p:sp>
      <p:sp>
        <p:nvSpPr>
          <p:cNvPr id="9" name="Slide Number Placeholder 8">
            <a:extLst>
              <a:ext uri="{FF2B5EF4-FFF2-40B4-BE49-F238E27FC236}">
                <a16:creationId xmlns:a16="http://schemas.microsoft.com/office/drawing/2014/main" id="{358E7F26-3A73-9A6D-9C58-A021EDD5DC9D}"/>
              </a:ext>
            </a:extLst>
          </p:cNvPr>
          <p:cNvSpPr>
            <a:spLocks noGrp="1"/>
          </p:cNvSpPr>
          <p:nvPr>
            <p:ph type="sldNum" sz="quarter" idx="12"/>
          </p:nvPr>
        </p:nvSpPr>
        <p:spPr/>
        <p:txBody>
          <a:bodyPr/>
          <a:lstStyle/>
          <a:p>
            <a:fld id="{C1FF6DA9-008F-8B48-92A6-B652298478BF}" type="slidenum">
              <a:rPr lang="en-US" smtClean="0"/>
              <a:t>12</a:t>
            </a:fld>
            <a:endParaRPr lang="en-US"/>
          </a:p>
        </p:txBody>
      </p:sp>
      <p:pic>
        <p:nvPicPr>
          <p:cNvPr id="7" name="Picture 2" descr="York Regional Police Graphic Logo">
            <a:extLst>
              <a:ext uri="{FF2B5EF4-FFF2-40B4-BE49-F238E27FC236}">
                <a16:creationId xmlns:a16="http://schemas.microsoft.com/office/drawing/2014/main" id="{76230B24-0FF2-70E0-D560-B5C290EC61C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 y="-4863"/>
            <a:ext cx="709766" cy="100012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44712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8010F-E683-8300-2DFD-F694799A7E3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8F44E38-60E0-A009-1222-2DCBC90A4EB7}"/>
              </a:ext>
            </a:extLst>
          </p:cNvPr>
          <p:cNvSpPr txBox="1"/>
          <p:nvPr/>
        </p:nvSpPr>
        <p:spPr>
          <a:xfrm>
            <a:off x="2290658" y="274321"/>
            <a:ext cx="7610673" cy="769441"/>
          </a:xfrm>
          <a:prstGeom prst="rect">
            <a:avLst/>
          </a:prstGeom>
          <a:noFill/>
        </p:spPr>
        <p:txBody>
          <a:bodyPr wrap="none">
            <a:spAutoFit/>
          </a:bodyPr>
          <a:lstStyle/>
          <a:p>
            <a:pPr algn="ctr">
              <a:defRPr sz="2400" b="1"/>
            </a:pPr>
            <a:r>
              <a:rPr lang="en-US" sz="4400" b="1" dirty="0">
                <a:latin typeface="Times New Roman" panose="02020603050405020304" pitchFamily="18" charset="0"/>
                <a:cs typeface="Times New Roman" panose="02020603050405020304" pitchFamily="18" charset="0"/>
              </a:rPr>
              <a:t>District-Level Risk Assessment</a:t>
            </a:r>
            <a:endParaRPr sz="44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FF231BB3-8EAB-C134-AFE3-B980B19F048B}"/>
              </a:ext>
            </a:extLst>
          </p:cNvPr>
          <p:cNvSpPr>
            <a:spLocks noGrp="1"/>
          </p:cNvSpPr>
          <p:nvPr>
            <p:ph type="dt" sz="half" idx="10"/>
          </p:nvPr>
        </p:nvSpPr>
        <p:spPr/>
        <p:txBody>
          <a:bodyPr/>
          <a:lstStyle/>
          <a:p>
            <a:fld id="{75388C72-DCEA-4F37-A2BC-4ABC9B3FAAC9}" type="datetime3">
              <a:rPr lang="en-US" smtClean="0"/>
              <a:t>22 November 2025</a:t>
            </a:fld>
            <a:endParaRPr lang="en-US"/>
          </a:p>
        </p:txBody>
      </p:sp>
      <p:sp>
        <p:nvSpPr>
          <p:cNvPr id="8" name="Footer Placeholder 7">
            <a:extLst>
              <a:ext uri="{FF2B5EF4-FFF2-40B4-BE49-F238E27FC236}">
                <a16:creationId xmlns:a16="http://schemas.microsoft.com/office/drawing/2014/main" id="{82FA1141-D053-068D-2EE3-CBE7E6059A7E}"/>
              </a:ext>
            </a:extLst>
          </p:cNvPr>
          <p:cNvSpPr>
            <a:spLocks noGrp="1"/>
          </p:cNvSpPr>
          <p:nvPr>
            <p:ph type="ftr" sz="quarter" idx="11"/>
          </p:nvPr>
        </p:nvSpPr>
        <p:spPr/>
        <p:txBody>
          <a:bodyPr/>
          <a:lstStyle/>
          <a:p>
            <a:r>
              <a:rPr lang="en-US"/>
              <a:t>York Region Crime Analysis</a:t>
            </a:r>
          </a:p>
        </p:txBody>
      </p:sp>
      <p:sp>
        <p:nvSpPr>
          <p:cNvPr id="9" name="Slide Number Placeholder 8">
            <a:extLst>
              <a:ext uri="{FF2B5EF4-FFF2-40B4-BE49-F238E27FC236}">
                <a16:creationId xmlns:a16="http://schemas.microsoft.com/office/drawing/2014/main" id="{01FA18AB-B682-7A0C-C2FC-ADF0B51CAB3C}"/>
              </a:ext>
            </a:extLst>
          </p:cNvPr>
          <p:cNvSpPr>
            <a:spLocks noGrp="1"/>
          </p:cNvSpPr>
          <p:nvPr>
            <p:ph type="sldNum" sz="quarter" idx="12"/>
          </p:nvPr>
        </p:nvSpPr>
        <p:spPr/>
        <p:txBody>
          <a:bodyPr/>
          <a:lstStyle/>
          <a:p>
            <a:fld id="{C1FF6DA9-008F-8B48-92A6-B652298478BF}" type="slidenum">
              <a:rPr lang="en-US" smtClean="0"/>
              <a:t>13</a:t>
            </a:fld>
            <a:endParaRPr lang="en-US"/>
          </a:p>
        </p:txBody>
      </p:sp>
      <p:pic>
        <p:nvPicPr>
          <p:cNvPr id="7" name="Picture 2" descr="York Regional Police Graphic Logo">
            <a:extLst>
              <a:ext uri="{FF2B5EF4-FFF2-40B4-BE49-F238E27FC236}">
                <a16:creationId xmlns:a16="http://schemas.microsoft.com/office/drawing/2014/main" id="{416E6A6E-EA06-F5AA-AB45-8394B5A1EB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4863"/>
            <a:ext cx="709766" cy="100012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4" name="Picture 3">
            <a:extLst>
              <a:ext uri="{FF2B5EF4-FFF2-40B4-BE49-F238E27FC236}">
                <a16:creationId xmlns:a16="http://schemas.microsoft.com/office/drawing/2014/main" id="{CAE28D62-433F-BC4A-B6C7-E912C3399CBA}"/>
              </a:ext>
            </a:extLst>
          </p:cNvPr>
          <p:cNvPicPr>
            <a:picLocks noChangeAspect="1"/>
          </p:cNvPicPr>
          <p:nvPr/>
        </p:nvPicPr>
        <p:blipFill>
          <a:blip r:embed="rId4"/>
          <a:stretch>
            <a:fillRect/>
          </a:stretch>
        </p:blipFill>
        <p:spPr>
          <a:xfrm>
            <a:off x="2412855" y="1043762"/>
            <a:ext cx="7366277" cy="5303718"/>
          </a:xfrm>
          <a:prstGeom prst="rect">
            <a:avLst/>
          </a:prstGeom>
        </p:spPr>
      </p:pic>
    </p:spTree>
    <p:extLst>
      <p:ext uri="{BB962C8B-B14F-4D97-AF65-F5344CB8AC3E}">
        <p14:creationId xmlns:p14="http://schemas.microsoft.com/office/powerpoint/2010/main" val="25498437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411613" y="228750"/>
            <a:ext cx="5368777" cy="1938992"/>
          </a:xfrm>
          <a:prstGeom prst="rect">
            <a:avLst/>
          </a:prstGeom>
          <a:noFill/>
        </p:spPr>
        <p:txBody>
          <a:bodyPr wrap="none">
            <a:spAutoFit/>
          </a:bodyPr>
          <a:lstStyle/>
          <a:p>
            <a:pPr algn="ctr">
              <a:defRPr sz="2400" b="1"/>
            </a:pPr>
            <a:r>
              <a:rPr lang="en-CA" sz="4400" b="1" dirty="0">
                <a:latin typeface="Times New Roman" panose="02020603050405020304" pitchFamily="18" charset="0"/>
                <a:cs typeface="Times New Roman" panose="02020603050405020304" pitchFamily="18" charset="0"/>
              </a:rPr>
              <a:t>Emergency Priority</a:t>
            </a:r>
          </a:p>
          <a:p>
            <a:pPr algn="ctr">
              <a:defRPr sz="2400" b="1"/>
            </a:pPr>
            <a:r>
              <a:rPr lang="en-CA" sz="3200" b="1" dirty="0">
                <a:latin typeface="Times New Roman" panose="02020603050405020304" pitchFamily="18" charset="0"/>
                <a:cs typeface="Times New Roman" panose="02020603050405020304" pitchFamily="18" charset="0"/>
              </a:rPr>
              <a:t> </a:t>
            </a:r>
            <a:r>
              <a:rPr lang="en-CA" sz="2400" b="1" dirty="0">
                <a:latin typeface="Times New Roman" panose="02020603050405020304" pitchFamily="18" charset="0"/>
                <a:cs typeface="Times New Roman" panose="02020603050405020304" pitchFamily="18" charset="0"/>
              </a:rPr>
              <a:t>DISTRICT 4 - VAUGHAN STATION</a:t>
            </a:r>
            <a:endParaRPr lang="en-CA" sz="3600" b="1" dirty="0">
              <a:latin typeface="Times New Roman" panose="02020603050405020304" pitchFamily="18" charset="0"/>
              <a:cs typeface="Times New Roman" panose="02020603050405020304" pitchFamily="18" charset="0"/>
            </a:endParaRPr>
          </a:p>
          <a:p>
            <a:pPr algn="ctr">
              <a:defRPr sz="2400" b="1"/>
            </a:pPr>
            <a:endParaRPr sz="4400"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71C46C43-32F9-D577-50BA-A3E7B26C288B}"/>
              </a:ext>
            </a:extLst>
          </p:cNvPr>
          <p:cNvSpPr>
            <a:spLocks noGrp="1"/>
          </p:cNvSpPr>
          <p:nvPr>
            <p:ph type="dt" sz="half" idx="10"/>
          </p:nvPr>
        </p:nvSpPr>
        <p:spPr/>
        <p:txBody>
          <a:bodyPr/>
          <a:lstStyle/>
          <a:p>
            <a:fld id="{BA706BCD-FDEB-4901-86A6-185C1230EA20}" type="datetime3">
              <a:rPr lang="en-US" smtClean="0"/>
              <a:t>22 November 2025</a:t>
            </a:fld>
            <a:endParaRPr lang="en-US"/>
          </a:p>
        </p:txBody>
      </p:sp>
      <p:sp>
        <p:nvSpPr>
          <p:cNvPr id="9" name="Footer Placeholder 8">
            <a:extLst>
              <a:ext uri="{FF2B5EF4-FFF2-40B4-BE49-F238E27FC236}">
                <a16:creationId xmlns:a16="http://schemas.microsoft.com/office/drawing/2014/main" id="{ECFBC5DD-1A5B-9C97-136B-83C37D985849}"/>
              </a:ext>
            </a:extLst>
          </p:cNvPr>
          <p:cNvSpPr>
            <a:spLocks noGrp="1"/>
          </p:cNvSpPr>
          <p:nvPr>
            <p:ph type="ftr" sz="quarter" idx="11"/>
          </p:nvPr>
        </p:nvSpPr>
        <p:spPr/>
        <p:txBody>
          <a:bodyPr/>
          <a:lstStyle/>
          <a:p>
            <a:r>
              <a:rPr lang="en-US"/>
              <a:t>York Region Crime Analysis</a:t>
            </a:r>
          </a:p>
        </p:txBody>
      </p:sp>
      <p:sp>
        <p:nvSpPr>
          <p:cNvPr id="10" name="Slide Number Placeholder 9">
            <a:extLst>
              <a:ext uri="{FF2B5EF4-FFF2-40B4-BE49-F238E27FC236}">
                <a16:creationId xmlns:a16="http://schemas.microsoft.com/office/drawing/2014/main" id="{AFB402C9-8205-A9F1-6EDD-1BB1531D7B98}"/>
              </a:ext>
            </a:extLst>
          </p:cNvPr>
          <p:cNvSpPr>
            <a:spLocks noGrp="1"/>
          </p:cNvSpPr>
          <p:nvPr>
            <p:ph type="sldNum" sz="quarter" idx="12"/>
          </p:nvPr>
        </p:nvSpPr>
        <p:spPr/>
        <p:txBody>
          <a:bodyPr/>
          <a:lstStyle/>
          <a:p>
            <a:fld id="{C1FF6DA9-008F-8B48-92A6-B652298478BF}" type="slidenum">
              <a:rPr lang="en-US" smtClean="0"/>
              <a:t>14</a:t>
            </a:fld>
            <a:endParaRPr lang="en-US"/>
          </a:p>
        </p:txBody>
      </p:sp>
      <p:pic>
        <p:nvPicPr>
          <p:cNvPr id="12" name="Picture 2" descr="York Regional Police Graphic Logo">
            <a:extLst>
              <a:ext uri="{FF2B5EF4-FFF2-40B4-BE49-F238E27FC236}">
                <a16:creationId xmlns:a16="http://schemas.microsoft.com/office/drawing/2014/main" id="{84B76E9C-0AD5-7917-0C87-62301CCDB0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0"/>
            <a:ext cx="709766" cy="100012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image.png">
            <a:extLst>
              <a:ext uri="{FF2B5EF4-FFF2-40B4-BE49-F238E27FC236}">
                <a16:creationId xmlns:a16="http://schemas.microsoft.com/office/drawing/2014/main" id="{A6682D8A-6527-E03C-F9C5-8D2129335488}"/>
              </a:ext>
            </a:extLst>
          </p:cNvPr>
          <p:cNvPicPr>
            <a:picLocks noChangeAspect="1"/>
          </p:cNvPicPr>
          <p:nvPr/>
        </p:nvPicPr>
        <p:blipFill>
          <a:blip r:embed="rId4"/>
          <a:stretch>
            <a:fillRect/>
          </a:stretch>
        </p:blipFill>
        <p:spPr>
          <a:xfrm>
            <a:off x="273269" y="1617370"/>
            <a:ext cx="6011918" cy="4600059"/>
          </a:xfrm>
          <a:prstGeom prst="rect">
            <a:avLst/>
          </a:prstGeom>
        </p:spPr>
      </p:pic>
      <p:pic>
        <p:nvPicPr>
          <p:cNvPr id="6" name="Picture 5">
            <a:extLst>
              <a:ext uri="{FF2B5EF4-FFF2-40B4-BE49-F238E27FC236}">
                <a16:creationId xmlns:a16="http://schemas.microsoft.com/office/drawing/2014/main" id="{B7E1EC10-8AB7-875A-49B1-030B51DCE1D2}"/>
              </a:ext>
            </a:extLst>
          </p:cNvPr>
          <p:cNvPicPr>
            <a:picLocks noChangeAspect="1"/>
          </p:cNvPicPr>
          <p:nvPr/>
        </p:nvPicPr>
        <p:blipFill>
          <a:blip r:embed="rId5"/>
          <a:stretch>
            <a:fillRect/>
          </a:stretch>
        </p:blipFill>
        <p:spPr>
          <a:xfrm>
            <a:off x="6285187" y="1617370"/>
            <a:ext cx="5768298" cy="460005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627745" y="274321"/>
            <a:ext cx="6936514" cy="769441"/>
          </a:xfrm>
          <a:prstGeom prst="rect">
            <a:avLst/>
          </a:prstGeom>
          <a:noFill/>
        </p:spPr>
        <p:txBody>
          <a:bodyPr wrap="none">
            <a:spAutoFit/>
          </a:bodyPr>
          <a:lstStyle/>
          <a:p>
            <a:pPr algn="ctr">
              <a:defRPr sz="2400" b="1"/>
            </a:pPr>
            <a:r>
              <a:rPr sz="4400" dirty="0">
                <a:latin typeface="Times New Roman" panose="02020603050405020304" pitchFamily="18" charset="0"/>
                <a:cs typeface="Times New Roman" panose="02020603050405020304" pitchFamily="18" charset="0"/>
              </a:rPr>
              <a:t>Strategic Recommendations</a:t>
            </a:r>
          </a:p>
        </p:txBody>
      </p:sp>
      <p:sp>
        <p:nvSpPr>
          <p:cNvPr id="2" name="Date Placeholder 1">
            <a:extLst>
              <a:ext uri="{FF2B5EF4-FFF2-40B4-BE49-F238E27FC236}">
                <a16:creationId xmlns:a16="http://schemas.microsoft.com/office/drawing/2014/main" id="{6CAE362F-74F9-E0BB-9C21-2A28FFF7821F}"/>
              </a:ext>
            </a:extLst>
          </p:cNvPr>
          <p:cNvSpPr>
            <a:spLocks noGrp="1"/>
          </p:cNvSpPr>
          <p:nvPr>
            <p:ph type="dt" sz="half" idx="10"/>
          </p:nvPr>
        </p:nvSpPr>
        <p:spPr/>
        <p:txBody>
          <a:bodyPr/>
          <a:lstStyle/>
          <a:p>
            <a:fld id="{9907EC0E-FFC0-4DAD-A328-A2D9C6092260}" type="datetime3">
              <a:rPr lang="en-US" smtClean="0"/>
              <a:t>22 November 2025</a:t>
            </a:fld>
            <a:endParaRPr lang="en-US"/>
          </a:p>
        </p:txBody>
      </p:sp>
      <p:sp>
        <p:nvSpPr>
          <p:cNvPr id="9" name="Footer Placeholder 8">
            <a:extLst>
              <a:ext uri="{FF2B5EF4-FFF2-40B4-BE49-F238E27FC236}">
                <a16:creationId xmlns:a16="http://schemas.microsoft.com/office/drawing/2014/main" id="{73578D43-863E-2086-C631-F31210B2C477}"/>
              </a:ext>
            </a:extLst>
          </p:cNvPr>
          <p:cNvSpPr>
            <a:spLocks noGrp="1"/>
          </p:cNvSpPr>
          <p:nvPr>
            <p:ph type="ftr" sz="quarter" idx="11"/>
          </p:nvPr>
        </p:nvSpPr>
        <p:spPr/>
        <p:txBody>
          <a:bodyPr/>
          <a:lstStyle/>
          <a:p>
            <a:r>
              <a:rPr lang="en-US"/>
              <a:t>York Region Crime Analysis</a:t>
            </a:r>
          </a:p>
        </p:txBody>
      </p:sp>
      <p:sp>
        <p:nvSpPr>
          <p:cNvPr id="10" name="Slide Number Placeholder 9">
            <a:extLst>
              <a:ext uri="{FF2B5EF4-FFF2-40B4-BE49-F238E27FC236}">
                <a16:creationId xmlns:a16="http://schemas.microsoft.com/office/drawing/2014/main" id="{E2FB5789-C181-6D45-2AA3-9E9E991A41B5}"/>
              </a:ext>
            </a:extLst>
          </p:cNvPr>
          <p:cNvSpPr>
            <a:spLocks noGrp="1"/>
          </p:cNvSpPr>
          <p:nvPr>
            <p:ph type="sldNum" sz="quarter" idx="12"/>
          </p:nvPr>
        </p:nvSpPr>
        <p:spPr/>
        <p:txBody>
          <a:bodyPr/>
          <a:lstStyle/>
          <a:p>
            <a:fld id="{C1FF6DA9-008F-8B48-92A6-B652298478BF}" type="slidenum">
              <a:rPr lang="en-US" smtClean="0"/>
              <a:t>15</a:t>
            </a:fld>
            <a:endParaRPr lang="en-US"/>
          </a:p>
        </p:txBody>
      </p:sp>
      <p:sp>
        <p:nvSpPr>
          <p:cNvPr id="12" name="TextBox 11">
            <a:extLst>
              <a:ext uri="{FF2B5EF4-FFF2-40B4-BE49-F238E27FC236}">
                <a16:creationId xmlns:a16="http://schemas.microsoft.com/office/drawing/2014/main" id="{B9C4CAC1-79EB-884D-1429-E9304C0E7D80}"/>
              </a:ext>
            </a:extLst>
          </p:cNvPr>
          <p:cNvSpPr txBox="1"/>
          <p:nvPr/>
        </p:nvSpPr>
        <p:spPr>
          <a:xfrm>
            <a:off x="1877060" y="1224888"/>
            <a:ext cx="8437880" cy="4061176"/>
          </a:xfrm>
          <a:prstGeom prst="rect">
            <a:avLst/>
          </a:prstGeom>
          <a:noFill/>
        </p:spPr>
        <p:txBody>
          <a:bodyPr wrap="square">
            <a:spAutoFit/>
          </a:bodyPr>
          <a:lstStyle/>
          <a:p>
            <a:pPr>
              <a:lnSpc>
                <a:spcPct val="200000"/>
              </a:lnSpc>
            </a:pPr>
            <a:r>
              <a:rPr lang="en-CA" sz="3200" b="1" dirty="0">
                <a:latin typeface="Times New Roman" panose="02020603050405020304" pitchFamily="18" charset="0"/>
                <a:cs typeface="Times New Roman" panose="02020603050405020304" pitchFamily="18" charset="0"/>
              </a:rPr>
              <a:t>Immediate &amp; Long-Term Interventions</a:t>
            </a:r>
          </a:p>
          <a:p>
            <a:pPr marL="342900" indent="-342900">
              <a:lnSpc>
                <a:spcPct val="200000"/>
              </a:lnSpc>
              <a:buFont typeface="Arial" panose="020B0604020202020204" pitchFamily="34" charset="0"/>
              <a:buChar char="•"/>
            </a:pPr>
            <a:r>
              <a:rPr lang="en-CA" sz="2000" b="1" dirty="0">
                <a:latin typeface="Times New Roman" panose="02020603050405020304" pitchFamily="18" charset="0"/>
                <a:cs typeface="Times New Roman" panose="02020603050405020304" pitchFamily="18" charset="0"/>
              </a:rPr>
              <a:t>EMERGENCY RESPONSE: </a:t>
            </a:r>
            <a:r>
              <a:rPr lang="en-CA" sz="2000" dirty="0">
                <a:latin typeface="Times New Roman" panose="02020603050405020304" pitchFamily="18" charset="0"/>
                <a:cs typeface="Times New Roman" panose="02020603050405020304" pitchFamily="18" charset="0"/>
              </a:rPr>
              <a:t>40% staffing increase for Vaughan Station</a:t>
            </a:r>
          </a:p>
          <a:p>
            <a:pPr marL="342900" indent="-342900">
              <a:lnSpc>
                <a:spcPct val="200000"/>
              </a:lnSpc>
              <a:buFont typeface="Arial" panose="020B0604020202020204" pitchFamily="34" charset="0"/>
              <a:buChar char="•"/>
            </a:pPr>
            <a:r>
              <a:rPr lang="en-CA" sz="2000" b="1" dirty="0">
                <a:latin typeface="Times New Roman" panose="02020603050405020304" pitchFamily="18" charset="0"/>
                <a:cs typeface="Times New Roman" panose="02020603050405020304" pitchFamily="18" charset="0"/>
              </a:rPr>
              <a:t>CRIME PREVENTION:</a:t>
            </a:r>
            <a:r>
              <a:rPr lang="en-CA" sz="2000" dirty="0">
                <a:latin typeface="Times New Roman" panose="02020603050405020304" pitchFamily="18" charset="0"/>
                <a:cs typeface="Times New Roman" panose="02020603050405020304" pitchFamily="18" charset="0"/>
              </a:rPr>
              <a:t> Enhanced retail area patrols &amp; business watch</a:t>
            </a:r>
          </a:p>
          <a:p>
            <a:pPr marL="342900" indent="-342900">
              <a:lnSpc>
                <a:spcPct val="200000"/>
              </a:lnSpc>
              <a:buFont typeface="Arial" panose="020B0604020202020204" pitchFamily="34" charset="0"/>
              <a:buChar char="•"/>
            </a:pPr>
            <a:r>
              <a:rPr lang="en-CA" sz="2000" b="1" dirty="0">
                <a:latin typeface="Times New Roman" panose="02020603050405020304" pitchFamily="18" charset="0"/>
                <a:cs typeface="Times New Roman" panose="02020603050405020304" pitchFamily="18" charset="0"/>
              </a:rPr>
              <a:t>VIOLENCE REDUCTION:</a:t>
            </a:r>
            <a:r>
              <a:rPr lang="en-CA" sz="2000" dirty="0">
                <a:latin typeface="Times New Roman" panose="02020603050405020304" pitchFamily="18" charset="0"/>
                <a:cs typeface="Times New Roman" panose="02020603050405020304" pitchFamily="18" charset="0"/>
              </a:rPr>
              <a:t> Community policing &amp; conflict resolution</a:t>
            </a:r>
          </a:p>
          <a:p>
            <a:pPr marL="342900" indent="-342900">
              <a:lnSpc>
                <a:spcPct val="200000"/>
              </a:lnSpc>
              <a:buFont typeface="Arial" panose="020B0604020202020204" pitchFamily="34" charset="0"/>
              <a:buChar char="•"/>
            </a:pPr>
            <a:r>
              <a:rPr lang="en-CA" sz="2000" b="1" dirty="0">
                <a:latin typeface="Times New Roman" panose="02020603050405020304" pitchFamily="18" charset="0"/>
                <a:cs typeface="Times New Roman" panose="02020603050405020304" pitchFamily="18" charset="0"/>
              </a:rPr>
              <a:t>RESOURCE OPTIMIZATION: </a:t>
            </a:r>
            <a:r>
              <a:rPr lang="en-CA" sz="2000" dirty="0">
                <a:latin typeface="Times New Roman" panose="02020603050405020304" pitchFamily="18" charset="0"/>
                <a:cs typeface="Times New Roman" panose="02020603050405020304" pitchFamily="18" charset="0"/>
              </a:rPr>
              <a:t>Data-driven staffing &amp; predictive policing</a:t>
            </a:r>
          </a:p>
          <a:p>
            <a:pPr marL="342900" indent="-342900">
              <a:lnSpc>
                <a:spcPct val="200000"/>
              </a:lnSpc>
              <a:buFont typeface="Arial" panose="020B0604020202020204" pitchFamily="34" charset="0"/>
              <a:buChar char="•"/>
            </a:pPr>
            <a:r>
              <a:rPr lang="en-CA" sz="2000" b="1" dirty="0">
                <a:latin typeface="Times New Roman" panose="02020603050405020304" pitchFamily="18" charset="0"/>
                <a:cs typeface="Times New Roman" panose="02020603050405020304" pitchFamily="18" charset="0"/>
              </a:rPr>
              <a:t>INFRASTRUCTURE:</a:t>
            </a:r>
            <a:r>
              <a:rPr lang="en-CA" sz="2000" dirty="0">
                <a:latin typeface="Times New Roman" panose="02020603050405020304" pitchFamily="18" charset="0"/>
                <a:cs typeface="Times New Roman" panose="02020603050405020304" pitchFamily="18" charset="0"/>
              </a:rPr>
              <a:t> Mobile command units &amp; monitoring systems</a:t>
            </a:r>
          </a:p>
        </p:txBody>
      </p:sp>
      <p:pic>
        <p:nvPicPr>
          <p:cNvPr id="4" name="Picture 2" descr="York Regional Police Graphic Logo">
            <a:extLst>
              <a:ext uri="{FF2B5EF4-FFF2-40B4-BE49-F238E27FC236}">
                <a16:creationId xmlns:a16="http://schemas.microsoft.com/office/drawing/2014/main" id="{ADF36347-8996-8CE4-057E-774B2A27E9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4863"/>
            <a:ext cx="709766" cy="100012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555913" y="274321"/>
            <a:ext cx="9080178" cy="769441"/>
          </a:xfrm>
          <a:prstGeom prst="rect">
            <a:avLst/>
          </a:prstGeom>
          <a:noFill/>
        </p:spPr>
        <p:txBody>
          <a:bodyPr wrap="none">
            <a:spAutoFit/>
          </a:bodyPr>
          <a:lstStyle/>
          <a:p>
            <a:pPr algn="ctr">
              <a:defRPr sz="2400" b="1"/>
            </a:pPr>
            <a:r>
              <a:rPr sz="4400" dirty="0">
                <a:latin typeface="Times New Roman" panose="02020603050405020304" pitchFamily="18" charset="0"/>
                <a:cs typeface="Times New Roman" panose="02020603050405020304" pitchFamily="18" charset="0"/>
              </a:rPr>
              <a:t>Implementation Strategy &amp; Timeline</a:t>
            </a:r>
          </a:p>
        </p:txBody>
      </p:sp>
      <p:sp>
        <p:nvSpPr>
          <p:cNvPr id="2" name="Date Placeholder 1">
            <a:extLst>
              <a:ext uri="{FF2B5EF4-FFF2-40B4-BE49-F238E27FC236}">
                <a16:creationId xmlns:a16="http://schemas.microsoft.com/office/drawing/2014/main" id="{86C45ABC-ABEE-23DC-177B-40E76F807FB0}"/>
              </a:ext>
            </a:extLst>
          </p:cNvPr>
          <p:cNvSpPr>
            <a:spLocks noGrp="1"/>
          </p:cNvSpPr>
          <p:nvPr>
            <p:ph type="dt" sz="half" idx="10"/>
          </p:nvPr>
        </p:nvSpPr>
        <p:spPr/>
        <p:txBody>
          <a:bodyPr/>
          <a:lstStyle/>
          <a:p>
            <a:fld id="{8527920B-EE92-4A76-A061-57F7D14FDCA4}" type="datetime3">
              <a:rPr lang="en-US" smtClean="0"/>
              <a:t>22 November 2025</a:t>
            </a:fld>
            <a:endParaRPr lang="en-US"/>
          </a:p>
        </p:txBody>
      </p:sp>
      <p:sp>
        <p:nvSpPr>
          <p:cNvPr id="9" name="Footer Placeholder 8">
            <a:extLst>
              <a:ext uri="{FF2B5EF4-FFF2-40B4-BE49-F238E27FC236}">
                <a16:creationId xmlns:a16="http://schemas.microsoft.com/office/drawing/2014/main" id="{BF8FDFA6-D40A-F8B7-734B-E79054B0C0E8}"/>
              </a:ext>
            </a:extLst>
          </p:cNvPr>
          <p:cNvSpPr>
            <a:spLocks noGrp="1"/>
          </p:cNvSpPr>
          <p:nvPr>
            <p:ph type="ftr" sz="quarter" idx="11"/>
          </p:nvPr>
        </p:nvSpPr>
        <p:spPr/>
        <p:txBody>
          <a:bodyPr/>
          <a:lstStyle/>
          <a:p>
            <a:r>
              <a:rPr lang="en-US"/>
              <a:t>York Region Crime Analysis</a:t>
            </a:r>
          </a:p>
        </p:txBody>
      </p:sp>
      <p:sp>
        <p:nvSpPr>
          <p:cNvPr id="10" name="Slide Number Placeholder 9">
            <a:extLst>
              <a:ext uri="{FF2B5EF4-FFF2-40B4-BE49-F238E27FC236}">
                <a16:creationId xmlns:a16="http://schemas.microsoft.com/office/drawing/2014/main" id="{5A7225AA-E9F4-79BC-3A46-DB839EBD75ED}"/>
              </a:ext>
            </a:extLst>
          </p:cNvPr>
          <p:cNvSpPr>
            <a:spLocks noGrp="1"/>
          </p:cNvSpPr>
          <p:nvPr>
            <p:ph type="sldNum" sz="quarter" idx="12"/>
          </p:nvPr>
        </p:nvSpPr>
        <p:spPr/>
        <p:txBody>
          <a:bodyPr/>
          <a:lstStyle/>
          <a:p>
            <a:fld id="{C1FF6DA9-008F-8B48-92A6-B652298478BF}" type="slidenum">
              <a:rPr lang="en-US" smtClean="0"/>
              <a:t>16</a:t>
            </a:fld>
            <a:endParaRPr lang="en-US"/>
          </a:p>
        </p:txBody>
      </p:sp>
      <p:sp>
        <p:nvSpPr>
          <p:cNvPr id="11" name="Content Placeholder 2">
            <a:extLst>
              <a:ext uri="{FF2B5EF4-FFF2-40B4-BE49-F238E27FC236}">
                <a16:creationId xmlns:a16="http://schemas.microsoft.com/office/drawing/2014/main" id="{10FC39E5-01DC-0FD4-610A-AE18CEBB88A4}"/>
              </a:ext>
            </a:extLst>
          </p:cNvPr>
          <p:cNvSpPr txBox="1">
            <a:spLocks/>
          </p:cNvSpPr>
          <p:nvPr/>
        </p:nvSpPr>
        <p:spPr>
          <a:xfrm>
            <a:off x="685800" y="1309360"/>
            <a:ext cx="10820400" cy="452376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200"/>
              </a:spcBef>
              <a:buNone/>
            </a:pPr>
            <a:r>
              <a:rPr lang="en-CA" sz="2800" b="1" dirty="0">
                <a:latin typeface="Times New Roman" panose="02020603050405020304" pitchFamily="18" charset="0"/>
                <a:cs typeface="Times New Roman" panose="02020603050405020304" pitchFamily="18" charset="0"/>
              </a:rPr>
              <a:t>Phased Approach to Resource Allocation</a:t>
            </a:r>
          </a:p>
          <a:p>
            <a:pPr>
              <a:spcBef>
                <a:spcPts val="200"/>
              </a:spcBef>
            </a:pPr>
            <a:r>
              <a:rPr lang="en-CA" sz="2000" b="1" dirty="0">
                <a:latin typeface="Times New Roman" panose="02020603050405020304" pitchFamily="18" charset="0"/>
                <a:cs typeface="Times New Roman" panose="02020603050405020304" pitchFamily="18" charset="0"/>
              </a:rPr>
              <a:t>IMMEDIATE</a:t>
            </a:r>
            <a:r>
              <a:rPr lang="en-CA" sz="2000" dirty="0">
                <a:latin typeface="Times New Roman" panose="02020603050405020304" pitchFamily="18" charset="0"/>
                <a:cs typeface="Times New Roman" panose="02020603050405020304" pitchFamily="18" charset="0"/>
              </a:rPr>
              <a:t> (0-3 Months): </a:t>
            </a:r>
            <a:r>
              <a:rPr lang="en-CA" sz="1800" dirty="0">
                <a:latin typeface="Times New Roman" panose="02020603050405020304" pitchFamily="18" charset="0"/>
                <a:cs typeface="Times New Roman" panose="02020603050405020304" pitchFamily="18" charset="0"/>
              </a:rPr>
              <a:t>District 4 emergency deployment, midnight patrols</a:t>
            </a:r>
          </a:p>
          <a:p>
            <a:pPr>
              <a:spcBef>
                <a:spcPts val="200"/>
              </a:spcBef>
            </a:pPr>
            <a:r>
              <a:rPr lang="en-CA" sz="2000" b="1" dirty="0">
                <a:latin typeface="Times New Roman" panose="02020603050405020304" pitchFamily="18" charset="0"/>
                <a:cs typeface="Times New Roman" panose="02020603050405020304" pitchFamily="18" charset="0"/>
              </a:rPr>
              <a:t>MEDIUM-TERM </a:t>
            </a:r>
            <a:r>
              <a:rPr lang="en-CA" sz="2000" dirty="0">
                <a:latin typeface="Times New Roman" panose="02020603050405020304" pitchFamily="18" charset="0"/>
                <a:cs typeface="Times New Roman" panose="02020603050405020304" pitchFamily="18" charset="0"/>
              </a:rPr>
              <a:t>(3-12 Months): </a:t>
            </a:r>
            <a:r>
              <a:rPr lang="en-CA" sz="2800" dirty="0">
                <a:latin typeface="Times New Roman" panose="02020603050405020304" pitchFamily="18" charset="0"/>
                <a:cs typeface="Times New Roman" panose="02020603050405020304" pitchFamily="18" charset="0"/>
              </a:rPr>
              <a:t>	</a:t>
            </a:r>
            <a:r>
              <a:rPr lang="en-CA" sz="1800" dirty="0">
                <a:latin typeface="Times New Roman" panose="02020603050405020304" pitchFamily="18" charset="0"/>
                <a:cs typeface="Times New Roman" panose="02020603050405020304" pitchFamily="18" charset="0"/>
              </a:rPr>
              <a:t>Predictive modeling, community watch expansion</a:t>
            </a:r>
          </a:p>
          <a:p>
            <a:pPr>
              <a:spcBef>
                <a:spcPts val="200"/>
              </a:spcBef>
            </a:pPr>
            <a:r>
              <a:rPr lang="en-CA" sz="2000" b="1" dirty="0">
                <a:latin typeface="Times New Roman" panose="02020603050405020304" pitchFamily="18" charset="0"/>
                <a:cs typeface="Times New Roman" panose="02020603050405020304" pitchFamily="18" charset="0"/>
              </a:rPr>
              <a:t>LONG-TERM </a:t>
            </a:r>
            <a:r>
              <a:rPr lang="en-CA" sz="2000" dirty="0">
                <a:latin typeface="Times New Roman" panose="02020603050405020304" pitchFamily="18" charset="0"/>
                <a:cs typeface="Times New Roman" panose="02020603050405020304" pitchFamily="18" charset="0"/>
              </a:rPr>
              <a:t>(12+ Months): </a:t>
            </a:r>
            <a:r>
              <a:rPr lang="en-CA" sz="1800" dirty="0">
                <a:latin typeface="Times New Roman" panose="02020603050405020304" pitchFamily="18" charset="0"/>
                <a:cs typeface="Times New Roman" panose="02020603050405020304" pitchFamily="18" charset="0"/>
              </a:rPr>
              <a:t>Comprehensive prevention framework, infrastructure</a:t>
            </a:r>
          </a:p>
          <a:p>
            <a:pPr marL="108000">
              <a:spcBef>
                <a:spcPts val="200"/>
              </a:spcBef>
            </a:pPr>
            <a:r>
              <a:rPr lang="en-CA" sz="2000" b="1" dirty="0">
                <a:latin typeface="Times New Roman" panose="02020603050405020304" pitchFamily="18" charset="0"/>
                <a:cs typeface="Times New Roman" panose="02020603050405020304" pitchFamily="18" charset="0"/>
              </a:rPr>
              <a:t>RESOURCE ALLOCATION &amp; DEVELOPMENT</a:t>
            </a:r>
            <a:r>
              <a:rPr lang="en-CA" sz="2000" dirty="0">
                <a:latin typeface="Times New Roman" panose="02020603050405020304" pitchFamily="18" charset="0"/>
                <a:cs typeface="Times New Roman" panose="02020603050405020304" pitchFamily="18" charset="0"/>
              </a:rPr>
              <a:t>: </a:t>
            </a:r>
          </a:p>
          <a:p>
            <a:pPr marL="0" indent="0">
              <a:spcBef>
                <a:spcPts val="200"/>
              </a:spcBef>
              <a:buNone/>
            </a:pPr>
            <a:endParaRPr lang="en-CA" sz="2000" dirty="0">
              <a:latin typeface="Times New Roman" panose="02020603050405020304" pitchFamily="18" charset="0"/>
              <a:cs typeface="Times New Roman" panose="02020603050405020304" pitchFamily="18" charset="0"/>
            </a:endParaRPr>
          </a:p>
          <a:p>
            <a:pPr marL="0" indent="0">
              <a:spcBef>
                <a:spcPts val="200"/>
              </a:spcBef>
              <a:buNone/>
            </a:pPr>
            <a:r>
              <a:rPr lang="en-CA" sz="2000" dirty="0">
                <a:latin typeface="Times New Roman" panose="02020603050405020304" pitchFamily="18" charset="0"/>
                <a:cs typeface="Times New Roman" panose="02020603050405020304" pitchFamily="18" charset="0"/>
              </a:rPr>
              <a:t>The proposed allocation (45% District 1, 35% District 4, 10% District 3, 10% others) translates into a concrete </a:t>
            </a:r>
            <a:r>
              <a:rPr lang="en-CA" sz="1800" dirty="0">
                <a:latin typeface="Times New Roman" panose="02020603050405020304" pitchFamily="18" charset="0"/>
                <a:cs typeface="Times New Roman" panose="02020603050405020304" pitchFamily="18" charset="0"/>
              </a:rPr>
              <a:t>deployment plan:</a:t>
            </a:r>
          </a:p>
          <a:p>
            <a:pPr lvl="1">
              <a:spcBef>
                <a:spcPts val="200"/>
              </a:spcBef>
              <a:buFont typeface="Arial" panose="020B0604020202020204" pitchFamily="34" charset="0"/>
              <a:buChar char="•"/>
            </a:pPr>
            <a:r>
              <a:rPr lang="en-CA" sz="2000" b="1" dirty="0">
                <a:latin typeface="Times New Roman" panose="02020603050405020304" pitchFamily="18" charset="0"/>
                <a:cs typeface="Times New Roman" panose="02020603050405020304" pitchFamily="18" charset="0"/>
              </a:rPr>
              <a:t>Personnel:</a:t>
            </a:r>
            <a:r>
              <a:rPr lang="en-CA" sz="2000" dirty="0">
                <a:latin typeface="Times New Roman" panose="02020603050405020304" pitchFamily="18" charset="0"/>
                <a:cs typeface="Times New Roman" panose="02020603050405020304" pitchFamily="18" charset="0"/>
              </a:rPr>
              <a:t> This strategy reallocates approximately </a:t>
            </a:r>
            <a:r>
              <a:rPr lang="en-CA" sz="2000" b="1" dirty="0">
                <a:latin typeface="Times New Roman" panose="02020603050405020304" pitchFamily="18" charset="0"/>
                <a:cs typeface="Times New Roman" panose="02020603050405020304" pitchFamily="18" charset="0"/>
              </a:rPr>
              <a:t>60-70 police officers and civilian support staff</a:t>
            </a:r>
            <a:r>
              <a:rPr lang="en-CA" sz="2000" dirty="0">
                <a:latin typeface="Times New Roman" panose="02020603050405020304" pitchFamily="18" charset="0"/>
                <a:cs typeface="Times New Roman" panose="02020603050405020304" pitchFamily="18" charset="0"/>
              </a:rPr>
              <a:t> from lower-risk districts to focus on the high-priority zones.</a:t>
            </a:r>
          </a:p>
          <a:p>
            <a:pPr lvl="1">
              <a:spcBef>
                <a:spcPts val="200"/>
              </a:spcBef>
              <a:buFont typeface="Arial" panose="020B0604020202020204" pitchFamily="34" charset="0"/>
              <a:buChar char="•"/>
            </a:pPr>
            <a:r>
              <a:rPr lang="en-CA" sz="2000" b="1" dirty="0">
                <a:latin typeface="Times New Roman" panose="02020603050405020304" pitchFamily="18" charset="0"/>
                <a:cs typeface="Times New Roman" panose="02020603050405020304" pitchFamily="18" charset="0"/>
              </a:rPr>
              <a:t>Budget:</a:t>
            </a:r>
            <a:r>
              <a:rPr lang="en-CA" sz="2000" dirty="0">
                <a:latin typeface="Times New Roman" panose="02020603050405020304" pitchFamily="18" charset="0"/>
                <a:cs typeface="Times New Roman" panose="02020603050405020304" pitchFamily="18" charset="0"/>
              </a:rPr>
              <a:t> It is supported by the strategic investment of </a:t>
            </a:r>
            <a:r>
              <a:rPr lang="en-CA" sz="2000" b="1" dirty="0">
                <a:latin typeface="Times New Roman" panose="02020603050405020304" pitchFamily="18" charset="0"/>
                <a:cs typeface="Times New Roman" panose="02020603050405020304" pitchFamily="18" charset="0"/>
              </a:rPr>
              <a:t>an additional $3.5 - $4 million</a:t>
            </a:r>
            <a:r>
              <a:rPr lang="en-CA" sz="2000" dirty="0">
                <a:latin typeface="Times New Roman" panose="02020603050405020304" pitchFamily="18" charset="0"/>
                <a:cs typeface="Times New Roman" panose="02020603050405020304" pitchFamily="18" charset="0"/>
              </a:rPr>
              <a:t> in operational resources (including overtime, patrol capacity, technology, and prevention programs).</a:t>
            </a:r>
          </a:p>
          <a:p>
            <a:pPr lvl="1">
              <a:spcBef>
                <a:spcPts val="200"/>
              </a:spcBef>
              <a:buFont typeface="Arial" panose="020B0604020202020204" pitchFamily="34" charset="0"/>
              <a:buChar char="•"/>
            </a:pPr>
            <a:r>
              <a:rPr lang="en-CA" sz="2000" b="1" dirty="0">
                <a:latin typeface="Times New Roman" panose="02020603050405020304" pitchFamily="18" charset="0"/>
                <a:cs typeface="Times New Roman" panose="02020603050405020304" pitchFamily="18" charset="0"/>
              </a:rPr>
              <a:t>Goal:</a:t>
            </a:r>
            <a:r>
              <a:rPr lang="en-CA" sz="2000" dirty="0">
                <a:latin typeface="Times New Roman" panose="02020603050405020304" pitchFamily="18" charset="0"/>
                <a:cs typeface="Times New Roman" panose="02020603050405020304" pitchFamily="18" charset="0"/>
              </a:rPr>
              <a:t> This focused investment aims to achieve a </a:t>
            </a:r>
            <a:r>
              <a:rPr lang="en-CA" sz="2000" b="1" dirty="0">
                <a:latin typeface="Times New Roman" panose="02020603050405020304" pitchFamily="18" charset="0"/>
                <a:cs typeface="Times New Roman" panose="02020603050405020304" pitchFamily="18" charset="0"/>
              </a:rPr>
              <a:t>projected 15-20% reduction in serious crime</a:t>
            </a:r>
            <a:r>
              <a:rPr lang="en-CA" sz="2000" dirty="0">
                <a:latin typeface="Times New Roman" panose="02020603050405020304" pitchFamily="18" charset="0"/>
                <a:cs typeface="Times New Roman" panose="02020603050405020304" pitchFamily="18" charset="0"/>
              </a:rPr>
              <a:t> in Districts 1 and 4 within the next 12 months.</a:t>
            </a:r>
          </a:p>
        </p:txBody>
      </p:sp>
      <p:pic>
        <p:nvPicPr>
          <p:cNvPr id="4" name="Picture 2" descr="York Regional Police Graphic Logo">
            <a:extLst>
              <a:ext uri="{FF2B5EF4-FFF2-40B4-BE49-F238E27FC236}">
                <a16:creationId xmlns:a16="http://schemas.microsoft.com/office/drawing/2014/main" id="{B930FBF4-948C-5891-E643-07F14B5AD5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4863"/>
            <a:ext cx="709766" cy="100012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7896" y="274321"/>
            <a:ext cx="9336210" cy="769441"/>
          </a:xfrm>
          <a:prstGeom prst="rect">
            <a:avLst/>
          </a:prstGeom>
          <a:noFill/>
        </p:spPr>
        <p:txBody>
          <a:bodyPr wrap="none">
            <a:spAutoFit/>
          </a:bodyPr>
          <a:lstStyle/>
          <a:p>
            <a:pPr algn="ctr">
              <a:defRPr sz="2400" b="1"/>
            </a:pPr>
            <a:r>
              <a:rPr sz="4400" dirty="0">
                <a:latin typeface="Times New Roman" panose="02020603050405020304" pitchFamily="18" charset="0"/>
                <a:cs typeface="Times New Roman" panose="02020603050405020304" pitchFamily="18" charset="0"/>
              </a:rPr>
              <a:t>Conclusion &amp; Strategic Path Forward</a:t>
            </a:r>
          </a:p>
        </p:txBody>
      </p:sp>
      <p:sp>
        <p:nvSpPr>
          <p:cNvPr id="2" name="Date Placeholder 1">
            <a:extLst>
              <a:ext uri="{FF2B5EF4-FFF2-40B4-BE49-F238E27FC236}">
                <a16:creationId xmlns:a16="http://schemas.microsoft.com/office/drawing/2014/main" id="{2E024112-01E0-0A1F-8194-0E2DEFBD1715}"/>
              </a:ext>
            </a:extLst>
          </p:cNvPr>
          <p:cNvSpPr>
            <a:spLocks noGrp="1"/>
          </p:cNvSpPr>
          <p:nvPr>
            <p:ph type="dt" sz="half" idx="10"/>
          </p:nvPr>
        </p:nvSpPr>
        <p:spPr/>
        <p:txBody>
          <a:bodyPr/>
          <a:lstStyle/>
          <a:p>
            <a:fld id="{2BBDE202-2122-4B41-99F3-A95E29B999DB}" type="datetime3">
              <a:rPr lang="en-US" smtClean="0"/>
              <a:t>22 November 2025</a:t>
            </a:fld>
            <a:endParaRPr lang="en-US"/>
          </a:p>
        </p:txBody>
      </p:sp>
      <p:sp>
        <p:nvSpPr>
          <p:cNvPr id="9" name="Footer Placeholder 8">
            <a:extLst>
              <a:ext uri="{FF2B5EF4-FFF2-40B4-BE49-F238E27FC236}">
                <a16:creationId xmlns:a16="http://schemas.microsoft.com/office/drawing/2014/main" id="{5DAB1904-5CE3-9B86-A5DC-9C457E411A51}"/>
              </a:ext>
            </a:extLst>
          </p:cNvPr>
          <p:cNvSpPr>
            <a:spLocks noGrp="1"/>
          </p:cNvSpPr>
          <p:nvPr>
            <p:ph type="ftr" sz="quarter" idx="11"/>
          </p:nvPr>
        </p:nvSpPr>
        <p:spPr/>
        <p:txBody>
          <a:bodyPr/>
          <a:lstStyle/>
          <a:p>
            <a:r>
              <a:rPr lang="en-US"/>
              <a:t>York Region Crime Analysis</a:t>
            </a:r>
          </a:p>
        </p:txBody>
      </p:sp>
      <p:sp>
        <p:nvSpPr>
          <p:cNvPr id="10" name="Slide Number Placeholder 9">
            <a:extLst>
              <a:ext uri="{FF2B5EF4-FFF2-40B4-BE49-F238E27FC236}">
                <a16:creationId xmlns:a16="http://schemas.microsoft.com/office/drawing/2014/main" id="{EF36001F-1FE7-B18B-3674-06BB36ED375F}"/>
              </a:ext>
            </a:extLst>
          </p:cNvPr>
          <p:cNvSpPr>
            <a:spLocks noGrp="1"/>
          </p:cNvSpPr>
          <p:nvPr>
            <p:ph type="sldNum" sz="quarter" idx="12"/>
          </p:nvPr>
        </p:nvSpPr>
        <p:spPr/>
        <p:txBody>
          <a:bodyPr/>
          <a:lstStyle/>
          <a:p>
            <a:fld id="{C1FF6DA9-008F-8B48-92A6-B652298478BF}" type="slidenum">
              <a:rPr lang="en-US" smtClean="0"/>
              <a:t>17</a:t>
            </a:fld>
            <a:endParaRPr lang="en-US"/>
          </a:p>
        </p:txBody>
      </p:sp>
      <p:sp>
        <p:nvSpPr>
          <p:cNvPr id="12" name="TextBox 11">
            <a:extLst>
              <a:ext uri="{FF2B5EF4-FFF2-40B4-BE49-F238E27FC236}">
                <a16:creationId xmlns:a16="http://schemas.microsoft.com/office/drawing/2014/main" id="{9EDF54D2-080C-AE56-50F5-C0C227E4EE5C}"/>
              </a:ext>
            </a:extLst>
          </p:cNvPr>
          <p:cNvSpPr txBox="1"/>
          <p:nvPr/>
        </p:nvSpPr>
        <p:spPr>
          <a:xfrm>
            <a:off x="1742440" y="1237004"/>
            <a:ext cx="8707120" cy="4061176"/>
          </a:xfrm>
          <a:prstGeom prst="rect">
            <a:avLst/>
          </a:prstGeom>
          <a:noFill/>
        </p:spPr>
        <p:txBody>
          <a:bodyPr wrap="square">
            <a:spAutoFit/>
          </a:bodyPr>
          <a:lstStyle/>
          <a:p>
            <a:pPr>
              <a:lnSpc>
                <a:spcPct val="200000"/>
              </a:lnSpc>
            </a:pPr>
            <a:r>
              <a:rPr lang="en-CA" sz="3200" b="1" dirty="0">
                <a:latin typeface="Times New Roman" panose="02020603050405020304" pitchFamily="18" charset="0"/>
                <a:cs typeface="Times New Roman" panose="02020603050405020304" pitchFamily="18" charset="0"/>
              </a:rPr>
              <a:t>Key Achievements &amp; Immediate Actions</a:t>
            </a:r>
          </a:p>
          <a:p>
            <a:pPr marL="342900" indent="-342900">
              <a:lnSpc>
                <a:spcPct val="200000"/>
              </a:lnSpc>
              <a:buFont typeface="Arial" panose="020B0604020202020204" pitchFamily="34" charset="0"/>
              <a:buChar char="•"/>
            </a:pPr>
            <a:r>
              <a:rPr lang="en-CA" sz="2000" b="1" dirty="0">
                <a:latin typeface="Times New Roman" panose="02020603050405020304" pitchFamily="18" charset="0"/>
                <a:cs typeface="Times New Roman" panose="02020603050405020304" pitchFamily="18" charset="0"/>
              </a:rPr>
              <a:t>COMPREHENSIVE ANALYSIS</a:t>
            </a:r>
            <a:r>
              <a:rPr lang="en-CA" sz="2000" dirty="0">
                <a:latin typeface="Times New Roman" panose="02020603050405020304" pitchFamily="18" charset="0"/>
                <a:cs typeface="Times New Roman" panose="02020603050405020304" pitchFamily="18" charset="0"/>
              </a:rPr>
              <a:t>: 299,984 records with advanced forecasting</a:t>
            </a:r>
          </a:p>
          <a:p>
            <a:pPr marL="342900" indent="-342900">
              <a:lnSpc>
                <a:spcPct val="200000"/>
              </a:lnSpc>
              <a:buFont typeface="Arial" panose="020B0604020202020204" pitchFamily="34" charset="0"/>
              <a:buChar char="•"/>
            </a:pPr>
            <a:r>
              <a:rPr lang="en-CA" sz="2000" b="1" dirty="0">
                <a:latin typeface="Times New Roman" panose="02020603050405020304" pitchFamily="18" charset="0"/>
                <a:cs typeface="Times New Roman" panose="02020603050405020304" pitchFamily="18" charset="0"/>
              </a:rPr>
              <a:t>STRATEGIC PRIORITIES</a:t>
            </a:r>
            <a:r>
              <a:rPr lang="en-CA" sz="2000" dirty="0">
                <a:latin typeface="Times New Roman" panose="02020603050405020304" pitchFamily="18" charset="0"/>
                <a:cs typeface="Times New Roman" panose="02020603050405020304" pitchFamily="18" charset="0"/>
              </a:rPr>
              <a:t>: Property crime focus + District 4 emergency</a:t>
            </a:r>
          </a:p>
          <a:p>
            <a:pPr marL="342900" indent="-342900">
              <a:lnSpc>
                <a:spcPct val="200000"/>
              </a:lnSpc>
              <a:buFont typeface="Arial" panose="020B0604020202020204" pitchFamily="34" charset="0"/>
              <a:buChar char="•"/>
            </a:pPr>
            <a:r>
              <a:rPr lang="en-CA" sz="2000" b="1" dirty="0">
                <a:latin typeface="Times New Roman" panose="02020603050405020304" pitchFamily="18" charset="0"/>
                <a:cs typeface="Times New Roman" panose="02020603050405020304" pitchFamily="18" charset="0"/>
              </a:rPr>
              <a:t>DATA-DRIVEN APPROACH</a:t>
            </a:r>
            <a:r>
              <a:rPr lang="en-CA" sz="2000" dirty="0">
                <a:latin typeface="Times New Roman" panose="02020603050405020304" pitchFamily="18" charset="0"/>
                <a:cs typeface="Times New Roman" panose="02020603050405020304" pitchFamily="18" charset="0"/>
              </a:rPr>
              <a:t>: Resource allocation based on risk assessment</a:t>
            </a:r>
          </a:p>
          <a:p>
            <a:pPr marL="342900" indent="-342900">
              <a:lnSpc>
                <a:spcPct val="200000"/>
              </a:lnSpc>
              <a:buFont typeface="Arial" panose="020B0604020202020204" pitchFamily="34" charset="0"/>
              <a:buChar char="•"/>
            </a:pPr>
            <a:r>
              <a:rPr lang="en-CA" sz="2000" b="1" dirty="0">
                <a:latin typeface="Times New Roman" panose="02020603050405020304" pitchFamily="18" charset="0"/>
                <a:cs typeface="Times New Roman" panose="02020603050405020304" pitchFamily="18" charset="0"/>
              </a:rPr>
              <a:t>IMMEDIATE NEXT STEPS</a:t>
            </a:r>
            <a:r>
              <a:rPr lang="en-CA" sz="2000" dirty="0">
                <a:latin typeface="Times New Roman" panose="02020603050405020304" pitchFamily="18" charset="0"/>
                <a:cs typeface="Times New Roman" panose="02020603050405020304" pitchFamily="18" charset="0"/>
              </a:rPr>
              <a:t>: Stakeholder engagement, implementation teams</a:t>
            </a:r>
          </a:p>
          <a:p>
            <a:pPr marL="342900" indent="-342900">
              <a:lnSpc>
                <a:spcPct val="200000"/>
              </a:lnSpc>
              <a:buFont typeface="Arial" panose="020B0604020202020204" pitchFamily="34" charset="0"/>
              <a:buChar char="•"/>
            </a:pPr>
            <a:r>
              <a:rPr lang="en-CA" sz="2000" b="1" dirty="0">
                <a:latin typeface="Times New Roman" panose="02020603050405020304" pitchFamily="18" charset="0"/>
                <a:cs typeface="Times New Roman" panose="02020603050405020304" pitchFamily="18" charset="0"/>
              </a:rPr>
              <a:t>CONTINUOUS MONITORING</a:t>
            </a:r>
            <a:r>
              <a:rPr lang="en-CA" sz="2000" dirty="0">
                <a:latin typeface="Times New Roman" panose="02020603050405020304" pitchFamily="18" charset="0"/>
                <a:cs typeface="Times New Roman" panose="02020603050405020304" pitchFamily="18" charset="0"/>
              </a:rPr>
              <a:t>: Quarterly reviews &amp; adaptive strategy</a:t>
            </a:r>
          </a:p>
        </p:txBody>
      </p:sp>
      <p:pic>
        <p:nvPicPr>
          <p:cNvPr id="4" name="Picture 2" descr="York Regional Police Graphic Logo">
            <a:extLst>
              <a:ext uri="{FF2B5EF4-FFF2-40B4-BE49-F238E27FC236}">
                <a16:creationId xmlns:a16="http://schemas.microsoft.com/office/drawing/2014/main" id="{836892D9-E0D1-FADD-35F3-CCE048F163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4863"/>
            <a:ext cx="709766" cy="100012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914</TotalTime>
  <Words>2050</Words>
  <Application>Microsoft Office PowerPoint</Application>
  <PresentationFormat>Widescreen</PresentationFormat>
  <Paragraphs>182</Paragraphs>
  <Slides>17</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Times New Roman</vt:lpstr>
      <vt:lpstr>Office Theme</vt:lpstr>
      <vt:lpstr>Strategic Crime Reduction  A Data-Driven Plan for York Region</vt:lpstr>
      <vt:lpstr>Executive Summary</vt:lpstr>
      <vt:lpstr>Table of Contents</vt:lpstr>
      <vt:lpstr>Analysis Methodology</vt:lpstr>
      <vt:lpstr>Data Overview</vt:lpstr>
      <vt:lpstr>The Crime-Staffing Feedback Loop</vt:lpstr>
      <vt:lpstr>Crime Category Distribution</vt:lpstr>
      <vt:lpstr>Temporal Crime Patterns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Fuxi Ma</dc:creator>
  <cp:keywords/>
  <dc:description>generated using python-pptx</dc:description>
  <cp:lastModifiedBy>Fuxi Ma</cp:lastModifiedBy>
  <cp:revision>55</cp:revision>
  <dcterms:created xsi:type="dcterms:W3CDTF">2013-01-27T09:14:16Z</dcterms:created>
  <dcterms:modified xsi:type="dcterms:W3CDTF">2025-11-23T00:55:10Z</dcterms:modified>
  <cp:category/>
</cp:coreProperties>
</file>